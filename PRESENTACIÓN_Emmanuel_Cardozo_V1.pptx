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s-A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83FE41-5C83-E65F-9A6E-E0A44DFBD4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D8DCF90-920A-A63C-0927-5CAEAA750D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1D9CB28-7647-DFC7-D51B-253FFCA78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B47A6-CC0E-4BB8-AE69-F72859FB2B3D}" type="datetimeFigureOut">
              <a:rPr lang="es-AR" smtClean="0"/>
              <a:t>12/10/2026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0CFE0DE-FD62-C9F2-30F2-BA43056CB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414EF58-A264-76FC-4D94-4705EE1C0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935D1-6E52-4B80-94D9-A64C1EE31F5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540632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41FD79D-09F3-C54E-6B9D-0AB5FC2E3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15278E3-B647-026B-1FA5-8A8E2AE1F1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E1320FE-BF26-9DE9-46CF-D4C1A3F48E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B47A6-CC0E-4BB8-AE69-F72859FB2B3D}" type="datetimeFigureOut">
              <a:rPr lang="es-AR" smtClean="0"/>
              <a:t>12/10/2026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966C36F-F784-9B69-77B2-AE4089898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49D1982-E6F6-E326-D885-D28CBA21F3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935D1-6E52-4B80-94D9-A64C1EE31F5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9219088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CC1E8A-B9AD-500D-8DCB-43344FA74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266798F-AB2D-107D-8208-352F0B0676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C0495F0-B078-E810-AD45-048F5F746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B47A6-CC0E-4BB8-AE69-F72859FB2B3D}" type="datetimeFigureOut">
              <a:rPr lang="es-AR" smtClean="0"/>
              <a:t>12/10/2026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532D5B0-4003-C83F-5DB5-32BE1A8BC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2B82A7E-C982-5153-C763-4FDF65911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935D1-6E52-4B80-94D9-A64C1EE31F5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8657308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46718F-FD86-7C56-B894-0F04BED75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8EF92BE-CA91-C358-89F5-B05FF0CF8A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69E3640-27BF-AE03-1DAF-C69ECA9193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1D6ACBA-2C17-2520-5A38-0B827A86B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B47A6-CC0E-4BB8-AE69-F72859FB2B3D}" type="datetimeFigureOut">
              <a:rPr lang="es-AR" smtClean="0"/>
              <a:t>12/10/2026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5E73FDF-5C00-C626-09A4-79C1853B1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EC13C89-3964-E394-062F-41EE0D223B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935D1-6E52-4B80-94D9-A64C1EE31F5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7275379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0667DC-C163-B0F0-9DFF-50FFD22CDA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566A9CB-0599-5DE0-96B9-30557D25E3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79F73CB-C4A8-7DA7-3CB5-9254107F25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C7C06F2-B488-17DD-1A55-2B7D8B10E7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3994E4B-6815-C778-1263-A87784F81F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FA9FEB3-5C7E-78DB-C10A-8EEFF9713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B47A6-CC0E-4BB8-AE69-F72859FB2B3D}" type="datetimeFigureOut">
              <a:rPr lang="es-AR" smtClean="0"/>
              <a:t>12/10/2026</a:t>
            </a:fld>
            <a:endParaRPr lang="es-AR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4E62B903-0C7A-E10D-57DD-964DA884A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C31D100-F01E-BF43-6C0A-9A7C9CF8E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935D1-6E52-4B80-94D9-A64C1EE31F5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5000172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FC869A-8DC9-7F8D-F4A7-5F147F6C6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C000AD82-DFDE-8C0F-7641-8FD60C0527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B47A6-CC0E-4BB8-AE69-F72859FB2B3D}" type="datetimeFigureOut">
              <a:rPr lang="es-AR" smtClean="0"/>
              <a:t>12/10/2026</a:t>
            </a:fld>
            <a:endParaRPr lang="es-AR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02E328D-8A15-CA6E-3270-1F4E11B97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45B4834-EF3C-2045-C1DE-3D5550853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935D1-6E52-4B80-94D9-A64C1EE31F5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9874697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A161CA5-4CDC-3D50-A4E9-F5B18DD62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B47A6-CC0E-4BB8-AE69-F72859FB2B3D}" type="datetimeFigureOut">
              <a:rPr lang="es-AR" smtClean="0"/>
              <a:t>12/10/2026</a:t>
            </a:fld>
            <a:endParaRPr lang="es-AR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EA9EEA1-0F30-5E63-0862-FFB0B4F90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8D54FE4-91AF-E50F-BD52-B4746F3BF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935D1-6E52-4B80-94D9-A64C1EE31F5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0681440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17A63E-842B-284E-95A2-C0AEBEBD4A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D141079-3B90-7F80-5D40-7ECFC579EB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B85F374-77B0-B016-1756-72107FADF2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CE2E17A-6FAD-2A8E-7BAB-F90283527E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B47A6-CC0E-4BB8-AE69-F72859FB2B3D}" type="datetimeFigureOut">
              <a:rPr lang="es-AR" smtClean="0"/>
              <a:t>12/10/2026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87BD6F5-6D3D-1B6F-AD18-83F129F76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D0D263B-69D0-1A03-0C66-32DC1D70F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935D1-6E52-4B80-94D9-A64C1EE31F5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6119708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220DBC6-46B3-EFEE-2F41-855613A24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56FDF46F-371B-0FDB-D50D-DB965BD88A06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AR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72C2B0B-9808-F2B9-0255-6D57C9FFFC0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8979C8A-E564-A0A0-03A4-1344E2CBA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B47A6-CC0E-4BB8-AE69-F72859FB2B3D}" type="datetimeFigureOut">
              <a:rPr lang="es-AR" smtClean="0"/>
              <a:t>12/10/2026</a:t>
            </a:fld>
            <a:endParaRPr lang="es-AR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7065A8F-D093-3357-54F3-A2314E08A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9D879E0-0150-DB7D-56C2-137469BA3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935D1-6E52-4B80-94D9-A64C1EE31F5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1136091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9CC253-8956-4B20-934B-0EBB4D84CA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CE53308-DC0C-0979-F268-03EEEC9514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EAB2304-0D5C-6C2C-6073-B675CF1E26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B47A6-CC0E-4BB8-AE69-F72859FB2B3D}" type="datetimeFigureOut">
              <a:rPr lang="es-AR" smtClean="0"/>
              <a:t>12/10/2026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BCFBF36-D756-338D-8203-BF00F71F51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0EEFA25-F8F3-EC36-31C4-A4601097F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935D1-6E52-4B80-94D9-A64C1EE31F5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375305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6CE57E4-CD3D-6954-C44D-56FA301B1E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58A9CC8-432D-CAEE-B7A5-B26FA12D22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78A647D-3FE3-7648-1378-DCD3E0A47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BB47A6-CC0E-4BB8-AE69-F72859FB2B3D}" type="datetimeFigureOut">
              <a:rPr lang="es-AR" smtClean="0"/>
              <a:t>12/10/2026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E2E22F1-6439-E6E3-F5F9-E0D280A2C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705FD19-7414-B65E-9DAE-F6D59F274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935D1-6E52-4B80-94D9-A64C1EE31F5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8576581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3F682A8-5D53-09CD-2586-EB70CEFB8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AR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8A35212-85F5-CE61-CEB5-050A901853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AR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8FE04DD-0396-7A3F-1B97-BF98C12ADF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BB47A6-CC0E-4BB8-AE69-F72859FB2B3D}" type="datetimeFigureOut">
              <a:rPr lang="es-AR" smtClean="0"/>
              <a:t>12/10/2026</a:t>
            </a:fld>
            <a:endParaRPr lang="es-AR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4DEBD09-8F34-6F70-12CC-1F56BD204C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BA8D42B-56CB-F813-B3C9-9F9BA34F64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C935D1-6E52-4B80-94D9-A64C1EE31F59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3137741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A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BD13C738-76D8-9DE1-DE25-A06262BC4A6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8324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9CE3D756-525B-B495-F845-8D3A807EC0BA}"/>
              </a:ext>
            </a:extLst>
          </p:cNvPr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2C6E9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45ECAEEB-E7F5-1E7F-5F06-065351DC3913}"/>
              </a:ext>
            </a:extLst>
          </p:cNvPr>
          <p:cNvSpPr txBox="1"/>
          <p:nvPr/>
        </p:nvSpPr>
        <p:spPr>
          <a:xfrm>
            <a:off x="965200" y="1422400"/>
            <a:ext cx="9652000" cy="1261884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s-MX" sz="3800" b="1">
                <a:solidFill>
                  <a:srgbClr val="FFFFFF"/>
                </a:solidFill>
                <a:latin typeface="Aptos" panose="020B0004020202020204" pitchFamily="34" charset="0"/>
              </a:rPr>
              <a:t>Clasificación de lesiones mamarias en ecografía</a:t>
            </a:r>
            <a:endParaRPr lang="es-AR" sz="3800" b="1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9AFD0F89-2B32-5EFF-593F-BBB7C58CBCCC}"/>
              </a:ext>
            </a:extLst>
          </p:cNvPr>
          <p:cNvSpPr txBox="1"/>
          <p:nvPr/>
        </p:nvSpPr>
        <p:spPr>
          <a:xfrm>
            <a:off x="1016000" y="3124200"/>
            <a:ext cx="9144000" cy="40011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s-MX" sz="2000">
                <a:solidFill>
                  <a:srgbClr val="D4DEE9"/>
                </a:solidFill>
                <a:latin typeface="Aptos" panose="020B0004020202020204" pitchFamily="34" charset="0"/>
              </a:rPr>
              <a:t>EfficientNet-B0 · BUSI y BUS-BRA · Validación externa y Grad-CAM</a:t>
            </a:r>
            <a:endParaRPr lang="es-AR" sz="2000">
              <a:solidFill>
                <a:srgbClr val="D4DEE9"/>
              </a:solidFill>
              <a:latin typeface="Aptos" panose="020B0004020202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1B4E333-F610-3378-BA08-387506034D71}"/>
              </a:ext>
            </a:extLst>
          </p:cNvPr>
          <p:cNvSpPr txBox="1"/>
          <p:nvPr/>
        </p:nvSpPr>
        <p:spPr>
          <a:xfrm>
            <a:off x="1016000" y="4978399"/>
            <a:ext cx="6604000" cy="659655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s-MX" sz="1600" dirty="0">
                <a:solidFill>
                  <a:srgbClr val="FFFFFF"/>
                </a:solidFill>
                <a:latin typeface="Aptos" panose="020B0004020202020204" pitchFamily="34" charset="0"/>
              </a:rPr>
              <a:t>Alumno: Esp. Ing. Emmanuel Cardozo.</a:t>
            </a:r>
          </a:p>
          <a:p>
            <a:r>
              <a:rPr lang="es-MX" sz="1600" dirty="0">
                <a:solidFill>
                  <a:srgbClr val="FFFFFF"/>
                </a:solidFill>
                <a:latin typeface="Aptos" panose="020B0004020202020204" pitchFamily="34" charset="0"/>
              </a:rPr>
              <a:t>Maestría en Inteligencia Artificial · FIUBA</a:t>
            </a:r>
            <a:endParaRPr lang="es-AR" sz="1600" dirty="0">
              <a:solidFill>
                <a:srgbClr val="FFFFFF"/>
              </a:solidFill>
              <a:latin typeface="Aptos" panose="020B0004020202020204" pitchFamily="34" charset="0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BECDDA92-1A0E-CED9-D2FE-2880DC4CD8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05571" y="168946"/>
            <a:ext cx="1823531" cy="1823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34990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F88B34DC-4A88-3EED-38FC-7810261FDDBF}"/>
              </a:ext>
            </a:extLst>
          </p:cNvPr>
          <p:cNvSpPr txBox="1"/>
          <p:nvPr/>
        </p:nvSpPr>
        <p:spPr>
          <a:xfrm>
            <a:off x="736600" y="431800"/>
            <a:ext cx="10414000" cy="492443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s-AR" sz="2600" b="1">
                <a:solidFill>
                  <a:srgbClr val="18324A"/>
                </a:solidFill>
                <a:latin typeface="Aptos" panose="020B0004020202020204" pitchFamily="34" charset="0"/>
              </a:rPr>
              <a:t>Pregunta clínica y alcance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8A6BA88-BDE8-A9AD-D88F-AC2768FBBEFB}"/>
              </a:ext>
            </a:extLst>
          </p:cNvPr>
          <p:cNvSpPr txBox="1"/>
          <p:nvPr/>
        </p:nvSpPr>
        <p:spPr>
          <a:xfrm>
            <a:off x="11099800" y="533400"/>
            <a:ext cx="431800" cy="26161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s-AR" sz="1100" b="1">
                <a:solidFill>
                  <a:srgbClr val="2C6E91"/>
                </a:solidFill>
                <a:latin typeface="Aptos" panose="020B0004020202020204" pitchFamily="34" charset="0"/>
              </a:rPr>
              <a:t>02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58712B50-D76E-D8D8-15AC-2EC428804BE8}"/>
              </a:ext>
            </a:extLst>
          </p:cNvPr>
          <p:cNvCxnSpPr/>
          <p:nvPr/>
        </p:nvCxnSpPr>
        <p:spPr>
          <a:xfrm>
            <a:off x="736600" y="1155700"/>
            <a:ext cx="10718800" cy="0"/>
          </a:xfrm>
          <a:prstGeom prst="line">
            <a:avLst/>
          </a:prstGeom>
          <a:ln w="12700">
            <a:solidFill>
              <a:srgbClr val="C8D0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70A62D28-82E7-C877-C5BD-B4BDD8AB5885}"/>
              </a:ext>
            </a:extLst>
          </p:cNvPr>
          <p:cNvSpPr txBox="1"/>
          <p:nvPr/>
        </p:nvSpPr>
        <p:spPr>
          <a:xfrm>
            <a:off x="838200" y="1600200"/>
            <a:ext cx="10515600" cy="830997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s-MX" sz="2400" b="1">
                <a:solidFill>
                  <a:srgbClr val="18324A"/>
                </a:solidFill>
                <a:latin typeface="Aptos" panose="020B0004020202020204" pitchFamily="34" charset="0"/>
              </a:rPr>
              <a:t>¿Qué capacidad de discriminación y qué patrones de error presenta el modelo, y cuánto se conserva el desempeño en otra fuente de datos?</a:t>
            </a:r>
            <a:endParaRPr lang="es-AR" sz="2400" b="1">
              <a:solidFill>
                <a:srgbClr val="18324A"/>
              </a:solidFill>
              <a:latin typeface="Aptos" panose="020B0004020202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E1BB82E8-C2BE-40A6-E217-0FEEDF454A77}"/>
              </a:ext>
            </a:extLst>
          </p:cNvPr>
          <p:cNvSpPr txBox="1"/>
          <p:nvPr/>
        </p:nvSpPr>
        <p:spPr>
          <a:xfrm>
            <a:off x="1193800" y="2959100"/>
            <a:ext cx="9652000" cy="1200329"/>
          </a:xfrm>
          <a:prstGeom prst="rect">
            <a:avLst/>
          </a:prstGeom>
          <a:noFill/>
        </p:spPr>
        <p:txBody>
          <a:bodyPr vert="horz" wrap="square" lIns="38100" rtlCol="0">
            <a:noAutofit/>
          </a:bodyPr>
          <a:lstStyle/>
          <a:p>
            <a:pPr>
              <a:spcAft>
                <a:spcPts val="1200"/>
              </a:spcAft>
            </a:pPr>
            <a:r>
              <a:rPr lang="es-MX">
                <a:solidFill>
                  <a:srgbClr val="202830"/>
                </a:solidFill>
                <a:latin typeface="Aptos" panose="020B0004020202020204" pitchFamily="34" charset="0"/>
              </a:rPr>
              <a:t>• Entrada: imagen estática que ya contiene una lesión localizada</a:t>
            </a:r>
          </a:p>
          <a:p>
            <a:pPr>
              <a:spcAft>
                <a:spcPts val="1200"/>
              </a:spcAft>
            </a:pPr>
            <a:r>
              <a:rPr lang="es-MX">
                <a:solidFill>
                  <a:srgbClr val="202830"/>
                </a:solidFill>
                <a:latin typeface="Aptos" panose="020B0004020202020204" pitchFamily="34" charset="0"/>
              </a:rPr>
              <a:t>• Salida: puntuación binaria de malignidad</a:t>
            </a:r>
          </a:p>
          <a:p>
            <a:pPr>
              <a:spcAft>
                <a:spcPts val="1200"/>
              </a:spcAft>
            </a:pPr>
            <a:r>
              <a:rPr lang="es-MX">
                <a:solidFill>
                  <a:srgbClr val="202830"/>
                </a:solidFill>
                <a:latin typeface="Aptos" panose="020B0004020202020204" pitchFamily="34" charset="0"/>
              </a:rPr>
              <a:t>• Decisión de referencia: control frente a biopsia, aproximada por BI-RADS 3 y 4</a:t>
            </a:r>
          </a:p>
          <a:p>
            <a:pPr>
              <a:spcAft>
                <a:spcPts val="1200"/>
              </a:spcAft>
            </a:pPr>
            <a:r>
              <a:rPr lang="es-MX">
                <a:solidFill>
                  <a:srgbClr val="202830"/>
                </a:solidFill>
                <a:latin typeface="Aptos" panose="020B0004020202020204" pitchFamily="34" charset="0"/>
              </a:rPr>
              <a:t>• Uso previsto: investigación académica retrospectiva</a:t>
            </a:r>
            <a:endParaRPr lang="es-AR">
              <a:solidFill>
                <a:srgbClr val="202830"/>
              </a:solidFill>
              <a:latin typeface="Aptos" panose="020B0004020202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BC725E6-496F-AE86-A99B-5054701F30D0}"/>
              </a:ext>
            </a:extLst>
          </p:cNvPr>
          <p:cNvSpPr txBox="1"/>
          <p:nvPr/>
        </p:nvSpPr>
        <p:spPr>
          <a:xfrm>
            <a:off x="736600" y="6426200"/>
            <a:ext cx="5334000" cy="2308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s-MX" sz="900">
                <a:solidFill>
                  <a:srgbClr val="606A75"/>
                </a:solidFill>
                <a:latin typeface="Aptos" panose="020B0004020202020204" pitchFamily="34" charset="0"/>
              </a:rPr>
              <a:t>Maestría en Inteligencia Artificial · FIUBA</a:t>
            </a:r>
            <a:endParaRPr lang="es-AR" sz="900">
              <a:solidFill>
                <a:srgbClr val="606A75"/>
              </a:solidFill>
              <a:latin typeface="Aptos" panose="020B0004020202020204" pitchFamily="34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0EA7D13-D9DB-2078-52AF-51F23CE5EE17}"/>
              </a:ext>
            </a:extLst>
          </p:cNvPr>
          <p:cNvSpPr txBox="1"/>
          <p:nvPr/>
        </p:nvSpPr>
        <p:spPr>
          <a:xfrm>
            <a:off x="8204200" y="6426200"/>
            <a:ext cx="3251200" cy="2308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r"/>
            <a:r>
              <a:rPr lang="es-AR" sz="900">
                <a:solidFill>
                  <a:srgbClr val="606A75"/>
                </a:solidFill>
                <a:latin typeface="Aptos" panose="020B0004020202020204" pitchFamily="34" charset="0"/>
              </a:rPr>
              <a:t>Emmanuel Cardozo · Octubre 2026</a:t>
            </a:r>
          </a:p>
        </p:txBody>
      </p:sp>
    </p:spTree>
    <p:extLst>
      <p:ext uri="{BB962C8B-B14F-4D97-AF65-F5344CB8AC3E}">
        <p14:creationId xmlns:p14="http://schemas.microsoft.com/office/powerpoint/2010/main" val="33300868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37EFD73E-A222-B956-8603-32A7737453B2}"/>
              </a:ext>
            </a:extLst>
          </p:cNvPr>
          <p:cNvSpPr txBox="1"/>
          <p:nvPr/>
        </p:nvSpPr>
        <p:spPr>
          <a:xfrm>
            <a:off x="736600" y="431800"/>
            <a:ext cx="10414000" cy="492443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s-MX" sz="2600" b="1">
                <a:solidFill>
                  <a:srgbClr val="18324A"/>
                </a:solidFill>
                <a:latin typeface="Aptos" panose="020B0004020202020204" pitchFamily="34" charset="0"/>
              </a:rPr>
              <a:t>Cohortes y funciones en el estudio</a:t>
            </a:r>
            <a:endParaRPr lang="es-AR" sz="2600" b="1">
              <a:solidFill>
                <a:srgbClr val="18324A"/>
              </a:solidFill>
              <a:latin typeface="Aptos" panose="020B000402020202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58B119E-9C46-A24A-ADEF-BCD06F0559FD}"/>
              </a:ext>
            </a:extLst>
          </p:cNvPr>
          <p:cNvSpPr txBox="1"/>
          <p:nvPr/>
        </p:nvSpPr>
        <p:spPr>
          <a:xfrm>
            <a:off x="11099800" y="533400"/>
            <a:ext cx="431800" cy="26161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s-AR" sz="1100" b="1">
                <a:solidFill>
                  <a:srgbClr val="2C6E91"/>
                </a:solidFill>
                <a:latin typeface="Aptos" panose="020B0004020202020204" pitchFamily="34" charset="0"/>
              </a:rPr>
              <a:t>03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BD343E09-8C6C-95FF-8B12-4ACFA3D4DA3D}"/>
              </a:ext>
            </a:extLst>
          </p:cNvPr>
          <p:cNvCxnSpPr/>
          <p:nvPr/>
        </p:nvCxnSpPr>
        <p:spPr>
          <a:xfrm>
            <a:off x="736600" y="1155700"/>
            <a:ext cx="10718800" cy="0"/>
          </a:xfrm>
          <a:prstGeom prst="line">
            <a:avLst/>
          </a:prstGeom>
          <a:ln w="12700">
            <a:solidFill>
              <a:srgbClr val="C8D0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6AA7EDFA-A6B1-B8C6-A470-204CDF7408E7}"/>
              </a:ext>
            </a:extLst>
          </p:cNvPr>
          <p:cNvSpPr/>
          <p:nvPr/>
        </p:nvSpPr>
        <p:spPr>
          <a:xfrm>
            <a:off x="787400" y="1676400"/>
            <a:ext cx="4953000" cy="3098800"/>
          </a:xfrm>
          <a:prstGeom prst="roundRect">
            <a:avLst/>
          </a:prstGeom>
          <a:solidFill>
            <a:srgbClr val="DFE9F2"/>
          </a:solidFill>
          <a:ln w="12700">
            <a:solidFill>
              <a:srgbClr val="CDD5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1DB4FE85-A5E2-7AF7-38DD-8E8D7A15F427}"/>
              </a:ext>
            </a:extLst>
          </p:cNvPr>
          <p:cNvSpPr txBox="1"/>
          <p:nvPr/>
        </p:nvSpPr>
        <p:spPr>
          <a:xfrm>
            <a:off x="990600" y="1841500"/>
            <a:ext cx="4546600" cy="353943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s-AR" sz="1700" b="1">
                <a:solidFill>
                  <a:srgbClr val="18324A"/>
                </a:solidFill>
                <a:latin typeface="Aptos" panose="020B0004020202020204" pitchFamily="34" charset="0"/>
              </a:rPr>
              <a:t>BUSI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F3E4877-BAB3-6D0F-75F8-832229F7416A}"/>
              </a:ext>
            </a:extLst>
          </p:cNvPr>
          <p:cNvSpPr txBox="1"/>
          <p:nvPr/>
        </p:nvSpPr>
        <p:spPr>
          <a:xfrm>
            <a:off x="990600" y="2273300"/>
            <a:ext cx="4546600" cy="738664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s-MX" sz="1400">
                <a:solidFill>
                  <a:srgbClr val="202830"/>
                </a:solidFill>
                <a:latin typeface="Aptos" panose="020B0004020202020204" pitchFamily="34" charset="0"/>
              </a:rPr>
              <a:t>Desarrollo y prueba interna`r647 imágenes con lesión antes de la auditoría`rEtiquetas con calidad de referencia heterogénea</a:t>
            </a:r>
            <a:endParaRPr lang="es-AR" sz="1400">
              <a:solidFill>
                <a:srgbClr val="202830"/>
              </a:solidFill>
              <a:latin typeface="Aptos" panose="020B0004020202020204" pitchFamily="34" charset="0"/>
            </a:endParaRP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D6C057A8-E876-11CA-838D-9A1CDBA9FB73}"/>
              </a:ext>
            </a:extLst>
          </p:cNvPr>
          <p:cNvSpPr/>
          <p:nvPr/>
        </p:nvSpPr>
        <p:spPr>
          <a:xfrm>
            <a:off x="6451600" y="1676400"/>
            <a:ext cx="4953000" cy="3098800"/>
          </a:xfrm>
          <a:prstGeom prst="roundRect">
            <a:avLst/>
          </a:prstGeom>
          <a:solidFill>
            <a:srgbClr val="F1F5F8"/>
          </a:solidFill>
          <a:ln w="12700">
            <a:solidFill>
              <a:srgbClr val="CDD5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411D1242-C6FD-1AF1-6524-EC79082E0BF2}"/>
              </a:ext>
            </a:extLst>
          </p:cNvPr>
          <p:cNvSpPr txBox="1"/>
          <p:nvPr/>
        </p:nvSpPr>
        <p:spPr>
          <a:xfrm>
            <a:off x="6654800" y="1841500"/>
            <a:ext cx="4546600" cy="353943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s-AR" sz="1700" b="1">
                <a:solidFill>
                  <a:srgbClr val="18324A"/>
                </a:solidFill>
                <a:latin typeface="Aptos" panose="020B0004020202020204" pitchFamily="34" charset="0"/>
              </a:rPr>
              <a:t>BUS-BRA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08082D2E-088F-3140-77AF-C316DE233402}"/>
              </a:ext>
            </a:extLst>
          </p:cNvPr>
          <p:cNvSpPr txBox="1"/>
          <p:nvPr/>
        </p:nvSpPr>
        <p:spPr>
          <a:xfrm>
            <a:off x="6654800" y="2273300"/>
            <a:ext cx="4546600" cy="738664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s-MX" sz="1400">
                <a:solidFill>
                  <a:srgbClr val="202830"/>
                </a:solidFill>
                <a:latin typeface="Aptos" panose="020B0004020202020204" pitchFamily="34" charset="0"/>
              </a:rPr>
              <a:t>Validación externa principal`r1.875 imágenes de 1.064 pacientes`rConfirmación histopatológica y bootstrap por paciente</a:t>
            </a:r>
            <a:endParaRPr lang="es-AR" sz="1400">
              <a:solidFill>
                <a:srgbClr val="202830"/>
              </a:solidFill>
              <a:latin typeface="Aptos" panose="020B0004020202020204" pitchFamily="34" charset="0"/>
            </a:endParaRPr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CC9127A4-771A-E95B-C353-239D36AB7008}"/>
              </a:ext>
            </a:extLst>
          </p:cNvPr>
          <p:cNvSpPr txBox="1"/>
          <p:nvPr/>
        </p:nvSpPr>
        <p:spPr>
          <a:xfrm>
            <a:off x="1498600" y="5257800"/>
            <a:ext cx="9194800" cy="353943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s-AR" sz="1700" b="1">
                <a:solidFill>
                  <a:srgbClr val="2C6E91"/>
                </a:solidFill>
                <a:latin typeface="Aptos" panose="020B0004020202020204" pitchFamily="34" charset="0"/>
              </a:rPr>
              <a:t>BrEaST-Lesions_USG en TCIA queda como segunda cohorte externa opcional.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FF9AD693-5BA2-51D9-A464-BA8AB4FB4468}"/>
              </a:ext>
            </a:extLst>
          </p:cNvPr>
          <p:cNvSpPr txBox="1"/>
          <p:nvPr/>
        </p:nvSpPr>
        <p:spPr>
          <a:xfrm>
            <a:off x="736600" y="6426200"/>
            <a:ext cx="5334000" cy="2308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s-MX" sz="900">
                <a:solidFill>
                  <a:srgbClr val="606A75"/>
                </a:solidFill>
                <a:latin typeface="Aptos" panose="020B0004020202020204" pitchFamily="34" charset="0"/>
              </a:rPr>
              <a:t>Maestría en Inteligencia Artificial · FIUBA</a:t>
            </a:r>
            <a:endParaRPr lang="es-AR" sz="900">
              <a:solidFill>
                <a:srgbClr val="606A75"/>
              </a:solidFill>
              <a:latin typeface="Aptos" panose="020B0004020202020204" pitchFamily="34" charset="0"/>
            </a:endParaRP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F0E95AB7-CB5D-EB49-DF78-4C280788FB58}"/>
              </a:ext>
            </a:extLst>
          </p:cNvPr>
          <p:cNvSpPr txBox="1"/>
          <p:nvPr/>
        </p:nvSpPr>
        <p:spPr>
          <a:xfrm>
            <a:off x="8204200" y="6426200"/>
            <a:ext cx="3251200" cy="2308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r"/>
            <a:r>
              <a:rPr lang="es-AR" sz="900">
                <a:solidFill>
                  <a:srgbClr val="606A75"/>
                </a:solidFill>
                <a:latin typeface="Aptos" panose="020B0004020202020204" pitchFamily="34" charset="0"/>
              </a:rPr>
              <a:t>Emmanuel Cardozo · Octubre 2026</a:t>
            </a:r>
          </a:p>
        </p:txBody>
      </p:sp>
    </p:spTree>
    <p:extLst>
      <p:ext uri="{BB962C8B-B14F-4D97-AF65-F5344CB8AC3E}">
        <p14:creationId xmlns:p14="http://schemas.microsoft.com/office/powerpoint/2010/main" val="506581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60545A80-F40E-5B49-8AEE-5BDBC22F5A12}"/>
              </a:ext>
            </a:extLst>
          </p:cNvPr>
          <p:cNvSpPr txBox="1"/>
          <p:nvPr/>
        </p:nvSpPr>
        <p:spPr>
          <a:xfrm>
            <a:off x="736600" y="431800"/>
            <a:ext cx="10414000" cy="492443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s-MX" sz="2600" b="1">
                <a:solidFill>
                  <a:srgbClr val="18324A"/>
                </a:solidFill>
                <a:latin typeface="Aptos" panose="020B0004020202020204" pitchFamily="34" charset="0"/>
              </a:rPr>
              <a:t>Curación de datos y prevención de fuga</a:t>
            </a:r>
            <a:endParaRPr lang="es-AR" sz="2600" b="1">
              <a:solidFill>
                <a:srgbClr val="18324A"/>
              </a:solidFill>
              <a:latin typeface="Aptos" panose="020B000402020202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D52DBB8-D2DA-04EA-5EE1-B619EEE5B13D}"/>
              </a:ext>
            </a:extLst>
          </p:cNvPr>
          <p:cNvSpPr txBox="1"/>
          <p:nvPr/>
        </p:nvSpPr>
        <p:spPr>
          <a:xfrm>
            <a:off x="11099800" y="533400"/>
            <a:ext cx="431800" cy="26161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s-AR" sz="1100" b="1">
                <a:solidFill>
                  <a:srgbClr val="2C6E91"/>
                </a:solidFill>
                <a:latin typeface="Aptos" panose="020B0004020202020204" pitchFamily="34" charset="0"/>
              </a:rPr>
              <a:t>04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C142E14C-709E-391B-C436-28B480B52A5C}"/>
              </a:ext>
            </a:extLst>
          </p:cNvPr>
          <p:cNvCxnSpPr/>
          <p:nvPr/>
        </p:nvCxnSpPr>
        <p:spPr>
          <a:xfrm>
            <a:off x="736600" y="1155700"/>
            <a:ext cx="10718800" cy="0"/>
          </a:xfrm>
          <a:prstGeom prst="line">
            <a:avLst/>
          </a:prstGeom>
          <a:ln w="12700">
            <a:solidFill>
              <a:srgbClr val="C8D0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Elipse 4">
            <a:extLst>
              <a:ext uri="{FF2B5EF4-FFF2-40B4-BE49-F238E27FC236}">
                <a16:creationId xmlns:a16="http://schemas.microsoft.com/office/drawing/2014/main" id="{32CD9CE3-2039-8ED7-D622-7A462A6E51CE}"/>
              </a:ext>
            </a:extLst>
          </p:cNvPr>
          <p:cNvSpPr/>
          <p:nvPr/>
        </p:nvSpPr>
        <p:spPr>
          <a:xfrm>
            <a:off x="787400" y="1828800"/>
            <a:ext cx="609600" cy="609600"/>
          </a:xfrm>
          <a:prstGeom prst="ellipse">
            <a:avLst/>
          </a:prstGeom>
          <a:solidFill>
            <a:srgbClr val="2C6E9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4ED7016E-54D6-0C5C-495B-E3774FF7CA1C}"/>
              </a:ext>
            </a:extLst>
          </p:cNvPr>
          <p:cNvSpPr txBox="1"/>
          <p:nvPr/>
        </p:nvSpPr>
        <p:spPr>
          <a:xfrm>
            <a:off x="800100" y="1943100"/>
            <a:ext cx="584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s-AR" b="1">
                <a:solidFill>
                  <a:srgbClr val="FFFFFF"/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FCC40D4-0BB0-EF59-49D7-9299D9BDA836}"/>
              </a:ext>
            </a:extLst>
          </p:cNvPr>
          <p:cNvSpPr txBox="1"/>
          <p:nvPr/>
        </p:nvSpPr>
        <p:spPr>
          <a:xfrm>
            <a:off x="685800" y="2679700"/>
            <a:ext cx="2057400" cy="353943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s-AR" sz="1700" b="1">
                <a:solidFill>
                  <a:srgbClr val="18324A"/>
                </a:solidFill>
                <a:latin typeface="Aptos" panose="020B0004020202020204" pitchFamily="34" charset="0"/>
              </a:rPr>
              <a:t>Inventario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1B4D841-A3BC-0E6C-510B-7124264AFAB7}"/>
              </a:ext>
            </a:extLst>
          </p:cNvPr>
          <p:cNvSpPr txBox="1"/>
          <p:nvPr/>
        </p:nvSpPr>
        <p:spPr>
          <a:xfrm>
            <a:off x="685800" y="3124200"/>
            <a:ext cx="2057400" cy="52322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s-MX" sz="1400">
                <a:solidFill>
                  <a:srgbClr val="202830"/>
                </a:solidFill>
                <a:latin typeface="Aptos" panose="020B0004020202020204" pitchFamily="34" charset="0"/>
              </a:rPr>
              <a:t>Origen, licencia, SHA-256 y dimensiones</a:t>
            </a:r>
            <a:endParaRPr lang="es-AR" sz="1400">
              <a:solidFill>
                <a:srgbClr val="202830"/>
              </a:solidFill>
              <a:latin typeface="Aptos" panose="020B0004020202020204" pitchFamily="34" charset="0"/>
            </a:endParaRPr>
          </a:p>
        </p:txBody>
      </p: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18EF430C-8CB8-0CD4-234F-159125F9E4BD}"/>
              </a:ext>
            </a:extLst>
          </p:cNvPr>
          <p:cNvCxnSpPr/>
          <p:nvPr/>
        </p:nvCxnSpPr>
        <p:spPr>
          <a:xfrm>
            <a:off x="1447800" y="2133600"/>
            <a:ext cx="1752600" cy="0"/>
          </a:xfrm>
          <a:prstGeom prst="line">
            <a:avLst/>
          </a:prstGeom>
          <a:ln w="25400">
            <a:solidFill>
              <a:srgbClr val="A1AD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Elipse 9">
            <a:extLst>
              <a:ext uri="{FF2B5EF4-FFF2-40B4-BE49-F238E27FC236}">
                <a16:creationId xmlns:a16="http://schemas.microsoft.com/office/drawing/2014/main" id="{D66140FB-FC1D-B157-8FDE-16CB5CE97573}"/>
              </a:ext>
            </a:extLst>
          </p:cNvPr>
          <p:cNvSpPr/>
          <p:nvPr/>
        </p:nvSpPr>
        <p:spPr>
          <a:xfrm>
            <a:off x="3556000" y="1828800"/>
            <a:ext cx="609600" cy="609600"/>
          </a:xfrm>
          <a:prstGeom prst="ellipse">
            <a:avLst/>
          </a:prstGeom>
          <a:solidFill>
            <a:srgbClr val="2C6E9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0300BB83-DE33-2AED-32D3-B44450457CBF}"/>
              </a:ext>
            </a:extLst>
          </p:cNvPr>
          <p:cNvSpPr txBox="1"/>
          <p:nvPr/>
        </p:nvSpPr>
        <p:spPr>
          <a:xfrm>
            <a:off x="3568700" y="1943100"/>
            <a:ext cx="584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s-AR" b="1">
                <a:solidFill>
                  <a:srgbClr val="FFFFFF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BD7D69F5-A42F-A6A0-25B7-1639FA0C2E49}"/>
              </a:ext>
            </a:extLst>
          </p:cNvPr>
          <p:cNvSpPr txBox="1"/>
          <p:nvPr/>
        </p:nvSpPr>
        <p:spPr>
          <a:xfrm>
            <a:off x="3454400" y="2679700"/>
            <a:ext cx="2057400" cy="353943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s-AR" sz="1700" b="1">
                <a:solidFill>
                  <a:srgbClr val="18324A"/>
                </a:solidFill>
                <a:latin typeface="Aptos" panose="020B0004020202020204" pitchFamily="34" charset="0"/>
              </a:rPr>
              <a:t>Auditoría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6EBD3551-6DC4-93FF-371C-07274828874A}"/>
              </a:ext>
            </a:extLst>
          </p:cNvPr>
          <p:cNvSpPr txBox="1"/>
          <p:nvPr/>
        </p:nvSpPr>
        <p:spPr>
          <a:xfrm>
            <a:off x="3454400" y="3124200"/>
            <a:ext cx="2057400" cy="52322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s-MX" sz="1400">
                <a:solidFill>
                  <a:srgbClr val="202830"/>
                </a:solidFill>
                <a:latin typeface="Aptos" panose="020B0004020202020204" pitchFamily="34" charset="0"/>
              </a:rPr>
              <a:t>Máscaras, etiquetas, duplicados y marcas</a:t>
            </a:r>
            <a:endParaRPr lang="es-AR" sz="1400">
              <a:solidFill>
                <a:srgbClr val="202830"/>
              </a:solidFill>
              <a:latin typeface="Aptos" panose="020B0004020202020204" pitchFamily="34" charset="0"/>
            </a:endParaRP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4C35EE33-F54B-4A38-63B0-BAEBCCFF75F2}"/>
              </a:ext>
            </a:extLst>
          </p:cNvPr>
          <p:cNvCxnSpPr/>
          <p:nvPr/>
        </p:nvCxnSpPr>
        <p:spPr>
          <a:xfrm>
            <a:off x="4216400" y="2133600"/>
            <a:ext cx="1752600" cy="0"/>
          </a:xfrm>
          <a:prstGeom prst="line">
            <a:avLst/>
          </a:prstGeom>
          <a:ln w="25400">
            <a:solidFill>
              <a:srgbClr val="A1AD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Elipse 14">
            <a:extLst>
              <a:ext uri="{FF2B5EF4-FFF2-40B4-BE49-F238E27FC236}">
                <a16:creationId xmlns:a16="http://schemas.microsoft.com/office/drawing/2014/main" id="{22B8F9D3-A168-6A80-01EA-B7290D11AB78}"/>
              </a:ext>
            </a:extLst>
          </p:cNvPr>
          <p:cNvSpPr/>
          <p:nvPr/>
        </p:nvSpPr>
        <p:spPr>
          <a:xfrm>
            <a:off x="6324600" y="1828800"/>
            <a:ext cx="609600" cy="609600"/>
          </a:xfrm>
          <a:prstGeom prst="ellipse">
            <a:avLst/>
          </a:prstGeom>
          <a:solidFill>
            <a:srgbClr val="2C6E9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71B2EB50-6F85-92C9-98D5-521F800084F8}"/>
              </a:ext>
            </a:extLst>
          </p:cNvPr>
          <p:cNvSpPr txBox="1"/>
          <p:nvPr/>
        </p:nvSpPr>
        <p:spPr>
          <a:xfrm>
            <a:off x="6337300" y="1943100"/>
            <a:ext cx="584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s-AR" b="1">
                <a:solidFill>
                  <a:srgbClr val="FFFFFF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1CA5E908-FAA2-4929-244F-7C38C891E85F}"/>
              </a:ext>
            </a:extLst>
          </p:cNvPr>
          <p:cNvSpPr txBox="1"/>
          <p:nvPr/>
        </p:nvSpPr>
        <p:spPr>
          <a:xfrm>
            <a:off x="6223000" y="2679700"/>
            <a:ext cx="2057400" cy="353943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s-AR" sz="1700" b="1">
                <a:solidFill>
                  <a:srgbClr val="18324A"/>
                </a:solidFill>
                <a:latin typeface="Aptos" panose="020B0004020202020204" pitchFamily="34" charset="0"/>
              </a:rPr>
              <a:t>Agrupamiento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AB135364-CDAE-308F-9D4A-3C1C8F39624C}"/>
              </a:ext>
            </a:extLst>
          </p:cNvPr>
          <p:cNvSpPr txBox="1"/>
          <p:nvPr/>
        </p:nvSpPr>
        <p:spPr>
          <a:xfrm>
            <a:off x="6223000" y="3124200"/>
            <a:ext cx="2057400" cy="738664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s-MX" sz="1400">
                <a:solidFill>
                  <a:srgbClr val="202830"/>
                </a:solidFill>
                <a:latin typeface="Aptos" panose="020B0004020202020204" pitchFamily="34" charset="0"/>
              </a:rPr>
              <a:t>Paciente o relación verificable entre imágenes</a:t>
            </a:r>
            <a:endParaRPr lang="es-AR" sz="1400">
              <a:solidFill>
                <a:srgbClr val="202830"/>
              </a:solidFill>
              <a:latin typeface="Aptos" panose="020B0004020202020204" pitchFamily="34" charset="0"/>
            </a:endParaRPr>
          </a:p>
        </p:txBody>
      </p: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F2DBCEF7-75A5-D8AE-607D-ED1B24D12E4C}"/>
              </a:ext>
            </a:extLst>
          </p:cNvPr>
          <p:cNvCxnSpPr/>
          <p:nvPr/>
        </p:nvCxnSpPr>
        <p:spPr>
          <a:xfrm>
            <a:off x="6985000" y="2133600"/>
            <a:ext cx="1752600" cy="0"/>
          </a:xfrm>
          <a:prstGeom prst="line">
            <a:avLst/>
          </a:prstGeom>
          <a:ln w="25400">
            <a:solidFill>
              <a:srgbClr val="A1ADB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Elipse 19">
            <a:extLst>
              <a:ext uri="{FF2B5EF4-FFF2-40B4-BE49-F238E27FC236}">
                <a16:creationId xmlns:a16="http://schemas.microsoft.com/office/drawing/2014/main" id="{4849F83D-87F2-11E2-AC13-D06021CA5198}"/>
              </a:ext>
            </a:extLst>
          </p:cNvPr>
          <p:cNvSpPr/>
          <p:nvPr/>
        </p:nvSpPr>
        <p:spPr>
          <a:xfrm>
            <a:off x="9093200" y="1828800"/>
            <a:ext cx="609600" cy="609600"/>
          </a:xfrm>
          <a:prstGeom prst="ellipse">
            <a:avLst/>
          </a:prstGeom>
          <a:solidFill>
            <a:srgbClr val="2C6E9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E4031FDA-CAE4-E01C-B9B0-3ECC3829DC67}"/>
              </a:ext>
            </a:extLst>
          </p:cNvPr>
          <p:cNvSpPr txBox="1"/>
          <p:nvPr/>
        </p:nvSpPr>
        <p:spPr>
          <a:xfrm>
            <a:off x="9105900" y="1943100"/>
            <a:ext cx="5842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s-AR" b="1">
                <a:solidFill>
                  <a:srgbClr val="FFFFFF"/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DCFB9062-DEF9-561E-04A3-D0262983F48F}"/>
              </a:ext>
            </a:extLst>
          </p:cNvPr>
          <p:cNvSpPr txBox="1"/>
          <p:nvPr/>
        </p:nvSpPr>
        <p:spPr>
          <a:xfrm>
            <a:off x="8991600" y="2679700"/>
            <a:ext cx="2057400" cy="353943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s-AR" sz="1700" b="1">
                <a:solidFill>
                  <a:srgbClr val="18324A"/>
                </a:solidFill>
                <a:latin typeface="Aptos" panose="020B0004020202020204" pitchFamily="34" charset="0"/>
              </a:rPr>
              <a:t>Partición</a:t>
            </a:r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B21A0437-6960-7212-3FAA-0EABF175FAFB}"/>
              </a:ext>
            </a:extLst>
          </p:cNvPr>
          <p:cNvSpPr txBox="1"/>
          <p:nvPr/>
        </p:nvSpPr>
        <p:spPr>
          <a:xfrm>
            <a:off x="8991600" y="3124200"/>
            <a:ext cx="2057400" cy="52322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s-AR" sz="1400">
                <a:solidFill>
                  <a:srgbClr val="202830"/>
                </a:solidFill>
                <a:latin typeface="Aptos" panose="020B0004020202020204" pitchFamily="34" charset="0"/>
              </a:rPr>
              <a:t>60/20/20 estratificada y agrupada</a:t>
            </a:r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2DBC607E-1171-39A9-74E0-6A0E8DED4AE0}"/>
              </a:ext>
            </a:extLst>
          </p:cNvPr>
          <p:cNvSpPr txBox="1"/>
          <p:nvPr/>
        </p:nvSpPr>
        <p:spPr>
          <a:xfrm>
            <a:off x="1574800" y="5130800"/>
            <a:ext cx="9042400" cy="384721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s-MX" sz="1900" b="1">
                <a:solidFill>
                  <a:srgbClr val="18324A"/>
                </a:solidFill>
                <a:latin typeface="Aptos" panose="020B0004020202020204" pitchFamily="34" charset="0"/>
              </a:rPr>
              <a:t>El entrenamiento comienza después de publicar el manifiesto de exclusiones.</a:t>
            </a:r>
            <a:endParaRPr lang="es-AR" sz="1900" b="1">
              <a:solidFill>
                <a:srgbClr val="18324A"/>
              </a:solidFill>
              <a:latin typeface="Aptos" panose="020B0004020202020204" pitchFamily="34" charset="0"/>
            </a:endParaRP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7CF07B07-70EE-A2BA-9258-060B34BD3DCD}"/>
              </a:ext>
            </a:extLst>
          </p:cNvPr>
          <p:cNvSpPr txBox="1"/>
          <p:nvPr/>
        </p:nvSpPr>
        <p:spPr>
          <a:xfrm>
            <a:off x="736600" y="6426200"/>
            <a:ext cx="5334000" cy="2308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s-MX" sz="900">
                <a:solidFill>
                  <a:srgbClr val="606A75"/>
                </a:solidFill>
                <a:latin typeface="Aptos" panose="020B0004020202020204" pitchFamily="34" charset="0"/>
              </a:rPr>
              <a:t>Maestría en Inteligencia Artificial · FIUBA</a:t>
            </a:r>
            <a:endParaRPr lang="es-AR" sz="900">
              <a:solidFill>
                <a:srgbClr val="606A75"/>
              </a:solidFill>
              <a:latin typeface="Aptos" panose="020B0004020202020204" pitchFamily="34" charset="0"/>
            </a:endParaRPr>
          </a:p>
        </p:txBody>
      </p:sp>
      <p:sp>
        <p:nvSpPr>
          <p:cNvPr id="26" name="CuadroTexto 25">
            <a:extLst>
              <a:ext uri="{FF2B5EF4-FFF2-40B4-BE49-F238E27FC236}">
                <a16:creationId xmlns:a16="http://schemas.microsoft.com/office/drawing/2014/main" id="{0DC95102-B7BE-6683-FC36-6E50BE90200C}"/>
              </a:ext>
            </a:extLst>
          </p:cNvPr>
          <p:cNvSpPr txBox="1"/>
          <p:nvPr/>
        </p:nvSpPr>
        <p:spPr>
          <a:xfrm>
            <a:off x="8204200" y="6426200"/>
            <a:ext cx="3251200" cy="2308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r"/>
            <a:r>
              <a:rPr lang="es-AR" sz="900">
                <a:solidFill>
                  <a:srgbClr val="606A75"/>
                </a:solidFill>
                <a:latin typeface="Aptos" panose="020B0004020202020204" pitchFamily="34" charset="0"/>
              </a:rPr>
              <a:t>Emmanuel Cardozo · Octubre 2026</a:t>
            </a:r>
          </a:p>
        </p:txBody>
      </p:sp>
    </p:spTree>
    <p:extLst>
      <p:ext uri="{BB962C8B-B14F-4D97-AF65-F5344CB8AC3E}">
        <p14:creationId xmlns:p14="http://schemas.microsoft.com/office/powerpoint/2010/main" val="34319830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97EB02AB-29C9-D1D0-7B39-3357D7EFE02C}"/>
              </a:ext>
            </a:extLst>
          </p:cNvPr>
          <p:cNvSpPr txBox="1"/>
          <p:nvPr/>
        </p:nvSpPr>
        <p:spPr>
          <a:xfrm>
            <a:off x="736600" y="431800"/>
            <a:ext cx="10414000" cy="492443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s-AR" sz="2600" b="1">
                <a:solidFill>
                  <a:srgbClr val="18324A"/>
                </a:solidFill>
                <a:latin typeface="Aptos" panose="020B0004020202020204" pitchFamily="34" charset="0"/>
              </a:rPr>
              <a:t>Modelo principal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CBC7D85-12B8-9A75-1D43-0E76A85DF14C}"/>
              </a:ext>
            </a:extLst>
          </p:cNvPr>
          <p:cNvSpPr txBox="1"/>
          <p:nvPr/>
        </p:nvSpPr>
        <p:spPr>
          <a:xfrm>
            <a:off x="11099800" y="533400"/>
            <a:ext cx="431800" cy="26161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s-AR" sz="1100" b="1">
                <a:solidFill>
                  <a:srgbClr val="2C6E91"/>
                </a:solidFill>
                <a:latin typeface="Aptos" panose="020B0004020202020204" pitchFamily="34" charset="0"/>
              </a:rPr>
              <a:t>05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A6124B51-507D-F051-67F1-CAC3C19C1F18}"/>
              </a:ext>
            </a:extLst>
          </p:cNvPr>
          <p:cNvCxnSpPr/>
          <p:nvPr/>
        </p:nvCxnSpPr>
        <p:spPr>
          <a:xfrm>
            <a:off x="736600" y="1155700"/>
            <a:ext cx="10718800" cy="0"/>
          </a:xfrm>
          <a:prstGeom prst="line">
            <a:avLst/>
          </a:prstGeom>
          <a:ln w="12700">
            <a:solidFill>
              <a:srgbClr val="C8D0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76DEB2D4-4C53-9C53-96FE-A552C0A57262}"/>
              </a:ext>
            </a:extLst>
          </p:cNvPr>
          <p:cNvSpPr/>
          <p:nvPr/>
        </p:nvSpPr>
        <p:spPr>
          <a:xfrm>
            <a:off x="787400" y="1816100"/>
            <a:ext cx="2667000" cy="2667000"/>
          </a:xfrm>
          <a:prstGeom prst="roundRect">
            <a:avLst/>
          </a:prstGeom>
          <a:solidFill>
            <a:srgbClr val="F1F5F8"/>
          </a:solidFill>
          <a:ln w="12700">
            <a:solidFill>
              <a:srgbClr val="CDD5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6ABB414-4E9B-BF61-6AC3-AEDD342C8323}"/>
              </a:ext>
            </a:extLst>
          </p:cNvPr>
          <p:cNvSpPr txBox="1"/>
          <p:nvPr/>
        </p:nvSpPr>
        <p:spPr>
          <a:xfrm>
            <a:off x="990600" y="1981200"/>
            <a:ext cx="2260600" cy="353943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s-AR" sz="1700" b="1">
                <a:solidFill>
                  <a:srgbClr val="18324A"/>
                </a:solidFill>
                <a:latin typeface="Aptos" panose="020B0004020202020204" pitchFamily="34" charset="0"/>
              </a:rPr>
              <a:t>Entrada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E48249B6-14A6-52EB-E700-B0236A0018C9}"/>
              </a:ext>
            </a:extLst>
          </p:cNvPr>
          <p:cNvSpPr txBox="1"/>
          <p:nvPr/>
        </p:nvSpPr>
        <p:spPr>
          <a:xfrm>
            <a:off x="990600" y="2413000"/>
            <a:ext cx="2260600" cy="954107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s-AR" sz="1400">
                <a:solidFill>
                  <a:srgbClr val="202830"/>
                </a:solidFill>
                <a:latin typeface="Aptos" panose="020B0004020202020204" pitchFamily="34" charset="0"/>
              </a:rPr>
              <a:t>Escala de grises`rRelleno para conservar proporción`r224 × 224 píxeles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0C218848-922B-7EC3-9FA4-52B05D6B5682}"/>
              </a:ext>
            </a:extLst>
          </p:cNvPr>
          <p:cNvSpPr/>
          <p:nvPr/>
        </p:nvSpPr>
        <p:spPr>
          <a:xfrm>
            <a:off x="4749800" y="1816100"/>
            <a:ext cx="2667000" cy="2667000"/>
          </a:xfrm>
          <a:prstGeom prst="roundRect">
            <a:avLst/>
          </a:prstGeom>
          <a:solidFill>
            <a:srgbClr val="DFE9F2"/>
          </a:solidFill>
          <a:ln w="12700">
            <a:solidFill>
              <a:srgbClr val="CDD5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7510C5D7-B6FF-B9AB-EB45-C28166C572D6}"/>
              </a:ext>
            </a:extLst>
          </p:cNvPr>
          <p:cNvSpPr txBox="1"/>
          <p:nvPr/>
        </p:nvSpPr>
        <p:spPr>
          <a:xfrm>
            <a:off x="4953000" y="1981200"/>
            <a:ext cx="2260600" cy="353943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s-AR" sz="1700" b="1">
                <a:solidFill>
                  <a:srgbClr val="18324A"/>
                </a:solidFill>
                <a:latin typeface="Aptos" panose="020B0004020202020204" pitchFamily="34" charset="0"/>
              </a:rPr>
              <a:t>EfficientNet-B0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44E36510-D537-CC58-108C-A8F51A3F2FFC}"/>
              </a:ext>
            </a:extLst>
          </p:cNvPr>
          <p:cNvSpPr txBox="1"/>
          <p:nvPr/>
        </p:nvSpPr>
        <p:spPr>
          <a:xfrm>
            <a:off x="4953000" y="2413000"/>
            <a:ext cx="2260600" cy="954107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s-AR" sz="1400">
                <a:solidFill>
                  <a:srgbClr val="202830"/>
                </a:solidFill>
                <a:latin typeface="Aptos" panose="020B0004020202020204" pitchFamily="34" charset="0"/>
              </a:rPr>
              <a:t>Pesos de ImageNet`rCabeza binaria`rAjuste fino progresivo</a:t>
            </a: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3AC82920-FD9D-EB43-1CC7-7F8DE40C88FE}"/>
              </a:ext>
            </a:extLst>
          </p:cNvPr>
          <p:cNvSpPr/>
          <p:nvPr/>
        </p:nvSpPr>
        <p:spPr>
          <a:xfrm>
            <a:off x="8712200" y="1816100"/>
            <a:ext cx="2667000" cy="2667000"/>
          </a:xfrm>
          <a:prstGeom prst="roundRect">
            <a:avLst/>
          </a:prstGeom>
          <a:solidFill>
            <a:srgbClr val="F1F5F8"/>
          </a:solidFill>
          <a:ln w="12700">
            <a:solidFill>
              <a:srgbClr val="CDD5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5F4F5D25-F8C2-37AB-0214-9FF813BF8982}"/>
              </a:ext>
            </a:extLst>
          </p:cNvPr>
          <p:cNvSpPr txBox="1"/>
          <p:nvPr/>
        </p:nvSpPr>
        <p:spPr>
          <a:xfrm>
            <a:off x="8915400" y="1981200"/>
            <a:ext cx="2260600" cy="353943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s-AR" sz="1700" b="1">
                <a:solidFill>
                  <a:srgbClr val="18324A"/>
                </a:solidFill>
                <a:latin typeface="Aptos" panose="020B0004020202020204" pitchFamily="34" charset="0"/>
              </a:rPr>
              <a:t>Salida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9534B656-CFE3-1AF4-5A5E-1753FEEF2121}"/>
              </a:ext>
            </a:extLst>
          </p:cNvPr>
          <p:cNvSpPr txBox="1"/>
          <p:nvPr/>
        </p:nvSpPr>
        <p:spPr>
          <a:xfrm>
            <a:off x="8915400" y="2413000"/>
            <a:ext cx="2260600" cy="1169551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s-MX" sz="1400">
                <a:solidFill>
                  <a:srgbClr val="202830"/>
                </a:solidFill>
                <a:latin typeface="Aptos" panose="020B0004020202020204" pitchFamily="34" charset="0"/>
              </a:rPr>
              <a:t>Logit de malignidad`rSigmoide como puntuación`rUmbral fijado en validación</a:t>
            </a:r>
            <a:endParaRPr lang="es-AR" sz="1400">
              <a:solidFill>
                <a:srgbClr val="202830"/>
              </a:solidFill>
              <a:latin typeface="Aptos" panose="020B0004020202020204" pitchFamily="34" charset="0"/>
            </a:endParaRPr>
          </a:p>
        </p:txBody>
      </p:sp>
      <p:cxnSp>
        <p:nvCxnSpPr>
          <p:cNvPr id="14" name="Conector recto 13">
            <a:extLst>
              <a:ext uri="{FF2B5EF4-FFF2-40B4-BE49-F238E27FC236}">
                <a16:creationId xmlns:a16="http://schemas.microsoft.com/office/drawing/2014/main" id="{C66DC2AE-D55E-90C1-03AC-4E894BA2D8B5}"/>
              </a:ext>
            </a:extLst>
          </p:cNvPr>
          <p:cNvCxnSpPr/>
          <p:nvPr/>
        </p:nvCxnSpPr>
        <p:spPr>
          <a:xfrm>
            <a:off x="3556000" y="3149600"/>
            <a:ext cx="1041400" cy="0"/>
          </a:xfrm>
          <a:prstGeom prst="line">
            <a:avLst/>
          </a:prstGeom>
          <a:ln w="38100">
            <a:solidFill>
              <a:srgbClr val="2C6E9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14">
            <a:extLst>
              <a:ext uri="{FF2B5EF4-FFF2-40B4-BE49-F238E27FC236}">
                <a16:creationId xmlns:a16="http://schemas.microsoft.com/office/drawing/2014/main" id="{FF0BCC72-10DE-D658-6E28-13CAA849CBA7}"/>
              </a:ext>
            </a:extLst>
          </p:cNvPr>
          <p:cNvCxnSpPr/>
          <p:nvPr/>
        </p:nvCxnSpPr>
        <p:spPr>
          <a:xfrm>
            <a:off x="7518400" y="3149600"/>
            <a:ext cx="1041400" cy="0"/>
          </a:xfrm>
          <a:prstGeom prst="line">
            <a:avLst/>
          </a:prstGeom>
          <a:ln w="38100">
            <a:solidFill>
              <a:srgbClr val="2C6E9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CuadroTexto 15">
            <a:extLst>
              <a:ext uri="{FF2B5EF4-FFF2-40B4-BE49-F238E27FC236}">
                <a16:creationId xmlns:a16="http://schemas.microsoft.com/office/drawing/2014/main" id="{217E3AE1-BE8C-A759-1864-53C59CC52510}"/>
              </a:ext>
            </a:extLst>
          </p:cNvPr>
          <p:cNvSpPr txBox="1"/>
          <p:nvPr/>
        </p:nvSpPr>
        <p:spPr>
          <a:xfrm>
            <a:off x="1473200" y="5118100"/>
            <a:ext cx="9245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s-MX" b="1">
                <a:solidFill>
                  <a:srgbClr val="2C6E91"/>
                </a:solidFill>
                <a:latin typeface="Aptos" panose="020B0004020202020204" pitchFamily="34" charset="0"/>
              </a:rPr>
              <a:t>Comparación secundaria: los mismos datos y particiones con pesos RadImageNet.</a:t>
            </a:r>
            <a:endParaRPr lang="es-AR" b="1">
              <a:solidFill>
                <a:srgbClr val="2C6E91"/>
              </a:solidFill>
              <a:latin typeface="Aptos" panose="020B0004020202020204" pitchFamily="34" charset="0"/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A85AFB65-5EE2-B964-04F5-69147F47EA49}"/>
              </a:ext>
            </a:extLst>
          </p:cNvPr>
          <p:cNvSpPr txBox="1"/>
          <p:nvPr/>
        </p:nvSpPr>
        <p:spPr>
          <a:xfrm>
            <a:off x="736600" y="6426200"/>
            <a:ext cx="5334000" cy="2308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s-MX" sz="900">
                <a:solidFill>
                  <a:srgbClr val="606A75"/>
                </a:solidFill>
                <a:latin typeface="Aptos" panose="020B0004020202020204" pitchFamily="34" charset="0"/>
              </a:rPr>
              <a:t>Maestría en Inteligencia Artificial · FIUBA</a:t>
            </a:r>
            <a:endParaRPr lang="es-AR" sz="900">
              <a:solidFill>
                <a:srgbClr val="606A75"/>
              </a:solidFill>
              <a:latin typeface="Aptos" panose="020B0004020202020204" pitchFamily="34" charset="0"/>
            </a:endParaRP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4C61C028-31C8-A78C-FAF4-038E3D902670}"/>
              </a:ext>
            </a:extLst>
          </p:cNvPr>
          <p:cNvSpPr txBox="1"/>
          <p:nvPr/>
        </p:nvSpPr>
        <p:spPr>
          <a:xfrm>
            <a:off x="8204200" y="6426200"/>
            <a:ext cx="3251200" cy="2308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r"/>
            <a:r>
              <a:rPr lang="es-AR" sz="900">
                <a:solidFill>
                  <a:srgbClr val="606A75"/>
                </a:solidFill>
                <a:latin typeface="Aptos" panose="020B0004020202020204" pitchFamily="34" charset="0"/>
              </a:rPr>
              <a:t>Emmanuel Cardozo · Octubre 2026</a:t>
            </a:r>
          </a:p>
        </p:txBody>
      </p:sp>
    </p:spTree>
    <p:extLst>
      <p:ext uri="{BB962C8B-B14F-4D97-AF65-F5344CB8AC3E}">
        <p14:creationId xmlns:p14="http://schemas.microsoft.com/office/powerpoint/2010/main" val="10211519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D40182E5-BC4C-B4AF-5DAA-7414F521F9BA}"/>
              </a:ext>
            </a:extLst>
          </p:cNvPr>
          <p:cNvSpPr txBox="1"/>
          <p:nvPr/>
        </p:nvSpPr>
        <p:spPr>
          <a:xfrm>
            <a:off x="736600" y="431800"/>
            <a:ext cx="10414000" cy="492443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s-AR" sz="2600" b="1">
                <a:solidFill>
                  <a:srgbClr val="18324A"/>
                </a:solidFill>
                <a:latin typeface="Aptos" panose="020B0004020202020204" pitchFamily="34" charset="0"/>
              </a:rPr>
              <a:t>Módulo de entrenamiento para BUS-BRA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9337DF3E-7998-B4BB-F80E-2A571CA33438}"/>
              </a:ext>
            </a:extLst>
          </p:cNvPr>
          <p:cNvSpPr txBox="1"/>
          <p:nvPr/>
        </p:nvSpPr>
        <p:spPr>
          <a:xfrm>
            <a:off x="11099800" y="533400"/>
            <a:ext cx="431800" cy="26161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s-AR" sz="1100" b="1">
                <a:solidFill>
                  <a:srgbClr val="2C6E91"/>
                </a:solidFill>
                <a:latin typeface="Aptos" panose="020B0004020202020204" pitchFamily="34" charset="0"/>
              </a:rPr>
              <a:t>06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F9C7D6D2-4470-4AA2-D213-A30AA628BFA4}"/>
              </a:ext>
            </a:extLst>
          </p:cNvPr>
          <p:cNvCxnSpPr/>
          <p:nvPr/>
        </p:nvCxnSpPr>
        <p:spPr>
          <a:xfrm>
            <a:off x="736600" y="1155700"/>
            <a:ext cx="10718800" cy="0"/>
          </a:xfrm>
          <a:prstGeom prst="line">
            <a:avLst/>
          </a:prstGeom>
          <a:ln w="12700">
            <a:solidFill>
              <a:srgbClr val="C8D0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C4613292-98F4-8829-DAA4-F4E39809E68A}"/>
              </a:ext>
            </a:extLst>
          </p:cNvPr>
          <p:cNvSpPr txBox="1"/>
          <p:nvPr/>
        </p:nvSpPr>
        <p:spPr>
          <a:xfrm>
            <a:off x="965200" y="1600200"/>
            <a:ext cx="10261600" cy="1661993"/>
          </a:xfrm>
          <a:prstGeom prst="rect">
            <a:avLst/>
          </a:prstGeom>
          <a:noFill/>
        </p:spPr>
        <p:txBody>
          <a:bodyPr vert="horz" wrap="square" lIns="38100" rtlCol="0">
            <a:noAutofit/>
          </a:bodyPr>
          <a:lstStyle/>
          <a:p>
            <a:pPr>
              <a:spcAft>
                <a:spcPts val="1200"/>
              </a:spcAft>
            </a:pPr>
            <a:r>
              <a:rPr lang="es-MX" sz="1700">
                <a:solidFill>
                  <a:srgbClr val="202830"/>
                </a:solidFill>
                <a:latin typeface="Aptos" panose="020B0004020202020204" pitchFamily="34" charset="0"/>
              </a:rPr>
              <a:t>• Manifiesto obligatorio con imagen, etiqueta, paciente y partición</a:t>
            </a:r>
          </a:p>
          <a:p>
            <a:pPr>
              <a:spcAft>
                <a:spcPts val="1200"/>
              </a:spcAft>
            </a:pPr>
            <a:r>
              <a:rPr lang="es-MX" sz="1700">
                <a:solidFill>
                  <a:srgbClr val="202830"/>
                </a:solidFill>
                <a:latin typeface="Aptos" panose="020B0004020202020204" pitchFamily="34" charset="0"/>
              </a:rPr>
              <a:t>• Control automático de pacientes compartidos entre train, val y test</a:t>
            </a:r>
          </a:p>
          <a:p>
            <a:pPr>
              <a:spcAft>
                <a:spcPts val="1200"/>
              </a:spcAft>
            </a:pPr>
            <a:r>
              <a:rPr lang="es-MX" sz="1700">
                <a:solidFill>
                  <a:srgbClr val="202830"/>
                </a:solidFill>
                <a:latin typeface="Aptos" panose="020B0004020202020204" pitchFamily="34" charset="0"/>
              </a:rPr>
              <a:t>• Pérdida binaria ponderada, AdamW y precisión mixta en GPU</a:t>
            </a:r>
          </a:p>
          <a:p>
            <a:pPr>
              <a:spcAft>
                <a:spcPts val="1200"/>
              </a:spcAft>
            </a:pPr>
            <a:r>
              <a:rPr lang="es-MX" sz="1700">
                <a:solidFill>
                  <a:srgbClr val="202830"/>
                </a:solidFill>
                <a:latin typeface="Aptos" panose="020B0004020202020204" pitchFamily="34" charset="0"/>
              </a:rPr>
              <a:t>• Backbone congelado durante dos épocas y ajuste fino posterior</a:t>
            </a:r>
          </a:p>
          <a:p>
            <a:pPr>
              <a:spcAft>
                <a:spcPts val="1200"/>
              </a:spcAft>
            </a:pPr>
            <a:r>
              <a:rPr lang="es-MX" sz="1700">
                <a:solidFill>
                  <a:srgbClr val="202830"/>
                </a:solidFill>
                <a:latin typeface="Aptos" panose="020B0004020202020204" pitchFamily="34" charset="0"/>
              </a:rPr>
              <a:t>• Detención temprana por AUC de validación</a:t>
            </a:r>
          </a:p>
          <a:p>
            <a:pPr>
              <a:spcAft>
                <a:spcPts val="1200"/>
              </a:spcAft>
            </a:pPr>
            <a:r>
              <a:rPr lang="es-MX" sz="1700">
                <a:solidFill>
                  <a:srgbClr val="202830"/>
                </a:solidFill>
                <a:latin typeface="Aptos" panose="020B0004020202020204" pitchFamily="34" charset="0"/>
              </a:rPr>
              <a:t>• Checkpoint, historial y configuración resuelta como salidas</a:t>
            </a:r>
            <a:endParaRPr lang="es-AR" sz="1700">
              <a:solidFill>
                <a:srgbClr val="202830"/>
              </a:solidFill>
              <a:latin typeface="Aptos" panose="020B0004020202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93BE6DAF-544C-2EB9-E087-31D3D60E0946}"/>
              </a:ext>
            </a:extLst>
          </p:cNvPr>
          <p:cNvSpPr txBox="1"/>
          <p:nvPr/>
        </p:nvSpPr>
        <p:spPr>
          <a:xfrm>
            <a:off x="1270000" y="5473700"/>
            <a:ext cx="9652000" cy="338554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s-AR" sz="1600" b="1">
                <a:solidFill>
                  <a:srgbClr val="CC4E4E"/>
                </a:solidFill>
                <a:latin typeface="Aptos" panose="020B0004020202020204" pitchFamily="34" charset="0"/>
              </a:rPr>
              <a:t>Experimento separado del protocolo que reserva BUS-BRA para validación externa.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EF7C8E4-839A-544D-29DE-B4D9D817BC0D}"/>
              </a:ext>
            </a:extLst>
          </p:cNvPr>
          <p:cNvSpPr txBox="1"/>
          <p:nvPr/>
        </p:nvSpPr>
        <p:spPr>
          <a:xfrm>
            <a:off x="736600" y="6426200"/>
            <a:ext cx="5334000" cy="2308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s-MX" sz="900">
                <a:solidFill>
                  <a:srgbClr val="606A75"/>
                </a:solidFill>
                <a:latin typeface="Aptos" panose="020B0004020202020204" pitchFamily="34" charset="0"/>
              </a:rPr>
              <a:t>Maestría en Inteligencia Artificial · FIUBA</a:t>
            </a:r>
            <a:endParaRPr lang="es-AR" sz="900">
              <a:solidFill>
                <a:srgbClr val="606A75"/>
              </a:solidFill>
              <a:latin typeface="Aptos" panose="020B0004020202020204" pitchFamily="34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75A047E-34CF-6E37-DA1E-75EBCBBEAFDC}"/>
              </a:ext>
            </a:extLst>
          </p:cNvPr>
          <p:cNvSpPr txBox="1"/>
          <p:nvPr/>
        </p:nvSpPr>
        <p:spPr>
          <a:xfrm>
            <a:off x="8204200" y="6426200"/>
            <a:ext cx="3251200" cy="2308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r"/>
            <a:r>
              <a:rPr lang="es-AR" sz="900">
                <a:solidFill>
                  <a:srgbClr val="606A75"/>
                </a:solidFill>
                <a:latin typeface="Aptos" panose="020B0004020202020204" pitchFamily="34" charset="0"/>
              </a:rPr>
              <a:t>Emmanuel Cardozo · Octubre 2026</a:t>
            </a:r>
          </a:p>
        </p:txBody>
      </p:sp>
    </p:spTree>
    <p:extLst>
      <p:ext uri="{BB962C8B-B14F-4D97-AF65-F5344CB8AC3E}">
        <p14:creationId xmlns:p14="http://schemas.microsoft.com/office/powerpoint/2010/main" val="34095766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27762B9-7111-D122-65E5-E2B0EED85B13}"/>
              </a:ext>
            </a:extLst>
          </p:cNvPr>
          <p:cNvSpPr txBox="1"/>
          <p:nvPr/>
        </p:nvSpPr>
        <p:spPr>
          <a:xfrm>
            <a:off x="736600" y="431800"/>
            <a:ext cx="10414000" cy="492443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s-AR" sz="2600" b="1">
                <a:solidFill>
                  <a:srgbClr val="18324A"/>
                </a:solidFill>
                <a:latin typeface="Aptos" panose="020B0004020202020204" pitchFamily="34" charset="0"/>
              </a:rPr>
              <a:t>Puntos de operación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F4217F93-74CB-3225-DB24-E77134654219}"/>
              </a:ext>
            </a:extLst>
          </p:cNvPr>
          <p:cNvSpPr txBox="1"/>
          <p:nvPr/>
        </p:nvSpPr>
        <p:spPr>
          <a:xfrm>
            <a:off x="11099800" y="533400"/>
            <a:ext cx="431800" cy="26161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s-AR" sz="1100" b="1">
                <a:solidFill>
                  <a:srgbClr val="2C6E91"/>
                </a:solidFill>
                <a:latin typeface="Aptos" panose="020B0004020202020204" pitchFamily="34" charset="0"/>
              </a:rPr>
              <a:t>07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13EEBA6C-7371-B816-1E68-F3F825219217}"/>
              </a:ext>
            </a:extLst>
          </p:cNvPr>
          <p:cNvCxnSpPr/>
          <p:nvPr/>
        </p:nvCxnSpPr>
        <p:spPr>
          <a:xfrm>
            <a:off x="736600" y="1155700"/>
            <a:ext cx="10718800" cy="0"/>
          </a:xfrm>
          <a:prstGeom prst="line">
            <a:avLst/>
          </a:prstGeom>
          <a:ln w="12700">
            <a:solidFill>
              <a:srgbClr val="C8D0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BBDF0B05-411B-45B3-D082-72FBC879847E}"/>
              </a:ext>
            </a:extLst>
          </p:cNvPr>
          <p:cNvSpPr/>
          <p:nvPr/>
        </p:nvSpPr>
        <p:spPr>
          <a:xfrm>
            <a:off x="787400" y="1841500"/>
            <a:ext cx="3200400" cy="2565400"/>
          </a:xfrm>
          <a:prstGeom prst="roundRect">
            <a:avLst/>
          </a:prstGeom>
          <a:solidFill>
            <a:srgbClr val="F1F5F8"/>
          </a:solidFill>
          <a:ln w="12700">
            <a:solidFill>
              <a:srgbClr val="CDD5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09830B80-22C4-8E44-6FC7-32643BB082F0}"/>
              </a:ext>
            </a:extLst>
          </p:cNvPr>
          <p:cNvSpPr txBox="1"/>
          <p:nvPr/>
        </p:nvSpPr>
        <p:spPr>
          <a:xfrm>
            <a:off x="990600" y="2006600"/>
            <a:ext cx="2794000" cy="353943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s-AR" sz="1700" b="1">
                <a:solidFill>
                  <a:srgbClr val="18324A"/>
                </a:solidFill>
                <a:latin typeface="Aptos" panose="020B0004020202020204" pitchFamily="34" charset="0"/>
              </a:rPr>
              <a:t>Umbral 0,5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0BE99253-6FBB-8CF6-8348-9509B7220A95}"/>
              </a:ext>
            </a:extLst>
          </p:cNvPr>
          <p:cNvSpPr txBox="1"/>
          <p:nvPr/>
        </p:nvSpPr>
        <p:spPr>
          <a:xfrm>
            <a:off x="990600" y="2438400"/>
            <a:ext cx="2794000" cy="52322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s-MX" sz="1400">
                <a:solidFill>
                  <a:srgbClr val="202830"/>
                </a:solidFill>
                <a:latin typeface="Aptos" panose="020B0004020202020204" pitchFamily="34" charset="0"/>
              </a:rPr>
              <a:t>Referencia convencional para interpretar la salida sigmoide.</a:t>
            </a:r>
            <a:endParaRPr lang="es-AR" sz="1400">
              <a:solidFill>
                <a:srgbClr val="202830"/>
              </a:solidFill>
              <a:latin typeface="Aptos" panose="020B0004020202020204" pitchFamily="34" charset="0"/>
            </a:endParaRP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EAABFD33-816E-5A10-F65F-A3E788839557}"/>
              </a:ext>
            </a:extLst>
          </p:cNvPr>
          <p:cNvSpPr/>
          <p:nvPr/>
        </p:nvSpPr>
        <p:spPr>
          <a:xfrm>
            <a:off x="4495800" y="1841500"/>
            <a:ext cx="3200400" cy="2565400"/>
          </a:xfrm>
          <a:prstGeom prst="roundRect">
            <a:avLst/>
          </a:prstGeom>
          <a:solidFill>
            <a:srgbClr val="DFE9F2"/>
          </a:solidFill>
          <a:ln w="12700">
            <a:solidFill>
              <a:srgbClr val="CDD5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DF6DCE7C-FAF7-3AD9-CD47-E43E5466461C}"/>
              </a:ext>
            </a:extLst>
          </p:cNvPr>
          <p:cNvSpPr txBox="1"/>
          <p:nvPr/>
        </p:nvSpPr>
        <p:spPr>
          <a:xfrm>
            <a:off x="4699000" y="2006600"/>
            <a:ext cx="2794000" cy="353943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s-AR" sz="1700" b="1">
                <a:solidFill>
                  <a:srgbClr val="18324A"/>
                </a:solidFill>
                <a:latin typeface="Aptos" panose="020B0004020202020204" pitchFamily="34" charset="0"/>
              </a:rPr>
              <a:t>Sensibilidad ≥ 90 %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B6166036-51E5-023F-8711-724338B97472}"/>
              </a:ext>
            </a:extLst>
          </p:cNvPr>
          <p:cNvSpPr txBox="1"/>
          <p:nvPr/>
        </p:nvSpPr>
        <p:spPr>
          <a:xfrm>
            <a:off x="4699000" y="2438400"/>
            <a:ext cx="2794000" cy="738664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s-MX" sz="1400">
                <a:solidFill>
                  <a:srgbClr val="202830"/>
                </a:solidFill>
                <a:latin typeface="Aptos" panose="020B0004020202020204" pitchFamily="34" charset="0"/>
              </a:rPr>
              <a:t>Máxima especificidad entre los umbrales que cumplen el objetivo en validación.</a:t>
            </a:r>
            <a:endParaRPr lang="es-AR" sz="1400">
              <a:solidFill>
                <a:srgbClr val="202830"/>
              </a:solidFill>
              <a:latin typeface="Aptos" panose="020B0004020202020204" pitchFamily="34" charset="0"/>
            </a:endParaRP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F71AC413-76EC-EA4B-C335-292FA26B47DC}"/>
              </a:ext>
            </a:extLst>
          </p:cNvPr>
          <p:cNvSpPr/>
          <p:nvPr/>
        </p:nvSpPr>
        <p:spPr>
          <a:xfrm>
            <a:off x="8204200" y="1841500"/>
            <a:ext cx="3200400" cy="2565400"/>
          </a:xfrm>
          <a:prstGeom prst="roundRect">
            <a:avLst/>
          </a:prstGeom>
          <a:solidFill>
            <a:srgbClr val="F1F5F8"/>
          </a:solidFill>
          <a:ln w="12700">
            <a:solidFill>
              <a:srgbClr val="CDD5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17A4EFE9-00BB-7C81-20AD-4BCB85F183C7}"/>
              </a:ext>
            </a:extLst>
          </p:cNvPr>
          <p:cNvSpPr txBox="1"/>
          <p:nvPr/>
        </p:nvSpPr>
        <p:spPr>
          <a:xfrm>
            <a:off x="8407400" y="2006600"/>
            <a:ext cx="2794000" cy="353943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s-AR" sz="1700" b="1">
                <a:solidFill>
                  <a:srgbClr val="18324A"/>
                </a:solidFill>
                <a:latin typeface="Aptos" panose="020B0004020202020204" pitchFamily="34" charset="0"/>
              </a:rPr>
              <a:t>Sensibilidad 95 a 98 %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1E9CCCF9-A6C5-6F93-16CE-3849EB8E6B3D}"/>
              </a:ext>
            </a:extLst>
          </p:cNvPr>
          <p:cNvSpPr txBox="1"/>
          <p:nvPr/>
        </p:nvSpPr>
        <p:spPr>
          <a:xfrm>
            <a:off x="8407400" y="2438400"/>
            <a:ext cx="2794000" cy="738664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s-MX" sz="1400">
                <a:solidFill>
                  <a:srgbClr val="202830"/>
                </a:solidFill>
                <a:latin typeface="Aptos" panose="020B0004020202020204" pitchFamily="34" charset="0"/>
              </a:rPr>
              <a:t>Análisis exploratorio ligado a BI-RADS 3 frente a 4, con su costo en falsos positivos.</a:t>
            </a:r>
            <a:endParaRPr lang="es-AR" sz="1400">
              <a:solidFill>
                <a:srgbClr val="202830"/>
              </a:solidFill>
              <a:latin typeface="Aptos" panose="020B0004020202020204" pitchFamily="34" charset="0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437A75EE-4D0E-5522-7451-6EAC9F84D656}"/>
              </a:ext>
            </a:extLst>
          </p:cNvPr>
          <p:cNvSpPr txBox="1"/>
          <p:nvPr/>
        </p:nvSpPr>
        <p:spPr>
          <a:xfrm>
            <a:off x="1955800" y="5168900"/>
            <a:ext cx="8280400" cy="384721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s-MX" sz="1900" b="1">
                <a:solidFill>
                  <a:srgbClr val="18324A"/>
                </a:solidFill>
                <a:latin typeface="Aptos" panose="020B0004020202020204" pitchFamily="34" charset="0"/>
              </a:rPr>
              <a:t>El mismo umbral se aplica al test interno y a las cohortes externas.</a:t>
            </a:r>
            <a:endParaRPr lang="es-AR" sz="1900" b="1">
              <a:solidFill>
                <a:srgbClr val="18324A"/>
              </a:solidFill>
              <a:latin typeface="Aptos" panose="020B0004020202020204" pitchFamily="34" charset="0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6FAFFFDE-7AE2-2612-E614-5437F5357B3D}"/>
              </a:ext>
            </a:extLst>
          </p:cNvPr>
          <p:cNvSpPr txBox="1"/>
          <p:nvPr/>
        </p:nvSpPr>
        <p:spPr>
          <a:xfrm>
            <a:off x="736600" y="6426200"/>
            <a:ext cx="5334000" cy="2308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s-MX" sz="900">
                <a:solidFill>
                  <a:srgbClr val="606A75"/>
                </a:solidFill>
                <a:latin typeface="Aptos" panose="020B0004020202020204" pitchFamily="34" charset="0"/>
              </a:rPr>
              <a:t>Maestría en Inteligencia Artificial · FIUBA</a:t>
            </a:r>
            <a:endParaRPr lang="es-AR" sz="900">
              <a:solidFill>
                <a:srgbClr val="606A75"/>
              </a:solidFill>
              <a:latin typeface="Aptos" panose="020B0004020202020204" pitchFamily="34" charset="0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D8A6FADF-F208-EC04-0EA7-588AAB74659B}"/>
              </a:ext>
            </a:extLst>
          </p:cNvPr>
          <p:cNvSpPr txBox="1"/>
          <p:nvPr/>
        </p:nvSpPr>
        <p:spPr>
          <a:xfrm>
            <a:off x="8204200" y="6426200"/>
            <a:ext cx="3251200" cy="2308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r"/>
            <a:r>
              <a:rPr lang="es-AR" sz="900">
                <a:solidFill>
                  <a:srgbClr val="606A75"/>
                </a:solidFill>
                <a:latin typeface="Aptos" panose="020B0004020202020204" pitchFamily="34" charset="0"/>
              </a:rPr>
              <a:t>Emmanuel Cardozo · Octubre 2026</a:t>
            </a:r>
          </a:p>
        </p:txBody>
      </p:sp>
    </p:spTree>
    <p:extLst>
      <p:ext uri="{BB962C8B-B14F-4D97-AF65-F5344CB8AC3E}">
        <p14:creationId xmlns:p14="http://schemas.microsoft.com/office/powerpoint/2010/main" val="20150974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0DCB67F4-A07E-1DD2-1E42-930CD16FECBA}"/>
              </a:ext>
            </a:extLst>
          </p:cNvPr>
          <p:cNvSpPr txBox="1"/>
          <p:nvPr/>
        </p:nvSpPr>
        <p:spPr>
          <a:xfrm>
            <a:off x="736600" y="431800"/>
            <a:ext cx="10414000" cy="492443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s-AR" sz="2600" b="1">
                <a:solidFill>
                  <a:srgbClr val="18324A"/>
                </a:solidFill>
                <a:latin typeface="Aptos" panose="020B0004020202020204" pitchFamily="34" charset="0"/>
              </a:rPr>
              <a:t>Evaluación y reporte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0C594640-02E0-DA24-C4BE-A837DBB23F10}"/>
              </a:ext>
            </a:extLst>
          </p:cNvPr>
          <p:cNvSpPr txBox="1"/>
          <p:nvPr/>
        </p:nvSpPr>
        <p:spPr>
          <a:xfrm>
            <a:off x="11099800" y="533400"/>
            <a:ext cx="431800" cy="26161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s-AR" sz="1100" b="1">
                <a:solidFill>
                  <a:srgbClr val="2C6E91"/>
                </a:solidFill>
                <a:latin typeface="Aptos" panose="020B0004020202020204" pitchFamily="34" charset="0"/>
              </a:rPr>
              <a:t>08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AB2AE379-C64C-CC4A-AFF2-96AFD55B243E}"/>
              </a:ext>
            </a:extLst>
          </p:cNvPr>
          <p:cNvCxnSpPr/>
          <p:nvPr/>
        </p:nvCxnSpPr>
        <p:spPr>
          <a:xfrm>
            <a:off x="736600" y="1155700"/>
            <a:ext cx="10718800" cy="0"/>
          </a:xfrm>
          <a:prstGeom prst="line">
            <a:avLst/>
          </a:prstGeom>
          <a:ln w="12700">
            <a:solidFill>
              <a:srgbClr val="C8D0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CA61261A-4C7F-7427-FECD-65DE53C79A37}"/>
              </a:ext>
            </a:extLst>
          </p:cNvPr>
          <p:cNvSpPr/>
          <p:nvPr/>
        </p:nvSpPr>
        <p:spPr>
          <a:xfrm>
            <a:off x="787400" y="1727200"/>
            <a:ext cx="3175000" cy="2667000"/>
          </a:xfrm>
          <a:prstGeom prst="roundRect">
            <a:avLst/>
          </a:prstGeom>
          <a:solidFill>
            <a:srgbClr val="F1F5F8"/>
          </a:solidFill>
          <a:ln w="12700">
            <a:solidFill>
              <a:srgbClr val="CDD5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AF6C197-7BA5-5B35-7038-DBFBFAFDEC6B}"/>
              </a:ext>
            </a:extLst>
          </p:cNvPr>
          <p:cNvSpPr txBox="1"/>
          <p:nvPr/>
        </p:nvSpPr>
        <p:spPr>
          <a:xfrm>
            <a:off x="990600" y="1892300"/>
            <a:ext cx="2768600" cy="353943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s-AR" sz="1700" b="1">
                <a:solidFill>
                  <a:srgbClr val="18324A"/>
                </a:solidFill>
                <a:latin typeface="Aptos" panose="020B0004020202020204" pitchFamily="34" charset="0"/>
              </a:rPr>
              <a:t>Discriminación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BC5F6109-9FE7-B12B-4565-E0218F62F2C5}"/>
              </a:ext>
            </a:extLst>
          </p:cNvPr>
          <p:cNvSpPr txBox="1"/>
          <p:nvPr/>
        </p:nvSpPr>
        <p:spPr>
          <a:xfrm>
            <a:off x="990600" y="2324100"/>
            <a:ext cx="2768600" cy="52322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s-AR" sz="1400">
                <a:solidFill>
                  <a:srgbClr val="202830"/>
                </a:solidFill>
                <a:latin typeface="Aptos" panose="020B0004020202020204" pitchFamily="34" charset="0"/>
              </a:rPr>
              <a:t>AUC-ROC`rAverage precision`rMatriz de confusión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59AE2D19-33F4-D734-8875-47A38C8378D7}"/>
              </a:ext>
            </a:extLst>
          </p:cNvPr>
          <p:cNvSpPr/>
          <p:nvPr/>
        </p:nvSpPr>
        <p:spPr>
          <a:xfrm>
            <a:off x="4508500" y="1727200"/>
            <a:ext cx="3175000" cy="2667000"/>
          </a:xfrm>
          <a:prstGeom prst="roundRect">
            <a:avLst/>
          </a:prstGeom>
          <a:solidFill>
            <a:srgbClr val="DFE9F2"/>
          </a:solidFill>
          <a:ln w="12700">
            <a:solidFill>
              <a:srgbClr val="CDD5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F7D048C7-20EB-8376-4496-4A46B004E835}"/>
              </a:ext>
            </a:extLst>
          </p:cNvPr>
          <p:cNvSpPr txBox="1"/>
          <p:nvPr/>
        </p:nvSpPr>
        <p:spPr>
          <a:xfrm>
            <a:off x="4711700" y="1892300"/>
            <a:ext cx="2768600" cy="353943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s-AR" sz="1700" b="1">
                <a:solidFill>
                  <a:srgbClr val="18324A"/>
                </a:solidFill>
                <a:latin typeface="Aptos" panose="020B0004020202020204" pitchFamily="34" charset="0"/>
              </a:rPr>
              <a:t>Decisión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3059A5D7-034A-A344-5C65-9BD7DB3C7FE2}"/>
              </a:ext>
            </a:extLst>
          </p:cNvPr>
          <p:cNvSpPr txBox="1"/>
          <p:nvPr/>
        </p:nvSpPr>
        <p:spPr>
          <a:xfrm>
            <a:off x="4711700" y="2324100"/>
            <a:ext cx="2768600" cy="738664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s-MX" sz="1400">
                <a:solidFill>
                  <a:srgbClr val="202830"/>
                </a:solidFill>
                <a:latin typeface="Aptos" panose="020B0004020202020204" pitchFamily="34" charset="0"/>
              </a:rPr>
              <a:t>Sensibilidad y especificidad`rFalsos negativos`rValores predictivos</a:t>
            </a:r>
            <a:endParaRPr lang="es-AR" sz="1400">
              <a:solidFill>
                <a:srgbClr val="202830"/>
              </a:solidFill>
              <a:latin typeface="Aptos" panose="020B0004020202020204" pitchFamily="34" charset="0"/>
            </a:endParaRP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216156E3-52C9-5B99-4C59-C04B571DFC8E}"/>
              </a:ext>
            </a:extLst>
          </p:cNvPr>
          <p:cNvSpPr/>
          <p:nvPr/>
        </p:nvSpPr>
        <p:spPr>
          <a:xfrm>
            <a:off x="8229600" y="1727200"/>
            <a:ext cx="3175000" cy="2667000"/>
          </a:xfrm>
          <a:prstGeom prst="roundRect">
            <a:avLst/>
          </a:prstGeom>
          <a:solidFill>
            <a:srgbClr val="F1F5F8"/>
          </a:solidFill>
          <a:ln w="12700">
            <a:solidFill>
              <a:srgbClr val="CDD5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9A980488-A21B-08AC-98A2-D07C04CC9F85}"/>
              </a:ext>
            </a:extLst>
          </p:cNvPr>
          <p:cNvSpPr txBox="1"/>
          <p:nvPr/>
        </p:nvSpPr>
        <p:spPr>
          <a:xfrm>
            <a:off x="8432800" y="1892300"/>
            <a:ext cx="2768600" cy="353943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s-AR" sz="1700" b="1">
                <a:solidFill>
                  <a:srgbClr val="18324A"/>
                </a:solidFill>
                <a:latin typeface="Aptos" panose="020B0004020202020204" pitchFamily="34" charset="0"/>
              </a:rPr>
              <a:t>Confiabilidad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E2D53A48-E90A-8E12-2657-C62A2832F071}"/>
              </a:ext>
            </a:extLst>
          </p:cNvPr>
          <p:cNvSpPr txBox="1"/>
          <p:nvPr/>
        </p:nvSpPr>
        <p:spPr>
          <a:xfrm>
            <a:off x="8432800" y="2324100"/>
            <a:ext cx="2768600" cy="738664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s-AR" sz="1400">
                <a:solidFill>
                  <a:srgbClr val="202830"/>
                </a:solidFill>
                <a:latin typeface="Aptos" panose="020B0004020202020204" pitchFamily="34" charset="0"/>
              </a:rPr>
              <a:t>Brier score`rDiagrama de calibración`rBootstrap por paciente o grupo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FBA82FD2-DA4A-8F71-F49A-BCDC9F48058F}"/>
              </a:ext>
            </a:extLst>
          </p:cNvPr>
          <p:cNvSpPr txBox="1"/>
          <p:nvPr/>
        </p:nvSpPr>
        <p:spPr>
          <a:xfrm>
            <a:off x="1473200" y="5156200"/>
            <a:ext cx="9245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s-MX" b="1">
                <a:solidFill>
                  <a:srgbClr val="2C6E91"/>
                </a:solidFill>
                <a:latin typeface="Aptos" panose="020B0004020202020204" pitchFamily="34" charset="0"/>
              </a:rPr>
              <a:t>BUSI y BUS-BRA se reportan por separado, con tamaños y prevalencias explícitos.</a:t>
            </a:r>
            <a:endParaRPr lang="es-AR" b="1">
              <a:solidFill>
                <a:srgbClr val="2C6E91"/>
              </a:solidFill>
              <a:latin typeface="Aptos" panose="020B0004020202020204" pitchFamily="34" charset="0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ADA30BB2-004E-5E88-27FB-CF372686A8A4}"/>
              </a:ext>
            </a:extLst>
          </p:cNvPr>
          <p:cNvSpPr txBox="1"/>
          <p:nvPr/>
        </p:nvSpPr>
        <p:spPr>
          <a:xfrm>
            <a:off x="736600" y="6426200"/>
            <a:ext cx="5334000" cy="2308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s-MX" sz="900">
                <a:solidFill>
                  <a:srgbClr val="606A75"/>
                </a:solidFill>
                <a:latin typeface="Aptos" panose="020B0004020202020204" pitchFamily="34" charset="0"/>
              </a:rPr>
              <a:t>Maestría en Inteligencia Artificial · FIUBA</a:t>
            </a:r>
            <a:endParaRPr lang="es-AR" sz="900">
              <a:solidFill>
                <a:srgbClr val="606A75"/>
              </a:solidFill>
              <a:latin typeface="Aptos" panose="020B0004020202020204" pitchFamily="34" charset="0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8E50678F-42AE-0DA2-BE1E-FFB930F697F2}"/>
              </a:ext>
            </a:extLst>
          </p:cNvPr>
          <p:cNvSpPr txBox="1"/>
          <p:nvPr/>
        </p:nvSpPr>
        <p:spPr>
          <a:xfrm>
            <a:off x="8204200" y="6426200"/>
            <a:ext cx="3251200" cy="2308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r"/>
            <a:r>
              <a:rPr lang="es-AR" sz="900">
                <a:solidFill>
                  <a:srgbClr val="606A75"/>
                </a:solidFill>
                <a:latin typeface="Aptos" panose="020B0004020202020204" pitchFamily="34" charset="0"/>
              </a:rPr>
              <a:t>Emmanuel Cardozo · Octubre 2026</a:t>
            </a:r>
          </a:p>
        </p:txBody>
      </p:sp>
    </p:spTree>
    <p:extLst>
      <p:ext uri="{BB962C8B-B14F-4D97-AF65-F5344CB8AC3E}">
        <p14:creationId xmlns:p14="http://schemas.microsoft.com/office/powerpoint/2010/main" val="17436410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012B52CD-5DF3-B88C-B7B7-CC34EA036AFE}"/>
              </a:ext>
            </a:extLst>
          </p:cNvPr>
          <p:cNvSpPr txBox="1"/>
          <p:nvPr/>
        </p:nvSpPr>
        <p:spPr>
          <a:xfrm>
            <a:off x="736600" y="431800"/>
            <a:ext cx="10414000" cy="492443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s-MX" sz="2600" b="1">
                <a:solidFill>
                  <a:srgbClr val="18324A"/>
                </a:solidFill>
                <a:latin typeface="Aptos" panose="020B0004020202020204" pitchFamily="34" charset="0"/>
              </a:rPr>
              <a:t>Grad-CAM y análisis de errores</a:t>
            </a:r>
            <a:endParaRPr lang="es-AR" sz="2600" b="1">
              <a:solidFill>
                <a:srgbClr val="18324A"/>
              </a:solidFill>
              <a:latin typeface="Aptos" panose="020B000402020202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0A2ED9E-2084-75B7-4DC8-E601311E68D1}"/>
              </a:ext>
            </a:extLst>
          </p:cNvPr>
          <p:cNvSpPr txBox="1"/>
          <p:nvPr/>
        </p:nvSpPr>
        <p:spPr>
          <a:xfrm>
            <a:off x="11099800" y="533400"/>
            <a:ext cx="431800" cy="26161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s-AR" sz="1100" b="1">
                <a:solidFill>
                  <a:srgbClr val="2C6E91"/>
                </a:solidFill>
                <a:latin typeface="Aptos" panose="020B0004020202020204" pitchFamily="34" charset="0"/>
              </a:rPr>
              <a:t>09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60B64C12-ED2E-8867-A6DC-219206998D29}"/>
              </a:ext>
            </a:extLst>
          </p:cNvPr>
          <p:cNvCxnSpPr/>
          <p:nvPr/>
        </p:nvCxnSpPr>
        <p:spPr>
          <a:xfrm>
            <a:off x="736600" y="1155700"/>
            <a:ext cx="10718800" cy="0"/>
          </a:xfrm>
          <a:prstGeom prst="line">
            <a:avLst/>
          </a:prstGeom>
          <a:ln w="12700">
            <a:solidFill>
              <a:srgbClr val="C8D0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61C59199-DD27-2577-2296-A96BD44C2F86}"/>
              </a:ext>
            </a:extLst>
          </p:cNvPr>
          <p:cNvSpPr txBox="1"/>
          <p:nvPr/>
        </p:nvSpPr>
        <p:spPr>
          <a:xfrm>
            <a:off x="838200" y="1651000"/>
            <a:ext cx="7112000" cy="1661993"/>
          </a:xfrm>
          <a:prstGeom prst="rect">
            <a:avLst/>
          </a:prstGeom>
          <a:noFill/>
        </p:spPr>
        <p:txBody>
          <a:bodyPr vert="horz" wrap="square" lIns="38100" rtlCol="0">
            <a:noAutofit/>
          </a:bodyPr>
          <a:lstStyle/>
          <a:p>
            <a:pPr>
              <a:spcAft>
                <a:spcPts val="1200"/>
              </a:spcAft>
            </a:pPr>
            <a:r>
              <a:rPr lang="es-MX" sz="1700">
                <a:solidFill>
                  <a:srgbClr val="202830"/>
                </a:solidFill>
                <a:latin typeface="Aptos" panose="020B0004020202020204" pitchFamily="34" charset="0"/>
              </a:rPr>
              <a:t>• Mapas para malignidad en casos correctos y errores</a:t>
            </a:r>
          </a:p>
          <a:p>
            <a:pPr>
              <a:spcAft>
                <a:spcPts val="1200"/>
              </a:spcAft>
            </a:pPr>
            <a:r>
              <a:rPr lang="es-MX" sz="1700">
                <a:solidFill>
                  <a:srgbClr val="202830"/>
                </a:solidFill>
                <a:latin typeface="Aptos" panose="020B0004020202020204" pitchFamily="34" charset="0"/>
              </a:rPr>
              <a:t>• Revisión completa de falsos negativos internos</a:t>
            </a:r>
          </a:p>
          <a:p>
            <a:pPr>
              <a:spcAft>
                <a:spcPts val="1200"/>
              </a:spcAft>
            </a:pPr>
            <a:r>
              <a:rPr lang="es-MX" sz="1700">
                <a:solidFill>
                  <a:srgbClr val="202830"/>
                </a:solidFill>
                <a:latin typeface="Aptos" panose="020B0004020202020204" pitchFamily="34" charset="0"/>
              </a:rPr>
              <a:t>• Muestra externa reproducible de falsos negativos y falsos positivos</a:t>
            </a:r>
          </a:p>
          <a:p>
            <a:pPr>
              <a:spcAft>
                <a:spcPts val="1200"/>
              </a:spcAft>
            </a:pPr>
            <a:r>
              <a:rPr lang="es-MX" sz="1700">
                <a:solidFill>
                  <a:srgbClr val="202830"/>
                </a:solidFill>
                <a:latin typeface="Aptos" panose="020B0004020202020204" pitchFamily="34" charset="0"/>
              </a:rPr>
              <a:t>• Control con cabeza aleatorizada para estudiar sensibilidad del mapa</a:t>
            </a:r>
          </a:p>
          <a:p>
            <a:pPr>
              <a:spcAft>
                <a:spcPts val="1200"/>
              </a:spcAft>
            </a:pPr>
            <a:r>
              <a:rPr lang="es-MX" sz="1700">
                <a:solidFill>
                  <a:srgbClr val="202830"/>
                </a:solidFill>
                <a:latin typeface="Aptos" panose="020B0004020202020204" pitchFamily="34" charset="0"/>
              </a:rPr>
              <a:t>• Análisis de activaciones sobre marcas, bordes y regiones fuera de la lesión</a:t>
            </a:r>
            <a:endParaRPr lang="es-AR" sz="1700">
              <a:solidFill>
                <a:srgbClr val="202830"/>
              </a:solidFill>
              <a:latin typeface="Aptos" panose="020B0004020202020204" pitchFamily="34" charset="0"/>
            </a:endParaRP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A21FE166-82F5-F848-D38E-89B5E94F4543}"/>
              </a:ext>
            </a:extLst>
          </p:cNvPr>
          <p:cNvSpPr/>
          <p:nvPr/>
        </p:nvSpPr>
        <p:spPr>
          <a:xfrm>
            <a:off x="8432800" y="1955800"/>
            <a:ext cx="2946400" cy="2590800"/>
          </a:xfrm>
          <a:prstGeom prst="roundRect">
            <a:avLst/>
          </a:prstGeom>
          <a:solidFill>
            <a:srgbClr val="DFE9F2"/>
          </a:solidFill>
          <a:ln w="12700">
            <a:solidFill>
              <a:srgbClr val="CDD5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53A3F3C-5E41-20DA-EFE7-4C28FF1FDDAB}"/>
              </a:ext>
            </a:extLst>
          </p:cNvPr>
          <p:cNvSpPr txBox="1"/>
          <p:nvPr/>
        </p:nvSpPr>
        <p:spPr>
          <a:xfrm>
            <a:off x="8636000" y="2120900"/>
            <a:ext cx="2540000" cy="353943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s-AR" sz="1700" b="1">
                <a:solidFill>
                  <a:srgbClr val="18324A"/>
                </a:solidFill>
                <a:latin typeface="Aptos" panose="020B0004020202020204" pitchFamily="34" charset="0"/>
              </a:rPr>
              <a:t>Interpretación limitada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290E7A48-38B2-B22E-14CD-ECB72A99664E}"/>
              </a:ext>
            </a:extLst>
          </p:cNvPr>
          <p:cNvSpPr txBox="1"/>
          <p:nvPr/>
        </p:nvSpPr>
        <p:spPr>
          <a:xfrm>
            <a:off x="8636000" y="2552700"/>
            <a:ext cx="2540000" cy="1169551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s-MX" sz="1400">
                <a:solidFill>
                  <a:srgbClr val="202830"/>
                </a:solidFill>
                <a:latin typeface="Aptos" panose="020B0004020202020204" pitchFamily="34" charset="0"/>
              </a:rPr>
              <a:t>Grad-CAM no representa una segmentación precisa, una explicación causal ni una prueba de razonamiento médico correcto.</a:t>
            </a:r>
            <a:endParaRPr lang="es-AR" sz="1400">
              <a:solidFill>
                <a:srgbClr val="202830"/>
              </a:solidFill>
              <a:latin typeface="Aptos" panose="020B0004020202020204" pitchFamily="34" charset="0"/>
            </a:endParaRP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A04901B3-988A-4CEE-F7AA-DD4DFBF0FA86}"/>
              </a:ext>
            </a:extLst>
          </p:cNvPr>
          <p:cNvSpPr txBox="1"/>
          <p:nvPr/>
        </p:nvSpPr>
        <p:spPr>
          <a:xfrm>
            <a:off x="736600" y="6426200"/>
            <a:ext cx="5334000" cy="2308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s-MX" sz="900">
                <a:solidFill>
                  <a:srgbClr val="606A75"/>
                </a:solidFill>
                <a:latin typeface="Aptos" panose="020B0004020202020204" pitchFamily="34" charset="0"/>
              </a:rPr>
              <a:t>Maestría en Inteligencia Artificial · FIUBA</a:t>
            </a:r>
            <a:endParaRPr lang="es-AR" sz="900">
              <a:solidFill>
                <a:srgbClr val="606A75"/>
              </a:solidFill>
              <a:latin typeface="Aptos" panose="020B0004020202020204" pitchFamily="34" charset="0"/>
            </a:endParaRP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75B9EF67-D10C-0626-8290-DA279E517129}"/>
              </a:ext>
            </a:extLst>
          </p:cNvPr>
          <p:cNvSpPr txBox="1"/>
          <p:nvPr/>
        </p:nvSpPr>
        <p:spPr>
          <a:xfrm>
            <a:off x="8204200" y="6426200"/>
            <a:ext cx="3251200" cy="2308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r"/>
            <a:r>
              <a:rPr lang="es-AR" sz="900">
                <a:solidFill>
                  <a:srgbClr val="606A75"/>
                </a:solidFill>
                <a:latin typeface="Aptos" panose="020B0004020202020204" pitchFamily="34" charset="0"/>
              </a:rPr>
              <a:t>Emmanuel Cardozo · Octubre 2026</a:t>
            </a:r>
          </a:p>
        </p:txBody>
      </p:sp>
    </p:spTree>
    <p:extLst>
      <p:ext uri="{BB962C8B-B14F-4D97-AF65-F5344CB8AC3E}">
        <p14:creationId xmlns:p14="http://schemas.microsoft.com/office/powerpoint/2010/main" val="11040512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3CBB7DB2-9D42-EDEA-5A7E-16D1A29DDE1B}"/>
              </a:ext>
            </a:extLst>
          </p:cNvPr>
          <p:cNvSpPr txBox="1"/>
          <p:nvPr/>
        </p:nvSpPr>
        <p:spPr>
          <a:xfrm>
            <a:off x="736600" y="431800"/>
            <a:ext cx="10414000" cy="492443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s-AR" sz="2600" b="1">
                <a:solidFill>
                  <a:srgbClr val="18324A"/>
                </a:solidFill>
                <a:latin typeface="Aptos" panose="020B0004020202020204" pitchFamily="34" charset="0"/>
              </a:rPr>
              <a:t>Brecha clínica y límites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96CCF060-5508-7008-447A-4CCABA7E14A5}"/>
              </a:ext>
            </a:extLst>
          </p:cNvPr>
          <p:cNvSpPr txBox="1"/>
          <p:nvPr/>
        </p:nvSpPr>
        <p:spPr>
          <a:xfrm>
            <a:off x="11099800" y="533400"/>
            <a:ext cx="431800" cy="26161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s-AR" sz="1100" b="1">
                <a:solidFill>
                  <a:srgbClr val="2C6E91"/>
                </a:solidFill>
                <a:latin typeface="Aptos" panose="020B0004020202020204" pitchFamily="34" charset="0"/>
              </a:rPr>
              <a:t>10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3BF7DCC4-A7A1-D406-6D96-9E4BFA51CB76}"/>
              </a:ext>
            </a:extLst>
          </p:cNvPr>
          <p:cNvCxnSpPr/>
          <p:nvPr/>
        </p:nvCxnSpPr>
        <p:spPr>
          <a:xfrm>
            <a:off x="736600" y="1155700"/>
            <a:ext cx="10718800" cy="0"/>
          </a:xfrm>
          <a:prstGeom prst="line">
            <a:avLst/>
          </a:prstGeom>
          <a:ln w="12700">
            <a:solidFill>
              <a:srgbClr val="C8D0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7FE8007A-97F3-598D-C367-AF3411A7ACC6}"/>
              </a:ext>
            </a:extLst>
          </p:cNvPr>
          <p:cNvSpPr txBox="1"/>
          <p:nvPr/>
        </p:nvSpPr>
        <p:spPr>
          <a:xfrm>
            <a:off x="863600" y="1536700"/>
            <a:ext cx="10464800" cy="430887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s-MX" sz="2200" b="1">
                <a:solidFill>
                  <a:srgbClr val="18324A"/>
                </a:solidFill>
                <a:latin typeface="Aptos" panose="020B0004020202020204" pitchFamily="34" charset="0"/>
              </a:rPr>
              <a:t>La tarea comienza después de que un ecografista encontró y encuadró la lesión.</a:t>
            </a:r>
            <a:endParaRPr lang="es-AR" sz="2200" b="1">
              <a:solidFill>
                <a:srgbClr val="18324A"/>
              </a:solidFill>
              <a:latin typeface="Aptos" panose="020B0004020202020204" pitchFamily="34" charset="0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BD968F11-C961-C3A4-3C7F-DCA963DDFBC7}"/>
              </a:ext>
            </a:extLst>
          </p:cNvPr>
          <p:cNvSpPr txBox="1"/>
          <p:nvPr/>
        </p:nvSpPr>
        <p:spPr>
          <a:xfrm>
            <a:off x="1092200" y="2565400"/>
            <a:ext cx="10007600" cy="1400383"/>
          </a:xfrm>
          <a:prstGeom prst="rect">
            <a:avLst/>
          </a:prstGeom>
          <a:noFill/>
        </p:spPr>
        <p:txBody>
          <a:bodyPr vert="horz" wrap="square" lIns="38100" rtlCol="0">
            <a:noAutofit/>
          </a:bodyPr>
          <a:lstStyle/>
          <a:p>
            <a:pPr>
              <a:spcAft>
                <a:spcPts val="1200"/>
              </a:spcAft>
            </a:pPr>
            <a:r>
              <a:rPr lang="es-MX" sz="1700">
                <a:solidFill>
                  <a:srgbClr val="202830"/>
                </a:solidFill>
                <a:latin typeface="Aptos" panose="020B0004020202020204" pitchFamily="34" charset="0"/>
              </a:rPr>
              <a:t>• No evalúa detección durante un examen ecográfico completo</a:t>
            </a:r>
          </a:p>
          <a:p>
            <a:pPr>
              <a:spcAft>
                <a:spcPts val="1200"/>
              </a:spcAft>
            </a:pPr>
            <a:r>
              <a:rPr lang="es-MX" sz="1700">
                <a:solidFill>
                  <a:srgbClr val="202830"/>
                </a:solidFill>
                <a:latin typeface="Aptos" panose="020B0004020202020204" pitchFamily="34" charset="0"/>
              </a:rPr>
              <a:t>• La diferencia entre datasets mezcla equipos, selección y calidad de etiquetas</a:t>
            </a:r>
          </a:p>
          <a:p>
            <a:pPr>
              <a:spcAft>
                <a:spcPts val="1200"/>
              </a:spcAft>
            </a:pPr>
            <a:r>
              <a:rPr lang="es-MX" sz="1700">
                <a:solidFill>
                  <a:srgbClr val="202830"/>
                </a:solidFill>
                <a:latin typeface="Aptos" panose="020B0004020202020204" pitchFamily="34" charset="0"/>
              </a:rPr>
              <a:t>• La validación retrospectiva no demuestra beneficio asistencial</a:t>
            </a:r>
          </a:p>
          <a:p>
            <a:pPr>
              <a:spcAft>
                <a:spcPts val="1200"/>
              </a:spcAft>
            </a:pPr>
            <a:r>
              <a:rPr lang="es-MX" sz="1700">
                <a:solidFill>
                  <a:srgbClr val="202830"/>
                </a:solidFill>
                <a:latin typeface="Aptos" panose="020B0004020202020204" pitchFamily="34" charset="0"/>
              </a:rPr>
              <a:t>• No se inferirá equidad sin variables demográficas adecuadas</a:t>
            </a:r>
          </a:p>
          <a:p>
            <a:pPr>
              <a:spcAft>
                <a:spcPts val="1200"/>
              </a:spcAft>
            </a:pPr>
            <a:r>
              <a:rPr lang="es-MX" sz="1700">
                <a:solidFill>
                  <a:srgbClr val="202830"/>
                </a:solidFill>
                <a:latin typeface="Aptos" panose="020B0004020202020204" pitchFamily="34" charset="0"/>
              </a:rPr>
              <a:t>• Una integración futura debería definir PACS, informe BI-RADS y usuario de la puntuación</a:t>
            </a:r>
            <a:endParaRPr lang="es-AR" sz="1700">
              <a:solidFill>
                <a:srgbClr val="202830"/>
              </a:solidFill>
              <a:latin typeface="Aptos" panose="020B0004020202020204" pitchFamily="34" charset="0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1864A6B-219A-030E-B815-CEFC2E8D6C39}"/>
              </a:ext>
            </a:extLst>
          </p:cNvPr>
          <p:cNvSpPr txBox="1"/>
          <p:nvPr/>
        </p:nvSpPr>
        <p:spPr>
          <a:xfrm>
            <a:off x="736600" y="6426200"/>
            <a:ext cx="5334000" cy="2308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s-MX" sz="900">
                <a:solidFill>
                  <a:srgbClr val="606A75"/>
                </a:solidFill>
                <a:latin typeface="Aptos" panose="020B0004020202020204" pitchFamily="34" charset="0"/>
              </a:rPr>
              <a:t>Maestría en Inteligencia Artificial · FIUBA</a:t>
            </a:r>
            <a:endParaRPr lang="es-AR" sz="900">
              <a:solidFill>
                <a:srgbClr val="606A75"/>
              </a:solidFill>
              <a:latin typeface="Aptos" panose="020B0004020202020204" pitchFamily="34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A8A57810-540A-F02A-2660-5668755AB1F1}"/>
              </a:ext>
            </a:extLst>
          </p:cNvPr>
          <p:cNvSpPr txBox="1"/>
          <p:nvPr/>
        </p:nvSpPr>
        <p:spPr>
          <a:xfrm>
            <a:off x="8204200" y="6426200"/>
            <a:ext cx="3251200" cy="2308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r"/>
            <a:r>
              <a:rPr lang="es-AR" sz="900">
                <a:solidFill>
                  <a:srgbClr val="606A75"/>
                </a:solidFill>
                <a:latin typeface="Aptos" panose="020B0004020202020204" pitchFamily="34" charset="0"/>
              </a:rPr>
              <a:t>Emmanuel Cardozo · Octubre 2026</a:t>
            </a:r>
          </a:p>
        </p:txBody>
      </p:sp>
    </p:spTree>
    <p:extLst>
      <p:ext uri="{BB962C8B-B14F-4D97-AF65-F5344CB8AC3E}">
        <p14:creationId xmlns:p14="http://schemas.microsoft.com/office/powerpoint/2010/main" val="16828604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376866D0-D0C9-3DE6-8C8E-7CEC5275BF73}"/>
              </a:ext>
            </a:extLst>
          </p:cNvPr>
          <p:cNvSpPr txBox="1"/>
          <p:nvPr/>
        </p:nvSpPr>
        <p:spPr>
          <a:xfrm>
            <a:off x="736600" y="431800"/>
            <a:ext cx="10414000" cy="492443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s-MX" sz="2600" b="1">
                <a:solidFill>
                  <a:srgbClr val="18324A"/>
                </a:solidFill>
                <a:latin typeface="Aptos" panose="020B0004020202020204" pitchFamily="34" charset="0"/>
              </a:rPr>
              <a:t>Plan de trabajo y entregables</a:t>
            </a:r>
            <a:endParaRPr lang="es-AR" sz="2600" b="1">
              <a:solidFill>
                <a:srgbClr val="18324A"/>
              </a:solidFill>
              <a:latin typeface="Aptos" panose="020B0004020202020204" pitchFamily="34" charset="0"/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B3D1999E-CDA6-4C19-91D4-B6621C32C7DE}"/>
              </a:ext>
            </a:extLst>
          </p:cNvPr>
          <p:cNvSpPr txBox="1"/>
          <p:nvPr/>
        </p:nvSpPr>
        <p:spPr>
          <a:xfrm>
            <a:off x="11099800" y="533400"/>
            <a:ext cx="431800" cy="26161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ctr"/>
            <a:r>
              <a:rPr lang="es-AR" sz="1100" b="1">
                <a:solidFill>
                  <a:srgbClr val="2C6E91"/>
                </a:solidFill>
                <a:latin typeface="Aptos" panose="020B0004020202020204" pitchFamily="34" charset="0"/>
              </a:rPr>
              <a:t>11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3F8448F0-F1B0-793C-F8A9-2E1D5232BA8E}"/>
              </a:ext>
            </a:extLst>
          </p:cNvPr>
          <p:cNvCxnSpPr/>
          <p:nvPr/>
        </p:nvCxnSpPr>
        <p:spPr>
          <a:xfrm>
            <a:off x="736600" y="1155700"/>
            <a:ext cx="10718800" cy="0"/>
          </a:xfrm>
          <a:prstGeom prst="line">
            <a:avLst/>
          </a:prstGeom>
          <a:ln w="12700">
            <a:solidFill>
              <a:srgbClr val="C8D0D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5D696936-E099-44CC-6C4B-086D5E315E41}"/>
              </a:ext>
            </a:extLst>
          </p:cNvPr>
          <p:cNvSpPr/>
          <p:nvPr/>
        </p:nvSpPr>
        <p:spPr>
          <a:xfrm>
            <a:off x="787400" y="1739900"/>
            <a:ext cx="3175000" cy="2565400"/>
          </a:xfrm>
          <a:prstGeom prst="roundRect">
            <a:avLst/>
          </a:prstGeom>
          <a:solidFill>
            <a:srgbClr val="F1F5F8"/>
          </a:solidFill>
          <a:ln w="12700">
            <a:solidFill>
              <a:srgbClr val="CDD5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22D617E5-E653-7804-6DEB-A5A0F2ABA49F}"/>
              </a:ext>
            </a:extLst>
          </p:cNvPr>
          <p:cNvSpPr txBox="1"/>
          <p:nvPr/>
        </p:nvSpPr>
        <p:spPr>
          <a:xfrm>
            <a:off x="990600" y="1905000"/>
            <a:ext cx="2768600" cy="353943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s-AR" sz="1700" b="1">
                <a:solidFill>
                  <a:srgbClr val="18324A"/>
                </a:solidFill>
                <a:latin typeface="Aptos" panose="020B0004020202020204" pitchFamily="34" charset="0"/>
              </a:rPr>
              <a:t>Semana 1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721B8C3-AB8D-9BEC-22A7-D3D1AD5EF138}"/>
              </a:ext>
            </a:extLst>
          </p:cNvPr>
          <p:cNvSpPr txBox="1"/>
          <p:nvPr/>
        </p:nvSpPr>
        <p:spPr>
          <a:xfrm>
            <a:off x="990600" y="2336800"/>
            <a:ext cx="2768600" cy="738664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s-MX" sz="1400">
                <a:solidFill>
                  <a:srgbClr val="202830"/>
                </a:solidFill>
                <a:latin typeface="Aptos" panose="020B0004020202020204" pitchFamily="34" charset="0"/>
              </a:rPr>
              <a:t>Auditoría de BUSI`rManifiesto y exclusiones`rParticiones congeladas</a:t>
            </a:r>
            <a:endParaRPr lang="es-AR" sz="1400">
              <a:solidFill>
                <a:srgbClr val="202830"/>
              </a:solidFill>
              <a:latin typeface="Aptos" panose="020B0004020202020204" pitchFamily="34" charset="0"/>
            </a:endParaRP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64B58957-868F-0C81-FD3A-64047A50B1A3}"/>
              </a:ext>
            </a:extLst>
          </p:cNvPr>
          <p:cNvSpPr/>
          <p:nvPr/>
        </p:nvSpPr>
        <p:spPr>
          <a:xfrm>
            <a:off x="4508500" y="1739900"/>
            <a:ext cx="3175000" cy="2565400"/>
          </a:xfrm>
          <a:prstGeom prst="roundRect">
            <a:avLst/>
          </a:prstGeom>
          <a:solidFill>
            <a:srgbClr val="DFE9F2"/>
          </a:solidFill>
          <a:ln w="12700">
            <a:solidFill>
              <a:srgbClr val="CDD5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4DC73AAF-0A83-F741-BF76-8F17453A2B7D}"/>
              </a:ext>
            </a:extLst>
          </p:cNvPr>
          <p:cNvSpPr txBox="1"/>
          <p:nvPr/>
        </p:nvSpPr>
        <p:spPr>
          <a:xfrm>
            <a:off x="4711700" y="1905000"/>
            <a:ext cx="2768600" cy="353943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s-AR" sz="1700" b="1">
                <a:solidFill>
                  <a:srgbClr val="18324A"/>
                </a:solidFill>
                <a:latin typeface="Aptos" panose="020B0004020202020204" pitchFamily="34" charset="0"/>
              </a:rPr>
              <a:t>Semana 2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18EAD225-A451-89D2-9C3A-041DFA859852}"/>
              </a:ext>
            </a:extLst>
          </p:cNvPr>
          <p:cNvSpPr txBox="1"/>
          <p:nvPr/>
        </p:nvSpPr>
        <p:spPr>
          <a:xfrm>
            <a:off x="4711700" y="2336800"/>
            <a:ext cx="2768600" cy="954107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s-MX" sz="1400">
                <a:solidFill>
                  <a:srgbClr val="202830"/>
                </a:solidFill>
                <a:latin typeface="Aptos" panose="020B0004020202020204" pitchFamily="34" charset="0"/>
              </a:rPr>
              <a:t>Baselines y EfficientNet-B0`rSelección en validación`rEvaluación interna y externa</a:t>
            </a:r>
            <a:endParaRPr lang="es-AR" sz="1400">
              <a:solidFill>
                <a:srgbClr val="202830"/>
              </a:solidFill>
              <a:latin typeface="Aptos" panose="020B0004020202020204" pitchFamily="34" charset="0"/>
            </a:endParaRPr>
          </a:p>
        </p:txBody>
      </p:sp>
      <p:sp>
        <p:nvSpPr>
          <p:cNvPr id="11" name="Rectángulo: esquinas redondeadas 10">
            <a:extLst>
              <a:ext uri="{FF2B5EF4-FFF2-40B4-BE49-F238E27FC236}">
                <a16:creationId xmlns:a16="http://schemas.microsoft.com/office/drawing/2014/main" id="{2C123D07-B9B4-E46F-3C3A-133AA2726A06}"/>
              </a:ext>
            </a:extLst>
          </p:cNvPr>
          <p:cNvSpPr/>
          <p:nvPr/>
        </p:nvSpPr>
        <p:spPr>
          <a:xfrm>
            <a:off x="8229600" y="1739900"/>
            <a:ext cx="3175000" cy="2565400"/>
          </a:xfrm>
          <a:prstGeom prst="roundRect">
            <a:avLst/>
          </a:prstGeom>
          <a:solidFill>
            <a:srgbClr val="F1F5F8"/>
          </a:solidFill>
          <a:ln w="12700">
            <a:solidFill>
              <a:srgbClr val="CDD5D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AR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3B52A73C-08D6-298C-0CD9-9BD034875698}"/>
              </a:ext>
            </a:extLst>
          </p:cNvPr>
          <p:cNvSpPr txBox="1"/>
          <p:nvPr/>
        </p:nvSpPr>
        <p:spPr>
          <a:xfrm>
            <a:off x="8432800" y="1905000"/>
            <a:ext cx="2768600" cy="353943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s-AR" sz="1700" b="1">
                <a:solidFill>
                  <a:srgbClr val="18324A"/>
                </a:solidFill>
                <a:latin typeface="Aptos" panose="020B0004020202020204" pitchFamily="34" charset="0"/>
              </a:rPr>
              <a:t>Semana 3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680A1BB4-D469-2062-60FF-9810AD98C8E6}"/>
              </a:ext>
            </a:extLst>
          </p:cNvPr>
          <p:cNvSpPr txBox="1"/>
          <p:nvPr/>
        </p:nvSpPr>
        <p:spPr>
          <a:xfrm>
            <a:off x="8432800" y="2336800"/>
            <a:ext cx="2768600" cy="52322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s-MX" sz="1400">
                <a:solidFill>
                  <a:srgbClr val="202830"/>
                </a:solidFill>
                <a:latin typeface="Aptos" panose="020B0004020202020204" pitchFamily="34" charset="0"/>
              </a:rPr>
              <a:t>Calibración y errores`rGrad-CAM`rInforme y defensa</a:t>
            </a:r>
            <a:endParaRPr lang="es-AR" sz="1400">
              <a:solidFill>
                <a:srgbClr val="202830"/>
              </a:solidFill>
              <a:latin typeface="Aptos" panose="020B0004020202020204" pitchFamily="34" charset="0"/>
            </a:endParaRP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3DD8C4F6-BB56-195F-E34B-8761F89B5A8A}"/>
              </a:ext>
            </a:extLst>
          </p:cNvPr>
          <p:cNvSpPr txBox="1"/>
          <p:nvPr/>
        </p:nvSpPr>
        <p:spPr>
          <a:xfrm>
            <a:off x="889000" y="4902200"/>
            <a:ext cx="2794000" cy="381000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s-AR" b="1">
                <a:solidFill>
                  <a:srgbClr val="18324A"/>
                </a:solidFill>
                <a:latin typeface="Aptos" panose="020B0004020202020204" pitchFamily="34" charset="0"/>
              </a:rPr>
              <a:t>Resultado esperado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F5A5141A-2A0D-7DC4-D489-D4E7ABB7227B}"/>
              </a:ext>
            </a:extLst>
          </p:cNvPr>
          <p:cNvSpPr txBox="1"/>
          <p:nvPr/>
        </p:nvSpPr>
        <p:spPr>
          <a:xfrm>
            <a:off x="889000" y="5359400"/>
            <a:ext cx="104140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s-MX">
                <a:solidFill>
                  <a:srgbClr val="202830"/>
                </a:solidFill>
                <a:latin typeface="Aptos" panose="020B0004020202020204" pitchFamily="34" charset="0"/>
              </a:rPr>
              <a:t>Código reproducible, métricas por cohorte, galería de errores y ficha del modelo para uso académico.</a:t>
            </a:r>
            <a:endParaRPr lang="es-AR">
              <a:solidFill>
                <a:srgbClr val="202830"/>
              </a:solidFill>
              <a:latin typeface="Aptos" panose="020B0004020202020204" pitchFamily="34" charset="0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DAA19DB5-815F-3601-39F0-9E1B43773C61}"/>
              </a:ext>
            </a:extLst>
          </p:cNvPr>
          <p:cNvSpPr txBox="1"/>
          <p:nvPr/>
        </p:nvSpPr>
        <p:spPr>
          <a:xfrm>
            <a:off x="736600" y="6426200"/>
            <a:ext cx="5334000" cy="2308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es-MX" sz="900">
                <a:solidFill>
                  <a:srgbClr val="606A75"/>
                </a:solidFill>
                <a:latin typeface="Aptos" panose="020B0004020202020204" pitchFamily="34" charset="0"/>
              </a:rPr>
              <a:t>Maestría en Inteligencia Artificial · FIUBA</a:t>
            </a:r>
            <a:endParaRPr lang="es-AR" sz="900">
              <a:solidFill>
                <a:srgbClr val="606A75"/>
              </a:solidFill>
              <a:latin typeface="Aptos" panose="020B0004020202020204" pitchFamily="34" charset="0"/>
            </a:endParaRP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94E7A7D7-780E-608F-DC9D-9BAF443492E7}"/>
              </a:ext>
            </a:extLst>
          </p:cNvPr>
          <p:cNvSpPr txBox="1"/>
          <p:nvPr/>
        </p:nvSpPr>
        <p:spPr>
          <a:xfrm>
            <a:off x="8204200" y="6426200"/>
            <a:ext cx="3251200" cy="2308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pPr algn="r"/>
            <a:r>
              <a:rPr lang="es-AR" sz="900">
                <a:solidFill>
                  <a:srgbClr val="606A75"/>
                </a:solidFill>
                <a:latin typeface="Aptos" panose="020B0004020202020204" pitchFamily="34" charset="0"/>
              </a:rPr>
              <a:t>Emmanuel Cardozo · Octubre 2026</a:t>
            </a:r>
          </a:p>
        </p:txBody>
      </p:sp>
    </p:spTree>
    <p:extLst>
      <p:ext uri="{BB962C8B-B14F-4D97-AF65-F5344CB8AC3E}">
        <p14:creationId xmlns:p14="http://schemas.microsoft.com/office/powerpoint/2010/main" val="65501812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779</Words>
  <Application>Microsoft Office PowerPoint</Application>
  <PresentationFormat>Panorámica</PresentationFormat>
  <Paragraphs>116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EMMANUEL CARDOZO</dc:creator>
  <cp:lastModifiedBy>EMMANUEL CARDOZO</cp:lastModifiedBy>
  <cp:revision>2</cp:revision>
  <dcterms:created xsi:type="dcterms:W3CDTF">2026-10-12T22:08:57Z</dcterms:created>
  <dcterms:modified xsi:type="dcterms:W3CDTF">2026-10-13T00:04:03Z</dcterms:modified>
</cp:coreProperties>
</file>