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3a1b441c73e94e16" /><Relationship Type="http://schemas.openxmlformats.org/officeDocument/2006/relationships/extended-properties" Target="/docProps/app.xml" Id="R3c2ab372292b4848" /><Relationship Type="http://schemas.openxmlformats.org/officeDocument/2006/relationships/officeDocument" Target="/ppt/presentation.xml" Id="R4c9b7fca01fb4f65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70dabbcab34f428a"/>
  </p:sldMasterIdLst>
  <p:notesMasterIdLst>
    <p:notesMasterId xmlns:r="http://schemas.openxmlformats.org/officeDocument/2006/relationships" r:id="Rb3367ea934fd4799"/>
  </p:notesMasterIdLst>
  <p:sldIdLst>
    <p:sldId xmlns:r="http://schemas.openxmlformats.org/officeDocument/2006/relationships" id="256" r:id="R574165a20db141c7"/>
    <p:sldId xmlns:r="http://schemas.openxmlformats.org/officeDocument/2006/relationships" id="257" r:id="Rd552558183b04999"/>
    <p:sldId xmlns:r="http://schemas.openxmlformats.org/officeDocument/2006/relationships" id="258" r:id="Rbf498d4609a74be8"/>
    <p:sldId xmlns:r="http://schemas.openxmlformats.org/officeDocument/2006/relationships" id="259" r:id="R9929b2fdf74542a8"/>
    <p:sldId xmlns:r="http://schemas.openxmlformats.org/officeDocument/2006/relationships" id="260" r:id="R22c188760dcb446c"/>
    <p:sldId xmlns:r="http://schemas.openxmlformats.org/officeDocument/2006/relationships" id="261" r:id="Re541990affba4c26"/>
    <p:sldId xmlns:r="http://schemas.openxmlformats.org/officeDocument/2006/relationships" id="262" r:id="R6be982284bdc4600"/>
    <p:sldId xmlns:r="http://schemas.openxmlformats.org/officeDocument/2006/relationships" id="263" r:id="R6fa330b5ca2c474d"/>
    <p:sldId xmlns:r="http://schemas.openxmlformats.org/officeDocument/2006/relationships" id="264" r:id="R691e00ed86b34957"/>
    <p:sldId xmlns:r="http://schemas.openxmlformats.org/officeDocument/2006/relationships" id="265" r:id="R0e3a0a922813415a"/>
    <p:sldId xmlns:r="http://schemas.openxmlformats.org/officeDocument/2006/relationships" id="266" r:id="R0f67978183814ec9"/>
    <p:sldId xmlns:r="http://schemas.openxmlformats.org/officeDocument/2006/relationships" id="267" r:id="R865611f4d0194caf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b4a06acf756c450b" /><Relationship Type="http://schemas.openxmlformats.org/officeDocument/2006/relationships/slideMaster" Target="/ppt/slideMasters/slideMaster1.xml" Id="R70dabbcab34f428a" /><Relationship Type="http://schemas.openxmlformats.org/officeDocument/2006/relationships/notesMaster" Target="/ppt/notesMasters/notesMaster1.xml" Id="Rb3367ea934fd4799" /><Relationship Type="http://schemas.openxmlformats.org/officeDocument/2006/relationships/presProps" Target="/ppt/presProps.xml" Id="R4bb7d673b6804985" /><Relationship Type="http://schemas.openxmlformats.org/officeDocument/2006/relationships/tableStyles" Target="/ppt/tableStyles.xml" Id="R3256daa0eb4948af" /><Relationship Type="http://schemas.openxmlformats.org/officeDocument/2006/relationships/slide" Target="/ppt/slides/slide1.xml" Id="R574165a20db141c7" /><Relationship Type="http://schemas.openxmlformats.org/officeDocument/2006/relationships/slide" Target="/ppt/slides/slide2.xml" Id="Rd552558183b04999" /><Relationship Type="http://schemas.openxmlformats.org/officeDocument/2006/relationships/slide" Target="/ppt/slides/slide3.xml" Id="Rbf498d4609a74be8" /><Relationship Type="http://schemas.openxmlformats.org/officeDocument/2006/relationships/slide" Target="/ppt/slides/slide4.xml" Id="R9929b2fdf74542a8" /><Relationship Type="http://schemas.openxmlformats.org/officeDocument/2006/relationships/slide" Target="/ppt/slides/slide5.xml" Id="R22c188760dcb446c" /><Relationship Type="http://schemas.openxmlformats.org/officeDocument/2006/relationships/slide" Target="/ppt/slides/slide6.xml" Id="Re541990affba4c26" /><Relationship Type="http://schemas.openxmlformats.org/officeDocument/2006/relationships/slide" Target="/ppt/slides/slide7.xml" Id="R6be982284bdc4600" /><Relationship Type="http://schemas.openxmlformats.org/officeDocument/2006/relationships/slide" Target="/ppt/slides/slide8.xml" Id="R6fa330b5ca2c474d" /><Relationship Type="http://schemas.openxmlformats.org/officeDocument/2006/relationships/slide" Target="/ppt/slides/slide9.xml" Id="R691e00ed86b34957" /><Relationship Type="http://schemas.openxmlformats.org/officeDocument/2006/relationships/slide" Target="/ppt/slides/slide10.xml" Id="R0e3a0a922813415a" /><Relationship Type="http://schemas.openxmlformats.org/officeDocument/2006/relationships/slide" Target="/ppt/slides/slide11.xml" Id="R0f67978183814ec9" /><Relationship Type="http://schemas.openxmlformats.org/officeDocument/2006/relationships/slide" Target="/ppt/slides/slide12.xml" Id="R865611f4d0194caf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5d9f18e47070406c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b3f526e6eb3b4961" /><Relationship Type="http://schemas.openxmlformats.org/officeDocument/2006/relationships/notesMaster" Target="/ppt/notesMasters/notesMaster1.xml" Id="R6eecbe6cc30c4255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13bbeee37724418c" /><Relationship Type="http://schemas.openxmlformats.org/officeDocument/2006/relationships/notesMaster" Target="/ppt/notesMasters/notesMaster1.xml" Id="Rd0feeb04349c4de9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85f5eec0da524df8" /><Relationship Type="http://schemas.openxmlformats.org/officeDocument/2006/relationships/notesMaster" Target="/ppt/notesMasters/notesMaster1.xml" Id="R39459ae222a54378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6fb19b0d87ba48ea" /><Relationship Type="http://schemas.openxmlformats.org/officeDocument/2006/relationships/notesMaster" Target="/ppt/notesMasters/notesMaster1.xml" Id="R6796a6a2faf84bb8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d5c469dab94546a7" /><Relationship Type="http://schemas.openxmlformats.org/officeDocument/2006/relationships/notesMaster" Target="/ppt/notesMasters/notesMaster1.xml" Id="Rd9e72eeccc9f4105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3ed9303f7a184bf0" /><Relationship Type="http://schemas.openxmlformats.org/officeDocument/2006/relationships/notesMaster" Target="/ppt/notesMasters/notesMaster1.xml" Id="R31a6da32fb104a57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fe9abaf15ea94a15" /><Relationship Type="http://schemas.openxmlformats.org/officeDocument/2006/relationships/notesMaster" Target="/ppt/notesMasters/notesMaster1.xml" Id="R182d08b42ed449da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1b2e134afbbf4105" /><Relationship Type="http://schemas.openxmlformats.org/officeDocument/2006/relationships/notesMaster" Target="/ppt/notesMasters/notesMaster1.xml" Id="R246557b6d7dd493a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7be6e509f2484ed3" /><Relationship Type="http://schemas.openxmlformats.org/officeDocument/2006/relationships/notesMaster" Target="/ppt/notesMasters/notesMaster1.xml" Id="R3acfd81850a545f9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aae0a654899b45c6" /><Relationship Type="http://schemas.openxmlformats.org/officeDocument/2006/relationships/notesMaster" Target="/ppt/notesMasters/notesMaster1.xml" Id="R0f400f7a2a01424e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c54d53c44d4e4b7a" /><Relationship Type="http://schemas.openxmlformats.org/officeDocument/2006/relationships/notesMaster" Target="/ppt/notesMasters/notesMaster1.xml" Id="R5a544af50c634ea9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24e360a2f6654128" /><Relationship Type="http://schemas.openxmlformats.org/officeDocument/2006/relationships/notesMaster" Target="/ppt/notesMasters/notesMaster1.xml" Id="Rf31b0677608c4ce8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6426ea857814bb5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b4c295c49af4eb5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a2671918e9b4f53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8be9635b6af4759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5aa5bcbb07f44ec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9d0f20474f245a9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A37F1C5B-92D4-4CC4-829D-91E8D85F2D00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590800"/>
            <a:ext cx="97536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22ED63C4-877E-4D24-A3F4-B15FB7410AB8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3771900"/>
            <a:ext cx="8534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7E2631E1-ACDA-4BE1-A1B1-550E0DE4F300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857500"/>
            <a:ext cx="9753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44C2D73D-401C-40A8-8A18-92429DEA4E33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B78CFCE6-9D1E-468B-988E-78A19E1C31BA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108204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91AC3CA7-1876-4278-AE3C-7D64B5B228DF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DD4F9B17-BE14-47D3-8BAB-94FF803A52B9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F59007D2-179E-4D03-8853-555303D68D4A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4770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C5986EEE-91EF-4BB7-9B46-A80773004984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E3304E9D-EFCE-416A-BB42-6856C8068B59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067957b40e6d4376" /><Relationship Type="http://schemas.openxmlformats.org/officeDocument/2006/relationships/slideLayout" Target="/ppt/slideLayouts/slideLayout1.xml" Id="Rbd24d22ed3a94b92" /><Relationship Type="http://schemas.openxmlformats.org/officeDocument/2006/relationships/slideLayout" Target="/ppt/slideLayouts/slideLayout2.xml" Id="R8ce70158b15b4110" /><Relationship Type="http://schemas.openxmlformats.org/officeDocument/2006/relationships/slideLayout" Target="/ppt/slideLayouts/slideLayout3.xml" Id="R60516b71aada42a5" /><Relationship Type="http://schemas.openxmlformats.org/officeDocument/2006/relationships/slideLayout" Target="/ppt/slideLayouts/slideLayout4.xml" Id="R520b46ab3a3c4a38" /><Relationship Type="http://schemas.openxmlformats.org/officeDocument/2006/relationships/slideLayout" Target="/ppt/slideLayouts/slideLayout5.xml" Id="R0f22ad070b624615" /><Relationship Type="http://schemas.openxmlformats.org/officeDocument/2006/relationships/slideLayout" Target="/ppt/slideLayouts/slideLayout6.xml" Id="R57b123c5987746c5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bd24d22ed3a94b92"/>
    <p:sldLayoutId xmlns:r="http://schemas.openxmlformats.org/officeDocument/2006/relationships" id="2147483650" r:id="R8ce70158b15b4110"/>
    <p:sldLayoutId xmlns:r="http://schemas.openxmlformats.org/officeDocument/2006/relationships" id="2147483651" r:id="R60516b71aada42a5"/>
    <p:sldLayoutId xmlns:r="http://schemas.openxmlformats.org/officeDocument/2006/relationships" id="2147483652" r:id="R520b46ab3a3c4a38"/>
    <p:sldLayoutId xmlns:r="http://schemas.openxmlformats.org/officeDocument/2006/relationships" id="2147483653" r:id="R0f22ad070b624615"/>
    <p:sldLayoutId xmlns:r="http://schemas.openxmlformats.org/officeDocument/2006/relationships" id="2147483654" r:id="R57b123c5987746c5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3b6d210a420847da" /><Relationship Type="http://schemas.openxmlformats.org/officeDocument/2006/relationships/notesSlide" Target="/ppt/notesSlides/notesSlide1.xml" Id="Rc62d9ef2561d4951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f04db90ff3074652" /><Relationship Type="http://schemas.openxmlformats.org/officeDocument/2006/relationships/notesSlide" Target="/ppt/notesSlides/notesSlide2.xml" Id="Raa6c6f00d2f4401f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497797cc5c2142f1" /><Relationship Type="http://schemas.openxmlformats.org/officeDocument/2006/relationships/notesSlide" Target="/ppt/notesSlides/notesSlide3.xml" Id="R5034b427f10b4d6a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a7f94769f9674415" /><Relationship Type="http://schemas.openxmlformats.org/officeDocument/2006/relationships/notesSlide" Target="/ppt/notesSlides/notesSlide4.xml" Id="R42e3f84d524f48a8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094e98d228c84903" /><Relationship Type="http://schemas.openxmlformats.org/officeDocument/2006/relationships/notesSlide" Target="/ppt/notesSlides/notesSlide5.xml" Id="Re255d942a22b4d0b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663b032a90e14e69" /><Relationship Type="http://schemas.openxmlformats.org/officeDocument/2006/relationships/image" Target="/ppt/media/image.png" Id="Reb918f485a824eba" /><Relationship Type="http://schemas.openxmlformats.org/officeDocument/2006/relationships/notesSlide" Target="/ppt/notesSlides/notesSlide6.xml" Id="R4cceb08a82794249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f623fa5effe54881" /><Relationship Type="http://schemas.openxmlformats.org/officeDocument/2006/relationships/image" Target="/ppt/media/image2.png" Id="Re2ae5dad9abe45e0" /><Relationship Type="http://schemas.openxmlformats.org/officeDocument/2006/relationships/notesSlide" Target="/ppt/notesSlides/notesSlide7.xml" Id="Rd64f68f1125e4bdd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a21494c9c5e44d0a" /><Relationship Type="http://schemas.openxmlformats.org/officeDocument/2006/relationships/notesSlide" Target="/ppt/notesSlides/notesSlide8.xml" Id="R91bfafbcd355418b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0affb1cb99484c38" /><Relationship Type="http://schemas.openxmlformats.org/officeDocument/2006/relationships/notesSlide" Target="/ppt/notesSlides/notesSlide9.xml" Id="R9f35d8b7214b4b6d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7430c257b52b4e6a" /><Relationship Type="http://schemas.openxmlformats.org/officeDocument/2006/relationships/notesSlide" Target="/ppt/notesSlides/notesSlide10.xml" Id="R4a76d7a120fc4439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ab40af9c33734c40" /><Relationship Type="http://schemas.openxmlformats.org/officeDocument/2006/relationships/notesSlide" Target="/ppt/notesSlides/notesSlide11.xml" Id="Rb4b003b2ac3340a9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c9068f1e97aa43f3" /><Relationship Type="http://schemas.openxmlformats.org/officeDocument/2006/relationships/notesSlide" Target="/ppt/notesSlides/notesSlide12.xml" Id="Ra65f84ce6af3471c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0B1F3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1C5468F-628F-4472-BAF0-12911EF51E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2B4C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ACC7B62-44BC-4580-B9F1-388A96AB05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95375"/>
            <a:ext cx="72390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3450" b="1">
                <a:solidFill>
                  <a:srgbClr val="FFFFFF"/>
                </a:solidFill>
              </a:defRPr>
            </a:defPPr>
          </a:lstStyle>
          <a:p xmlns:a="http://schemas.openxmlformats.org/drawingml/2006/main">
            <a:pPr algn="l">
              <a:defRPr sz="3450" b="1">
                <a:solidFill>
                  <a:srgbClr val="FFFFFF"/>
                </a:solidFill>
              </a:defRPr>
            </a:pPr>
            <a:r>
              <a:rPr sz="3450" b="1">
                <a:solidFill>
                  <a:srgbClr val="FFFFFF"/>
                </a:solidFill>
              </a:rPr>
              <a:t>CLASIFICACIÓN DE LESIONES MAMARIAS</a:t>
            </a:r>
          </a:p>
          <a:p xmlns:a="http://schemas.openxmlformats.org/drawingml/2006/main">
            <a:pPr algn="l">
              <a:defRPr sz="3450" b="1">
                <a:solidFill>
                  <a:srgbClr val="FFFFFF"/>
                </a:solidFill>
              </a:defRPr>
            </a:pPr>
            <a:r>
              <a:rPr sz="3450" b="1">
                <a:solidFill>
                  <a:srgbClr val="FFFFFF"/>
                </a:solidFill>
              </a:rPr>
              <a:t>EN ECOGRAFÍA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E937761-A975-4535-8EE7-933A75DA65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667000"/>
            <a:ext cx="6667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650" b="0">
                <a:solidFill>
                  <a:srgbClr val="BFD3DE"/>
                </a:solidFill>
              </a:defRPr>
            </a:defPPr>
          </a:lstStyle>
          <a:p xmlns:a="http://schemas.openxmlformats.org/drawingml/2006/main">
            <a:pPr algn="l">
              <a:defRPr sz="1650" b="0">
                <a:solidFill>
                  <a:srgbClr val="BFD3DE"/>
                </a:solidFill>
              </a:defRPr>
            </a:pPr>
            <a:r>
              <a:rPr sz="1650" b="0">
                <a:solidFill>
                  <a:srgbClr val="BFD3DE"/>
                </a:solidFill>
              </a:rPr>
              <a:t>Un estudio retrospectivo de exactitud diagnóstica con EfficientNet-B0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E939F38-191E-4027-84F0-FA2B13403C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429000"/>
            <a:ext cx="47625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9A4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6FA5600-7FB1-42A2-BD55-F422D79465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667125"/>
            <a:ext cx="6191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350" b="1">
                <a:solidFill>
                  <a:srgbClr val="FFFFFF"/>
                </a:solidFill>
              </a:defRPr>
            </a:defPPr>
          </a:lstStyle>
          <a:p xmlns:a="http://schemas.openxmlformats.org/drawingml/2006/main">
            <a:pPr algn="l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BUS-BRA · partición por paciente · análisis de errores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E1B12C5-8609-46BD-A2F1-491530FB02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5095875"/>
            <a:ext cx="5334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275" b="0">
                <a:solidFill>
                  <a:srgbClr val="BFD3DE"/>
                </a:solidFill>
              </a:defRPr>
            </a:defPPr>
          </a:lstStyle>
          <a:p xmlns:a="http://schemas.openxmlformats.org/drawingml/2006/main">
            <a:pPr algn="l">
              <a:defRPr sz="1275" b="0">
                <a:solidFill>
                  <a:srgbClr val="BFD3DE"/>
                </a:solidFill>
              </a:defRPr>
            </a:pPr>
            <a:r>
              <a:rPr sz="1275" b="0">
                <a:solidFill>
                  <a:srgbClr val="BFD3DE"/>
                </a:solidFill>
              </a:rPr>
              <a:t>Maestría en Inteligencia Artificial · FIUBA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2667DED-961E-4F93-8EC1-9416FF239E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5476875"/>
            <a:ext cx="5334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275" b="1">
                <a:solidFill>
                  <a:srgbClr val="FFFFFF"/>
                </a:solidFill>
              </a:defRPr>
            </a:defPPr>
          </a:lstStyle>
          <a:p xmlns:a="http://schemas.openxmlformats.org/drawingml/2006/main">
            <a:pPr algn="l">
              <a:defRPr sz="1275" b="1">
                <a:solidFill>
                  <a:srgbClr val="FFFFFF"/>
                </a:solidFill>
              </a:defRPr>
            </a:pPr>
            <a:r>
              <a:rPr sz="1275" b="1">
                <a:solidFill>
                  <a:srgbClr val="FFFFFF"/>
                </a:solidFill>
              </a:rPr>
              <a:t>Esp. Ing. Emmanuel Cardozo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8FF989C-08E8-4BBF-9AB9-1B2F71F935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1285875"/>
            <a:ext cx="2476500" cy="2476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02D47"/>
          </a:solidFill>
          <a:ln xmlns:a="http://schemas.openxmlformats.org/drawingml/2006/main" w="9525">
            <a:solidFill>
              <a:srgbClr val="2F6F8F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FE0594D-5AB3-4EFB-A914-4207BF5F09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10625" y="1809750"/>
            <a:ext cx="1428750" cy="1428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83A56"/>
          </a:solidFill>
          <a:ln xmlns:a="http://schemas.openxmlformats.org/drawingml/2006/main" w="9525">
            <a:solidFill>
              <a:srgbClr val="62B4C6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C124566-E4A8-400A-BC2E-6CB0CAE816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15450" y="2314575"/>
            <a:ext cx="419100" cy="419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69A4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A1E9EAC-56FC-4C23-9EF7-513315C62E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2905125"/>
            <a:ext cx="1333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2550" b="1">
                <a:solidFill>
                  <a:srgbClr val="FFFFFF"/>
                </a:solidFill>
              </a:defRPr>
            </a:defPPr>
          </a:lstStyle>
          <a:p xmlns:a="http://schemas.openxmlformats.org/drawingml/2006/main">
            <a:pPr algn="ctr">
              <a:defRPr sz="2550" b="1">
                <a:solidFill>
                  <a:srgbClr val="FFFFFF"/>
                </a:solidFill>
              </a:defRPr>
            </a:pPr>
            <a:r>
              <a:rPr sz="2550" b="1">
                <a:solidFill>
                  <a:srgbClr val="FFFFFF"/>
                </a:solidFill>
              </a:rPr>
              <a:t>IA</a:t>
            </a:r>
          </a:p>
        </p:txBody>
      </p:sp>
    </p:spTree>
    <p:extLst>
      <p:ext uri="{BB962C8B-B14F-4D97-AF65-F5344CB8AC3E}">
        <p14:creationId xmlns:p14="http://schemas.microsoft.com/office/powerpoint/2010/main" val="1741918221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8B3BED1-4796-4F96-8011-59F14FF83B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23850"/>
            <a:ext cx="10287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2400" b="1">
                <a:solidFill>
                  <a:srgbClr val="0B1F33"/>
                </a:solidFill>
              </a:defRPr>
            </a:defPPr>
          </a:lstStyle>
          <a:p xmlns:a="http://schemas.openxmlformats.org/drawingml/2006/main">
            <a:pPr algn="l">
              <a:defRPr sz="2400" b="1">
                <a:solidFill>
                  <a:srgbClr val="0B1F33"/>
                </a:solidFill>
              </a:defRPr>
            </a:pPr>
            <a:r>
              <a:rPr sz="2400" b="1">
                <a:solidFill>
                  <a:srgbClr val="0B1F33"/>
                </a:solidFill>
              </a:rPr>
              <a:t>Problema clínico y pregunta de investigación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627CC5A-ED61-407C-9B6D-595C9115A4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96625" y="400050"/>
            <a:ext cx="5238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r">
              <a:defRPr sz="1050" b="1">
                <a:solidFill>
                  <a:srgbClr val="2F6F8F"/>
                </a:solidFill>
              </a:defRPr>
            </a:defPPr>
          </a:lstStyle>
          <a:p xmlns:a="http://schemas.openxmlformats.org/drawingml/2006/main">
            <a:pPr algn="r">
              <a:defRPr sz="1050" b="1">
                <a:solidFill>
                  <a:srgbClr val="2F6F8F"/>
                </a:solidFill>
              </a:defRPr>
            </a:pPr>
            <a:r>
              <a:rPr sz="1050" b="1">
                <a:solidFill>
                  <a:srgbClr val="2F6F8F"/>
                </a:solidFill>
              </a:rPr>
              <a:t>02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B5E43AA-3F38-4914-BF7A-58D1C8DC42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895350"/>
            <a:ext cx="11049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E0E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1B11BED-7327-4E08-9417-219502AC46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477000"/>
            <a:ext cx="4953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750" b="0">
                <a:solidFill>
                  <a:srgbClr val="7D8A94"/>
                </a:solidFill>
              </a:defRPr>
            </a:defPPr>
          </a:lstStyle>
          <a:p xmlns:a="http://schemas.openxmlformats.org/drawingml/2006/main">
            <a:pPr algn="l">
              <a:defRPr sz="750" b="0">
                <a:solidFill>
                  <a:srgbClr val="7D8A94"/>
                </a:solidFill>
              </a:defRPr>
            </a:pPr>
            <a:r>
              <a:rPr sz="750" b="0">
                <a:solidFill>
                  <a:srgbClr val="7D8A94"/>
                </a:solidFill>
              </a:rPr>
              <a:t>Fundamentos de Medicina y Aplicaciones de IA · FIUBA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CEFF88E-275D-4D39-A46B-3ACE724CB8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6477000"/>
            <a:ext cx="3143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r">
              <a:defRPr sz="750" b="0">
                <a:solidFill>
                  <a:srgbClr val="7D8A94"/>
                </a:solidFill>
              </a:defRPr>
            </a:defPPr>
          </a:lstStyle>
          <a:p xmlns:a="http://schemas.openxmlformats.org/drawingml/2006/main">
            <a:pPr algn="r">
              <a:defRPr sz="750" b="0">
                <a:solidFill>
                  <a:srgbClr val="7D8A94"/>
                </a:solidFill>
              </a:defRPr>
            </a:pPr>
            <a:r>
              <a:rPr sz="750" b="0">
                <a:solidFill>
                  <a:srgbClr val="7D8A94"/>
                </a:solidFill>
              </a:rPr>
              <a:t>Emmanuel Cardozo · Octubre 2026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2A8CC7A-94BC-4E3E-8DCB-E6A7D57263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190625"/>
            <a:ext cx="1066800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2250" b="1">
                <a:solidFill>
                  <a:srgbClr val="0B1F33"/>
                </a:solidFill>
              </a:defRPr>
            </a:defPPr>
          </a:lstStyle>
          <a:p xmlns:a="http://schemas.openxmlformats.org/drawingml/2006/main">
            <a:pPr algn="l">
              <a:defRPr sz="2250" b="1">
                <a:solidFill>
                  <a:srgbClr val="0B1F33"/>
                </a:solidFill>
              </a:defRPr>
            </a:pPr>
            <a:r>
              <a:rPr sz="2250" b="1">
                <a:solidFill>
                  <a:srgbClr val="0B1F33"/>
                </a:solidFill>
              </a:rPr>
              <a:t>¿Puede el modelo discriminar malignidad en una lesión ya localizada y conservar su desempeño en pacientes no vistos?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C035E2A-4159-4AF6-ABCA-20ED80FE95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524125"/>
            <a:ext cx="5095875" cy="2857500"/>
          </a:xfrm>
          <a:prstGeom xmlns:a="http://schemas.openxmlformats.org/drawingml/2006/main" prst="roundRect">
            <a:avLst>
              <a:gd name="adj" fmla="val 2667"/>
            </a:avLst>
          </a:prstGeom>
          <a:solidFill xmlns:a="http://schemas.openxmlformats.org/drawingml/2006/main">
            <a:srgbClr val="EDF3F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BB6EA23-7049-4966-8DDD-336ED21D44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2524125"/>
            <a:ext cx="5143500" cy="2857500"/>
          </a:xfrm>
          <a:prstGeom xmlns:a="http://schemas.openxmlformats.org/drawingml/2006/main" prst="roundRect">
            <a:avLst>
              <a:gd name="adj" fmla="val 2667"/>
            </a:avLst>
          </a:prstGeom>
          <a:solidFill xmlns:a="http://schemas.openxmlformats.org/drawingml/2006/main">
            <a:srgbClr val="E6EFF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4E270B6-9662-4A99-BAC1-64916F4FA7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2781300"/>
            <a:ext cx="428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050" b="1">
                <a:solidFill>
                  <a:srgbClr val="2F6F8F"/>
                </a:solidFill>
              </a:defRPr>
            </a:defPPr>
          </a:lstStyle>
          <a:p xmlns:a="http://schemas.openxmlformats.org/drawingml/2006/main">
            <a:pPr algn="l">
              <a:defRPr sz="1050" b="1">
                <a:solidFill>
                  <a:srgbClr val="2F6F8F"/>
                </a:solidFill>
              </a:defRPr>
            </a:pPr>
            <a:r>
              <a:rPr sz="1050" b="1">
                <a:solidFill>
                  <a:srgbClr val="2F6F8F"/>
                </a:solidFill>
              </a:rPr>
              <a:t>DECISIÓN QUE SE APROXIMA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6B83DC8-F220-40CD-901F-14E1A294CB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3143250"/>
            <a:ext cx="4286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2250" b="1">
                <a:solidFill>
                  <a:srgbClr val="0B1F33"/>
                </a:solidFill>
              </a:defRPr>
            </a:defPPr>
          </a:lstStyle>
          <a:p xmlns:a="http://schemas.openxmlformats.org/drawingml/2006/main">
            <a:pPr algn="l">
              <a:defRPr sz="2250" b="1">
                <a:solidFill>
                  <a:srgbClr val="0B1F33"/>
                </a:solidFill>
              </a:defRPr>
            </a:pPr>
            <a:r>
              <a:rPr sz="2250" b="1">
                <a:solidFill>
                  <a:srgbClr val="0B1F33"/>
                </a:solidFill>
              </a:rPr>
              <a:t>Control o biopsia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7BE01A7-4446-40E0-8F65-73253CF200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3857625"/>
            <a:ext cx="4286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425" b="0">
                <a:solidFill>
                  <a:srgbClr val="142433"/>
                </a:solidFill>
              </a:defRPr>
            </a:defPPr>
          </a:lstStyle>
          <a:p xmlns:a="http://schemas.openxmlformats.org/drawingml/2006/main">
            <a:pPr algn="l">
              <a:defRPr sz="1425" b="0">
                <a:solidFill>
                  <a:srgbClr val="142433"/>
                </a:solidFill>
              </a:defRPr>
            </a:pPr>
            <a:r>
              <a:rPr sz="1425" b="0">
                <a:solidFill>
                  <a:srgbClr val="142433"/>
                </a:solidFill>
              </a:rPr>
              <a:t>•  Referencia conceptual: BI-RADS 3 frente a 4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4F22DDA-1092-41AE-890C-24AB562A61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4381500"/>
            <a:ext cx="4286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425" b="0">
                <a:solidFill>
                  <a:srgbClr val="142433"/>
                </a:solidFill>
              </a:defRPr>
            </a:defPPr>
          </a:lstStyle>
          <a:p xmlns:a="http://schemas.openxmlformats.org/drawingml/2006/main">
            <a:pPr algn="l">
              <a:defRPr sz="1425" b="0">
                <a:solidFill>
                  <a:srgbClr val="142433"/>
                </a:solidFill>
              </a:defRPr>
            </a:pPr>
            <a:r>
              <a:rPr sz="1425" b="0">
                <a:solidFill>
                  <a:srgbClr val="142433"/>
                </a:solidFill>
              </a:rPr>
              <a:t>•  La puntuación no reemplaza el juicio clínico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604827D-ACBA-4C98-8B7F-F2C3A2FCEA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2781300"/>
            <a:ext cx="428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050" b="1">
                <a:solidFill>
                  <a:srgbClr val="2F6F8F"/>
                </a:solidFill>
              </a:defRPr>
            </a:defPPr>
          </a:lstStyle>
          <a:p xmlns:a="http://schemas.openxmlformats.org/drawingml/2006/main">
            <a:pPr algn="l">
              <a:defRPr sz="1050" b="1">
                <a:solidFill>
                  <a:srgbClr val="2F6F8F"/>
                </a:solidFill>
              </a:defRPr>
            </a:pPr>
            <a:r>
              <a:rPr sz="1050" b="1">
                <a:solidFill>
                  <a:srgbClr val="2F6F8F"/>
                </a:solidFill>
              </a:rPr>
              <a:t>ALCANCE REAL DEL EXPERIMENTO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5922BDD-C657-4BEB-AB04-A1C6E05274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3143250"/>
            <a:ext cx="4286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2250" b="1">
                <a:solidFill>
                  <a:srgbClr val="0B1F33"/>
                </a:solidFill>
              </a:defRPr>
            </a:defPPr>
          </a:lstStyle>
          <a:p xmlns:a="http://schemas.openxmlformats.org/drawingml/2006/main">
            <a:pPr algn="l">
              <a:defRPr sz="2250" b="1">
                <a:solidFill>
                  <a:srgbClr val="0B1F33"/>
                </a:solidFill>
              </a:defRPr>
            </a:pPr>
            <a:r>
              <a:rPr sz="2250" b="1">
                <a:solidFill>
                  <a:srgbClr val="0B1F33"/>
                </a:solidFill>
              </a:rPr>
              <a:t>Clasificación de una imagen estática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9D6CB5D-7CDC-4701-A0C5-28002BE1CF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4000500"/>
            <a:ext cx="4286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425" b="0">
                <a:solidFill>
                  <a:srgbClr val="142433"/>
                </a:solidFill>
              </a:defRPr>
            </a:defPPr>
          </a:lstStyle>
          <a:p xmlns:a="http://schemas.openxmlformats.org/drawingml/2006/main">
            <a:pPr algn="l">
              <a:defRPr sz="1425" b="0">
                <a:solidFill>
                  <a:srgbClr val="142433"/>
                </a:solidFill>
              </a:defRPr>
            </a:pPr>
            <a:r>
              <a:rPr sz="1425" b="0">
                <a:solidFill>
                  <a:srgbClr val="142433"/>
                </a:solidFill>
              </a:rPr>
              <a:t>•  La lesión ya fue encontrada y encuadrada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10805EA-9A5B-4D6D-8A0C-23D2CEA6F4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4524375"/>
            <a:ext cx="4286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425" b="0">
                <a:solidFill>
                  <a:srgbClr val="142433"/>
                </a:solidFill>
              </a:defRPr>
            </a:defPPr>
          </a:lstStyle>
          <a:p xmlns:a="http://schemas.openxmlformats.org/drawingml/2006/main">
            <a:pPr algn="l">
              <a:defRPr sz="1425" b="0">
                <a:solidFill>
                  <a:srgbClr val="142433"/>
                </a:solidFill>
              </a:defRPr>
            </a:pPr>
            <a:r>
              <a:rPr sz="1425" b="0">
                <a:solidFill>
                  <a:srgbClr val="142433"/>
                </a:solidFill>
              </a:rPr>
              <a:t>•  Uso académico y retrospectivo</a:t>
            </a:r>
          </a:p>
        </p:txBody>
      </p:sp>
    </p:spTree>
    <p:extLst>
      <p:ext uri="{BB962C8B-B14F-4D97-AF65-F5344CB8AC3E}">
        <p14:creationId xmlns:p14="http://schemas.microsoft.com/office/powerpoint/2010/main" val="1037694074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9C610BD-7B55-4C5E-857E-7CAF5B4D3C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23850"/>
            <a:ext cx="10287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2400" b="1">
                <a:solidFill>
                  <a:srgbClr val="0B1F33"/>
                </a:solidFill>
              </a:defRPr>
            </a:defPPr>
          </a:lstStyle>
          <a:p xmlns:a="http://schemas.openxmlformats.org/drawingml/2006/main">
            <a:pPr algn="l">
              <a:defRPr sz="2400" b="1">
                <a:solidFill>
                  <a:srgbClr val="0B1F33"/>
                </a:solidFill>
              </a:defRPr>
            </a:pPr>
            <a:r>
              <a:rPr sz="2400" b="1">
                <a:solidFill>
                  <a:srgbClr val="0B1F33"/>
                </a:solidFill>
              </a:rPr>
              <a:t>Diseño del estudio y cohorte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18AB122-478A-49AA-B77C-545B53A615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96625" y="400050"/>
            <a:ext cx="5238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r">
              <a:defRPr sz="1050" b="1">
                <a:solidFill>
                  <a:srgbClr val="2F6F8F"/>
                </a:solidFill>
              </a:defRPr>
            </a:defPPr>
          </a:lstStyle>
          <a:p xmlns:a="http://schemas.openxmlformats.org/drawingml/2006/main">
            <a:pPr algn="r">
              <a:defRPr sz="1050" b="1">
                <a:solidFill>
                  <a:srgbClr val="2F6F8F"/>
                </a:solidFill>
              </a:defRPr>
            </a:pPr>
            <a:r>
              <a:rPr sz="1050" b="1">
                <a:solidFill>
                  <a:srgbClr val="2F6F8F"/>
                </a:solidFill>
              </a:rPr>
              <a:t>03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2879B9E-6453-4A2B-BFD4-0ED197454D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895350"/>
            <a:ext cx="11049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E0E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99AABFB-A9A4-49E1-8A5E-7C0EF5CC4D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477000"/>
            <a:ext cx="4953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750" b="0">
                <a:solidFill>
                  <a:srgbClr val="7D8A94"/>
                </a:solidFill>
              </a:defRPr>
            </a:defPPr>
          </a:lstStyle>
          <a:p xmlns:a="http://schemas.openxmlformats.org/drawingml/2006/main">
            <a:pPr algn="l">
              <a:defRPr sz="750" b="0">
                <a:solidFill>
                  <a:srgbClr val="7D8A94"/>
                </a:solidFill>
              </a:defRPr>
            </a:pPr>
            <a:r>
              <a:rPr sz="750" b="0">
                <a:solidFill>
                  <a:srgbClr val="7D8A94"/>
                </a:solidFill>
              </a:rPr>
              <a:t>Fundamentos de Medicina y Aplicaciones de IA · FIUBA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CDA3209-2119-4112-8C47-157EEF0654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6477000"/>
            <a:ext cx="3143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r">
              <a:defRPr sz="750" b="0">
                <a:solidFill>
                  <a:srgbClr val="7D8A94"/>
                </a:solidFill>
              </a:defRPr>
            </a:defPPr>
          </a:lstStyle>
          <a:p xmlns:a="http://schemas.openxmlformats.org/drawingml/2006/main">
            <a:pPr algn="r">
              <a:defRPr sz="750" b="0">
                <a:solidFill>
                  <a:srgbClr val="7D8A94"/>
                </a:solidFill>
              </a:defRPr>
            </a:pPr>
            <a:r>
              <a:rPr sz="750" b="0">
                <a:solidFill>
                  <a:srgbClr val="7D8A94"/>
                </a:solidFill>
              </a:rPr>
              <a:t>Emmanuel Cardozo · Octubre 2026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15639ED-1F9A-4D9A-82D8-D6F8809CD6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123950"/>
            <a:ext cx="7048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2175" b="1">
                <a:solidFill>
                  <a:srgbClr val="0B1F33"/>
                </a:solidFill>
              </a:defRPr>
            </a:defPPr>
          </a:lstStyle>
          <a:p xmlns:a="http://schemas.openxmlformats.org/drawingml/2006/main">
            <a:pPr algn="l">
              <a:defRPr sz="2175" b="1">
                <a:solidFill>
                  <a:srgbClr val="0B1F33"/>
                </a:solidFill>
              </a:defRPr>
            </a:pPr>
            <a:r>
              <a:rPr sz="2175" b="1">
                <a:solidFill>
                  <a:srgbClr val="0B1F33"/>
                </a:solidFill>
              </a:rPr>
              <a:t>Estudio retrospectivo de exactitud diagnóstica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8CA9D0B-0694-4DCF-B1D1-4AA5AB6B9E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666875"/>
            <a:ext cx="10477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500" b="0">
                <a:solidFill>
                  <a:srgbClr val="607080"/>
                </a:solidFill>
              </a:defRPr>
            </a:defPPr>
          </a:lstStyle>
          <a:p xmlns:a="http://schemas.openxmlformats.org/drawingml/2006/main">
            <a:pPr algn="l">
              <a:defRPr sz="1500" b="0">
                <a:solidFill>
                  <a:srgbClr val="607080"/>
                </a:solidFill>
              </a:defRPr>
            </a:pPr>
            <a:r>
              <a:rPr sz="1500" b="0">
                <a:solidFill>
                  <a:srgbClr val="607080"/>
                </a:solidFill>
              </a:rPr>
              <a:t>El diseño sigue la lógica de investigación clínica: variable principal definida, separación por paciente y evaluación en un conjunto no utilizado para entrenar.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3669790-F2D1-444E-92B8-9F9E432943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857500"/>
            <a:ext cx="2286000" cy="2238375"/>
          </a:xfrm>
          <a:prstGeom xmlns:a="http://schemas.openxmlformats.org/drawingml/2006/main" prst="roundRect">
            <a:avLst>
              <a:gd name="adj" fmla="val 3404"/>
            </a:avLst>
          </a:prstGeom>
          <a:solidFill xmlns:a="http://schemas.openxmlformats.org/drawingml/2006/main">
            <a:srgbClr val="EDF3F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8219A40-6EDC-4362-B0CB-9C1BC6E315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048000"/>
            <a:ext cx="18669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050" b="1">
                <a:solidFill>
                  <a:srgbClr val="2F6F8F"/>
                </a:solidFill>
              </a:defRPr>
            </a:defPPr>
          </a:lstStyle>
          <a:p xmlns:a="http://schemas.openxmlformats.org/drawingml/2006/main">
            <a:pPr algn="l">
              <a:defRPr sz="1050" b="1">
                <a:solidFill>
                  <a:srgbClr val="2F6F8F"/>
                </a:solidFill>
              </a:defRPr>
            </a:pPr>
            <a:r>
              <a:rPr sz="1050" b="1">
                <a:solidFill>
                  <a:srgbClr val="2F6F8F"/>
                </a:solidFill>
              </a:rPr>
              <a:t>1 · DATOS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FC851CD-DDDC-4D80-9A46-D5A5DCF1D4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524250"/>
            <a:ext cx="1866900" cy="1190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650" b="1">
                <a:solidFill>
                  <a:srgbClr val="142433"/>
                </a:solidFill>
              </a:defRPr>
            </a:defPPr>
          </a:lstStyle>
          <a:p xmlns:a="http://schemas.openxmlformats.org/drawingml/2006/main">
            <a:pPr algn="l">
              <a:defRPr sz="1650" b="1">
                <a:solidFill>
                  <a:srgbClr val="142433"/>
                </a:solidFill>
              </a:defRPr>
            </a:pPr>
            <a:r>
              <a:rPr sz="1650" b="1">
                <a:solidFill>
                  <a:srgbClr val="142433"/>
                </a:solidFill>
              </a:rPr>
              <a:t>BUS-BRA</a:t>
            </a:r>
          </a:p>
          <a:p xmlns:a="http://schemas.openxmlformats.org/drawingml/2006/main">
            <a:pPr algn="l">
              <a:defRPr sz="1650" b="1">
                <a:solidFill>
                  <a:srgbClr val="142433"/>
                </a:solidFill>
              </a:defRPr>
            </a:pPr>
            <a:r>
              <a:rPr sz="1650" b="1">
                <a:solidFill>
                  <a:srgbClr val="142433"/>
                </a:solidFill>
              </a:rPr>
              <a:t>1.875 imágenes</a:t>
            </a:r>
          </a:p>
          <a:p xmlns:a="http://schemas.openxmlformats.org/drawingml/2006/main">
            <a:pPr algn="l">
              <a:defRPr sz="1650" b="1">
                <a:solidFill>
                  <a:srgbClr val="142433"/>
                </a:solidFill>
              </a:defRPr>
            </a:pPr>
            <a:r>
              <a:rPr sz="1650" b="1">
                <a:solidFill>
                  <a:srgbClr val="142433"/>
                </a:solidFill>
              </a:rPr>
              <a:t>1.064 pacientes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7B81ABD-681E-4701-9709-49A2F8564D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2857500"/>
            <a:ext cx="2286000" cy="2238375"/>
          </a:xfrm>
          <a:prstGeom xmlns:a="http://schemas.openxmlformats.org/drawingml/2006/main" prst="roundRect">
            <a:avLst>
              <a:gd name="adj" fmla="val 3404"/>
            </a:avLst>
          </a:prstGeom>
          <a:solidFill xmlns:a="http://schemas.openxmlformats.org/drawingml/2006/main">
            <a:srgbClr val="E7EFF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9787883-E3CE-4A99-9C57-9737A52544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3300" y="3048000"/>
            <a:ext cx="18669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050" b="1">
                <a:solidFill>
                  <a:srgbClr val="2F6F8F"/>
                </a:solidFill>
              </a:defRPr>
            </a:defPPr>
          </a:lstStyle>
          <a:p xmlns:a="http://schemas.openxmlformats.org/drawingml/2006/main">
            <a:pPr algn="l">
              <a:defRPr sz="1050" b="1">
                <a:solidFill>
                  <a:srgbClr val="2F6F8F"/>
                </a:solidFill>
              </a:defRPr>
            </a:pPr>
            <a:r>
              <a:rPr sz="1050" b="1">
                <a:solidFill>
                  <a:srgbClr val="2F6F8F"/>
                </a:solidFill>
              </a:rPr>
              <a:t>2 · PARTICIÓN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789EDF4-6B8B-4F13-A4EA-9C7F1523D5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3300" y="3524250"/>
            <a:ext cx="1866900" cy="1190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650" b="1">
                <a:solidFill>
                  <a:srgbClr val="142433"/>
                </a:solidFill>
              </a:defRPr>
            </a:defPPr>
          </a:lstStyle>
          <a:p xmlns:a="http://schemas.openxmlformats.org/drawingml/2006/main">
            <a:pPr algn="l">
              <a:defRPr sz="1650" b="1">
                <a:solidFill>
                  <a:srgbClr val="142433"/>
                </a:solidFill>
              </a:defRPr>
            </a:pPr>
            <a:r>
              <a:rPr sz="1650" b="1">
                <a:solidFill>
                  <a:srgbClr val="142433"/>
                </a:solidFill>
              </a:rPr>
              <a:t>Train / validación / test</a:t>
            </a:r>
          </a:p>
          <a:p xmlns:a="http://schemas.openxmlformats.org/drawingml/2006/main">
            <a:pPr algn="l">
              <a:defRPr sz="1650" b="1">
                <a:solidFill>
                  <a:srgbClr val="142433"/>
                </a:solidFill>
              </a:defRPr>
            </a:pPr>
            <a:r>
              <a:rPr sz="1650" b="1">
                <a:solidFill>
                  <a:srgbClr val="142433"/>
                </a:solidFill>
              </a:rPr>
              <a:t>Agrupado por paciente</a:t>
            </a:r>
          </a:p>
          <a:p xmlns:a="http://schemas.openxmlformats.org/drawingml/2006/main">
            <a:pPr algn="l">
              <a:defRPr sz="1650" b="1">
                <a:solidFill>
                  <a:srgbClr val="142433"/>
                </a:solidFill>
              </a:defRPr>
            </a:pPr>
            <a:r>
              <a:rPr sz="1650" b="1">
                <a:solidFill>
                  <a:srgbClr val="142433"/>
                </a:solidFill>
              </a:rPr>
              <a:t>Sin fuga entre particiones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1BEC15E-A1D8-44B9-BEA1-8A4DBA2FEE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2857500"/>
            <a:ext cx="2286000" cy="2238375"/>
          </a:xfrm>
          <a:prstGeom xmlns:a="http://schemas.openxmlformats.org/drawingml/2006/main" prst="roundRect">
            <a:avLst>
              <a:gd name="adj" fmla="val 3404"/>
            </a:avLst>
          </a:prstGeom>
          <a:solidFill xmlns:a="http://schemas.openxmlformats.org/drawingml/2006/main">
            <a:srgbClr val="EDF3F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C4970D9-B570-4BF8-8B9C-4A1A1C656E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3048000"/>
            <a:ext cx="18669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050" b="1">
                <a:solidFill>
                  <a:srgbClr val="2F6F8F"/>
                </a:solidFill>
              </a:defRPr>
            </a:defPPr>
          </a:lstStyle>
          <a:p xmlns:a="http://schemas.openxmlformats.org/drawingml/2006/main">
            <a:pPr algn="l">
              <a:defRPr sz="1050" b="1">
                <a:solidFill>
                  <a:srgbClr val="2F6F8F"/>
                </a:solidFill>
              </a:defRPr>
            </a:pPr>
            <a:r>
              <a:rPr sz="1050" b="1">
                <a:solidFill>
                  <a:srgbClr val="2F6F8F"/>
                </a:solidFill>
              </a:rPr>
              <a:t>3 · MODELO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1A3138E-FD22-4F20-8FCA-D7728E8C8B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3524250"/>
            <a:ext cx="1866900" cy="1190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650" b="1">
                <a:solidFill>
                  <a:srgbClr val="142433"/>
                </a:solidFill>
              </a:defRPr>
            </a:defPPr>
          </a:lstStyle>
          <a:p xmlns:a="http://schemas.openxmlformats.org/drawingml/2006/main">
            <a:pPr algn="l">
              <a:defRPr sz="1650" b="1">
                <a:solidFill>
                  <a:srgbClr val="142433"/>
                </a:solidFill>
              </a:defRPr>
            </a:pPr>
            <a:r>
              <a:rPr sz="1650" b="1">
                <a:solidFill>
                  <a:srgbClr val="142433"/>
                </a:solidFill>
              </a:rPr>
              <a:t>EfficientNet-B0</a:t>
            </a:r>
          </a:p>
          <a:p xmlns:a="http://schemas.openxmlformats.org/drawingml/2006/main">
            <a:pPr algn="l">
              <a:defRPr sz="1650" b="1">
                <a:solidFill>
                  <a:srgbClr val="142433"/>
                </a:solidFill>
              </a:defRPr>
            </a:pPr>
            <a:r>
              <a:rPr sz="1650" b="1">
                <a:solidFill>
                  <a:srgbClr val="142433"/>
                </a:solidFill>
              </a:rPr>
              <a:t>Pesos ImageNet</a:t>
            </a:r>
          </a:p>
          <a:p xmlns:a="http://schemas.openxmlformats.org/drawingml/2006/main">
            <a:pPr algn="l">
              <a:defRPr sz="1650" b="1">
                <a:solidFill>
                  <a:srgbClr val="142433"/>
                </a:solidFill>
              </a:defRPr>
            </a:pPr>
            <a:r>
              <a:rPr sz="1650" b="1">
                <a:solidFill>
                  <a:srgbClr val="142433"/>
                </a:solidFill>
              </a:rPr>
              <a:t>Cabeza binaria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D924A8B-A032-4AF6-B301-3EBF15E8FC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2857500"/>
            <a:ext cx="2286000" cy="2238375"/>
          </a:xfrm>
          <a:prstGeom xmlns:a="http://schemas.openxmlformats.org/drawingml/2006/main" prst="roundRect">
            <a:avLst>
              <a:gd name="adj" fmla="val 3404"/>
            </a:avLst>
          </a:prstGeom>
          <a:solidFill xmlns:a="http://schemas.openxmlformats.org/drawingml/2006/main">
            <a:srgbClr val="E7EFF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76CE588-C451-4E3E-B10C-060A63561A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77300" y="3048000"/>
            <a:ext cx="18669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050" b="1">
                <a:solidFill>
                  <a:srgbClr val="2F6F8F"/>
                </a:solidFill>
              </a:defRPr>
            </a:defPPr>
          </a:lstStyle>
          <a:p xmlns:a="http://schemas.openxmlformats.org/drawingml/2006/main">
            <a:pPr algn="l">
              <a:defRPr sz="1050" b="1">
                <a:solidFill>
                  <a:srgbClr val="2F6F8F"/>
                </a:solidFill>
              </a:defRPr>
            </a:pPr>
            <a:r>
              <a:rPr sz="1050" b="1">
                <a:solidFill>
                  <a:srgbClr val="2F6F8F"/>
                </a:solidFill>
              </a:rPr>
              <a:t>4 · EVALUACIÓN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C5E00B5-2A57-41DD-B8C0-BED0C3D64B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77300" y="3524250"/>
            <a:ext cx="1866900" cy="1190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650" b="1">
                <a:solidFill>
                  <a:srgbClr val="142433"/>
                </a:solidFill>
              </a:defRPr>
            </a:defPPr>
          </a:lstStyle>
          <a:p xmlns:a="http://schemas.openxmlformats.org/drawingml/2006/main">
            <a:pPr algn="l">
              <a:defRPr sz="1650" b="1">
                <a:solidFill>
                  <a:srgbClr val="142433"/>
                </a:solidFill>
              </a:defRPr>
            </a:pPr>
            <a:r>
              <a:rPr sz="1650" b="1">
                <a:solidFill>
                  <a:srgbClr val="142433"/>
                </a:solidFill>
              </a:rPr>
              <a:t>Test retenido</a:t>
            </a:r>
          </a:p>
          <a:p xmlns:a="http://schemas.openxmlformats.org/drawingml/2006/main">
            <a:pPr algn="l">
              <a:defRPr sz="1650" b="1">
                <a:solidFill>
                  <a:srgbClr val="142433"/>
                </a:solidFill>
              </a:defRPr>
            </a:pPr>
            <a:r>
              <a:rPr sz="1650" b="1">
                <a:solidFill>
                  <a:srgbClr val="142433"/>
                </a:solidFill>
              </a:rPr>
              <a:t>376 imágenes</a:t>
            </a:r>
          </a:p>
          <a:p xmlns:a="http://schemas.openxmlformats.org/drawingml/2006/main">
            <a:pPr algn="l">
              <a:defRPr sz="1650" b="1">
                <a:solidFill>
                  <a:srgbClr val="142433"/>
                </a:solidFill>
              </a:defRPr>
            </a:pPr>
            <a:r>
              <a:rPr sz="1650" b="1">
                <a:solidFill>
                  <a:srgbClr val="142433"/>
                </a:solidFill>
              </a:rPr>
              <a:t>212 pacientes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C202A24-7743-4257-90E1-E1A7A7D773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572125"/>
            <a:ext cx="10477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1350" b="1">
                <a:solidFill>
                  <a:srgbClr val="C95555"/>
                </a:solidFill>
              </a:defRPr>
            </a:defPPr>
          </a:lstStyle>
          <a:p xmlns:a="http://schemas.openxmlformats.org/drawingml/2006/main">
            <a:pPr algn="ctr">
              <a:defRPr sz="1350" b="1">
                <a:solidFill>
                  <a:srgbClr val="C95555"/>
                </a:solidFill>
              </a:defRPr>
            </a:pPr>
            <a:r>
              <a:rPr sz="1350" b="1">
                <a:solidFill>
                  <a:srgbClr val="C95555"/>
                </a:solidFill>
              </a:rPr>
              <a:t>Resultado: estimación interna en BUS-BRA. La validación externa en BUSI queda pendiente.</a:t>
            </a:r>
          </a:p>
        </p:txBody>
      </p:sp>
    </p:spTree>
    <p:extLst>
      <p:ext uri="{BB962C8B-B14F-4D97-AF65-F5344CB8AC3E}">
        <p14:creationId xmlns:p14="http://schemas.microsoft.com/office/powerpoint/2010/main" val="403595651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D2736338-0A10-4D36-A5C2-24680B61ED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23850"/>
            <a:ext cx="10287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2400" b="1">
                <a:solidFill>
                  <a:srgbClr val="0B1F33"/>
                </a:solidFill>
              </a:defRPr>
            </a:defPPr>
          </a:lstStyle>
          <a:p xmlns:a="http://schemas.openxmlformats.org/drawingml/2006/main">
            <a:pPr algn="l">
              <a:defRPr sz="2400" b="1">
                <a:solidFill>
                  <a:srgbClr val="0B1F33"/>
                </a:solidFill>
              </a:defRPr>
            </a:pPr>
            <a:r>
              <a:rPr sz="2400" b="1">
                <a:solidFill>
                  <a:srgbClr val="0B1F33"/>
                </a:solidFill>
              </a:rPr>
              <a:t>Curación de datos y prevención de fuga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A32C0A5-0ABE-44F3-9C64-075AF40955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96625" y="400050"/>
            <a:ext cx="5238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r">
              <a:defRPr sz="1050" b="1">
                <a:solidFill>
                  <a:srgbClr val="2F6F8F"/>
                </a:solidFill>
              </a:defRPr>
            </a:defPPr>
          </a:lstStyle>
          <a:p xmlns:a="http://schemas.openxmlformats.org/drawingml/2006/main">
            <a:pPr algn="r">
              <a:defRPr sz="1050" b="1">
                <a:solidFill>
                  <a:srgbClr val="2F6F8F"/>
                </a:solidFill>
              </a:defRPr>
            </a:pPr>
            <a:r>
              <a:rPr sz="1050" b="1">
                <a:solidFill>
                  <a:srgbClr val="2F6F8F"/>
                </a:solidFill>
              </a:rPr>
              <a:t>04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AE64F04-B0BE-4407-BF13-5327486D30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895350"/>
            <a:ext cx="11049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E0E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7889354-36E1-40F3-AE42-6998017B10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477000"/>
            <a:ext cx="4953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750" b="0">
                <a:solidFill>
                  <a:srgbClr val="7D8A94"/>
                </a:solidFill>
              </a:defRPr>
            </a:defPPr>
          </a:lstStyle>
          <a:p xmlns:a="http://schemas.openxmlformats.org/drawingml/2006/main">
            <a:pPr algn="l">
              <a:defRPr sz="750" b="0">
                <a:solidFill>
                  <a:srgbClr val="7D8A94"/>
                </a:solidFill>
              </a:defRPr>
            </a:pPr>
            <a:r>
              <a:rPr sz="750" b="0">
                <a:solidFill>
                  <a:srgbClr val="7D8A94"/>
                </a:solidFill>
              </a:rPr>
              <a:t>Fundamentos de Medicina y Aplicaciones de IA · FIUBA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DEFC2ED-3FAC-4F95-9B2E-46FCF36C7F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6477000"/>
            <a:ext cx="3143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r">
              <a:defRPr sz="750" b="0">
                <a:solidFill>
                  <a:srgbClr val="7D8A94"/>
                </a:solidFill>
              </a:defRPr>
            </a:defPPr>
          </a:lstStyle>
          <a:p xmlns:a="http://schemas.openxmlformats.org/drawingml/2006/main">
            <a:pPr algn="r">
              <a:defRPr sz="750" b="0">
                <a:solidFill>
                  <a:srgbClr val="7D8A94"/>
                </a:solidFill>
              </a:defRPr>
            </a:pPr>
            <a:r>
              <a:rPr sz="750" b="0">
                <a:solidFill>
                  <a:srgbClr val="7D8A94"/>
                </a:solidFill>
              </a:rPr>
              <a:t>Emmanuel Cardozo · Octubre 2026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76F2FF2-77FA-4998-B513-53E5936296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524000"/>
            <a:ext cx="609600" cy="609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6F8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5D5EA5E-4818-46A4-B7B5-8994C8D634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600200"/>
            <a:ext cx="6096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1350" b="1">
                <a:solidFill>
                  <a:srgbClr val="FFFFFF"/>
                </a:solidFill>
              </a:defRPr>
            </a:defPPr>
          </a:lstStyle>
          <a:p xmlns:a="http://schemas.openxmlformats.org/drawingml/2006/main">
            <a:pPr algn="ctr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01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53B5C1F-CE35-4FF3-B943-2C56BA173C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381250"/>
            <a:ext cx="1714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575" b="1">
                <a:solidFill>
                  <a:srgbClr val="0B1F33"/>
                </a:solidFill>
              </a:defRPr>
            </a:defPPr>
          </a:lstStyle>
          <a:p xmlns:a="http://schemas.openxmlformats.org/drawingml/2006/main">
            <a:pPr algn="l">
              <a:defRPr sz="1575" b="1">
                <a:solidFill>
                  <a:srgbClr val="0B1F33"/>
                </a:solidFill>
              </a:defRPr>
            </a:pPr>
            <a:r>
              <a:rPr sz="1575" b="1">
                <a:solidFill>
                  <a:srgbClr val="0B1F33"/>
                </a:solidFill>
              </a:rPr>
              <a:t>Inventario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4746FD7-45C7-4773-A0DC-7F243ACDF4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790825"/>
            <a:ext cx="1952625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275" b="0">
                <a:solidFill>
                  <a:srgbClr val="607080"/>
                </a:solidFill>
              </a:defRPr>
            </a:defPPr>
          </a:lstStyle>
          <a:p xmlns:a="http://schemas.openxmlformats.org/drawingml/2006/main">
            <a:pPr algn="l">
              <a:defRPr sz="1275" b="0">
                <a:solidFill>
                  <a:srgbClr val="607080"/>
                </a:solidFill>
              </a:defRPr>
            </a:pPr>
            <a:r>
              <a:rPr sz="1275" b="0">
                <a:solidFill>
                  <a:srgbClr val="607080"/>
                </a:solidFill>
              </a:rPr>
              <a:t>Rutas, etiquetas,</a:t>
            </a:r>
          </a:p>
          <a:p xmlns:a="http://schemas.openxmlformats.org/drawingml/2006/main">
            <a:pPr algn="l">
              <a:defRPr sz="1275" b="0">
                <a:solidFill>
                  <a:srgbClr val="607080"/>
                </a:solidFill>
              </a:defRPr>
            </a:pPr>
            <a:r>
              <a:rPr sz="1275" b="0">
                <a:solidFill>
                  <a:srgbClr val="607080"/>
                </a:solidFill>
              </a:rPr>
              <a:t>dimensiones y licencia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1962644-AA48-4842-B3C2-E6992018CE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1809750"/>
            <a:ext cx="18097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DB6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AAC1656-436E-4547-BEF6-4C8F6D9CCA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1524000"/>
            <a:ext cx="609600" cy="609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6F8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F3E5EA9-9560-4549-BB97-FB5685B7A8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1600200"/>
            <a:ext cx="6096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1350" b="1">
                <a:solidFill>
                  <a:srgbClr val="FFFFFF"/>
                </a:solidFill>
              </a:defRPr>
            </a:defPPr>
          </a:lstStyle>
          <a:p xmlns:a="http://schemas.openxmlformats.org/drawingml/2006/main">
            <a:pPr algn="ctr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02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C66FC19-BD77-416E-83F9-E3C3CCCC2A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2381250"/>
            <a:ext cx="1714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575" b="1">
                <a:solidFill>
                  <a:srgbClr val="0B1F33"/>
                </a:solidFill>
              </a:defRPr>
            </a:defPPr>
          </a:lstStyle>
          <a:p xmlns:a="http://schemas.openxmlformats.org/drawingml/2006/main">
            <a:pPr algn="l">
              <a:defRPr sz="1575" b="1">
                <a:solidFill>
                  <a:srgbClr val="0B1F33"/>
                </a:solidFill>
              </a:defRPr>
            </a:pPr>
            <a:r>
              <a:rPr sz="1575" b="1">
                <a:solidFill>
                  <a:srgbClr val="0B1F33"/>
                </a:solidFill>
              </a:rPr>
              <a:t>Auditoría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A8D5785-0F8F-4A1A-A26B-C4C257C720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2790825"/>
            <a:ext cx="1952625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275" b="0">
                <a:solidFill>
                  <a:srgbClr val="607080"/>
                </a:solidFill>
              </a:defRPr>
            </a:defPPr>
          </a:lstStyle>
          <a:p xmlns:a="http://schemas.openxmlformats.org/drawingml/2006/main">
            <a:pPr algn="l">
              <a:defRPr sz="1275" b="0">
                <a:solidFill>
                  <a:srgbClr val="607080"/>
                </a:solidFill>
              </a:defRPr>
            </a:pPr>
            <a:r>
              <a:rPr sz="1275" b="0">
                <a:solidFill>
                  <a:srgbClr val="607080"/>
                </a:solidFill>
              </a:rPr>
              <a:t>Duplicados, marcas,</a:t>
            </a:r>
          </a:p>
          <a:p xmlns:a="http://schemas.openxmlformats.org/drawingml/2006/main">
            <a:pPr algn="l">
              <a:defRPr sz="1275" b="0">
                <a:solidFill>
                  <a:srgbClr val="607080"/>
                </a:solidFill>
              </a:defRPr>
            </a:pPr>
            <a:r>
              <a:rPr sz="1275" b="0">
                <a:solidFill>
                  <a:srgbClr val="607080"/>
                </a:solidFill>
              </a:rPr>
              <a:t>archivos inválidos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1FDD2AD-9314-441C-9E7D-D362DF9DCF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1809750"/>
            <a:ext cx="18097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DB6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1F78813-F376-4F73-89F5-6F43E30E31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1524000"/>
            <a:ext cx="609600" cy="609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6F8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771F6DF-EB84-4DBC-8CE7-82DFC3976C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1600200"/>
            <a:ext cx="6096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1350" b="1">
                <a:solidFill>
                  <a:srgbClr val="FFFFFF"/>
                </a:solidFill>
              </a:defRPr>
            </a:defPPr>
          </a:lstStyle>
          <a:p xmlns:a="http://schemas.openxmlformats.org/drawingml/2006/main">
            <a:pPr algn="ctr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03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23068DD-02DE-46FD-8175-C4D05274B6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2381250"/>
            <a:ext cx="1714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575" b="1">
                <a:solidFill>
                  <a:srgbClr val="0B1F33"/>
                </a:solidFill>
              </a:defRPr>
            </a:defPPr>
          </a:lstStyle>
          <a:p xmlns:a="http://schemas.openxmlformats.org/drawingml/2006/main">
            <a:pPr algn="l">
              <a:defRPr sz="1575" b="1">
                <a:solidFill>
                  <a:srgbClr val="0B1F33"/>
                </a:solidFill>
              </a:defRPr>
            </a:pPr>
            <a:r>
              <a:rPr sz="1575" b="1">
                <a:solidFill>
                  <a:srgbClr val="0B1F33"/>
                </a:solidFill>
              </a:rPr>
              <a:t>Agrupamiento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4D41B28-9AC9-42A4-A44C-4A758CA03C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2790825"/>
            <a:ext cx="1952625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275" b="0">
                <a:solidFill>
                  <a:srgbClr val="607080"/>
                </a:solidFill>
              </a:defRPr>
            </a:defPPr>
          </a:lstStyle>
          <a:p xmlns:a="http://schemas.openxmlformats.org/drawingml/2006/main">
            <a:pPr algn="l">
              <a:defRPr sz="1275" b="0">
                <a:solidFill>
                  <a:srgbClr val="607080"/>
                </a:solidFill>
              </a:defRPr>
            </a:pPr>
            <a:r>
              <a:rPr sz="1275" b="0">
                <a:solidFill>
                  <a:srgbClr val="607080"/>
                </a:solidFill>
              </a:rPr>
              <a:t>Identificador de paciente</a:t>
            </a:r>
          </a:p>
          <a:p xmlns:a="http://schemas.openxmlformats.org/drawingml/2006/main">
            <a:pPr algn="l">
              <a:defRPr sz="1275" b="0">
                <a:solidFill>
                  <a:srgbClr val="607080"/>
                </a:solidFill>
              </a:defRPr>
            </a:pPr>
            <a:r>
              <a:rPr sz="1275" b="0">
                <a:solidFill>
                  <a:srgbClr val="607080"/>
                </a:solidFill>
              </a:rPr>
              <a:t>como unidad indivisible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5C2C656-3CAA-4604-B547-BC62CB586A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1809750"/>
            <a:ext cx="18097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DB6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2A76E28-7AEC-49A7-9178-750DF44C3A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1524000"/>
            <a:ext cx="609600" cy="609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69A4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C183E7F-8CE5-4955-8E77-DF7B2AD28E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1600200"/>
            <a:ext cx="6096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1350" b="1">
                <a:solidFill>
                  <a:srgbClr val="FFFFFF"/>
                </a:solidFill>
              </a:defRPr>
            </a:defPPr>
          </a:lstStyle>
          <a:p xmlns:a="http://schemas.openxmlformats.org/drawingml/2006/main">
            <a:pPr algn="ctr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04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B10E869-891B-4ADC-B96B-72A80B68F1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2381250"/>
            <a:ext cx="1714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575" b="1">
                <a:solidFill>
                  <a:srgbClr val="0B1F33"/>
                </a:solidFill>
              </a:defRPr>
            </a:defPPr>
          </a:lstStyle>
          <a:p xmlns:a="http://schemas.openxmlformats.org/drawingml/2006/main">
            <a:pPr algn="l">
              <a:defRPr sz="1575" b="1">
                <a:solidFill>
                  <a:srgbClr val="0B1F33"/>
                </a:solidFill>
              </a:defRPr>
            </a:pPr>
            <a:r>
              <a:rPr sz="1575" b="1">
                <a:solidFill>
                  <a:srgbClr val="0B1F33"/>
                </a:solidFill>
              </a:rPr>
              <a:t>Partición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E155E840-1AA5-4951-AEB0-DF0A7EEE78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2790825"/>
            <a:ext cx="1952625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275" b="0">
                <a:solidFill>
                  <a:srgbClr val="607080"/>
                </a:solidFill>
              </a:defRPr>
            </a:defPPr>
          </a:lstStyle>
          <a:p xmlns:a="http://schemas.openxmlformats.org/drawingml/2006/main">
            <a:pPr algn="l">
              <a:defRPr sz="1275" b="0">
                <a:solidFill>
                  <a:srgbClr val="607080"/>
                </a:solidFill>
              </a:defRPr>
            </a:pPr>
            <a:r>
              <a:rPr sz="1275" b="0">
                <a:solidFill>
                  <a:srgbClr val="607080"/>
                </a:solidFill>
              </a:rPr>
              <a:t>Estratificación aproximada</a:t>
            </a:r>
          </a:p>
          <a:p xmlns:a="http://schemas.openxmlformats.org/drawingml/2006/main">
            <a:pPr algn="l">
              <a:defRPr sz="1275" b="0">
                <a:solidFill>
                  <a:srgbClr val="607080"/>
                </a:solidFill>
              </a:defRPr>
            </a:pPr>
            <a:r>
              <a:rPr sz="1275" b="0">
                <a:solidFill>
                  <a:srgbClr val="607080"/>
                </a:solidFill>
              </a:rPr>
              <a:t>y manifiesto congelado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A2A935EC-65A2-4113-B0B5-5C90D93682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333875"/>
            <a:ext cx="10668000" cy="1047750"/>
          </a:xfrm>
          <a:prstGeom xmlns:a="http://schemas.openxmlformats.org/drawingml/2006/main" prst="roundRect">
            <a:avLst>
              <a:gd name="adj" fmla="val 7273"/>
            </a:avLst>
          </a:prstGeom>
          <a:solidFill xmlns:a="http://schemas.openxmlformats.org/drawingml/2006/main">
            <a:srgbClr val="FFF4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2B23845E-716D-4D61-9C5E-1C40215DC4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4524375"/>
            <a:ext cx="2190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350" b="1">
                <a:solidFill>
                  <a:srgbClr val="E69A43"/>
                </a:solidFill>
              </a:defRPr>
            </a:defPPr>
          </a:lstStyle>
          <a:p xmlns:a="http://schemas.openxmlformats.org/drawingml/2006/main">
            <a:pPr algn="l">
              <a:defRPr sz="1350" b="1">
                <a:solidFill>
                  <a:srgbClr val="E69A43"/>
                </a:solidFill>
              </a:defRPr>
            </a:pPr>
            <a:r>
              <a:rPr sz="1350" b="1">
                <a:solidFill>
                  <a:srgbClr val="E69A43"/>
                </a:solidFill>
              </a:rPr>
              <a:t>Regla de integridad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C939FBCC-FE45-45C4-B345-90822C2891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0375" y="4457700"/>
            <a:ext cx="785812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500" b="1">
                <a:solidFill>
                  <a:srgbClr val="142433"/>
                </a:solidFill>
              </a:defRPr>
            </a:defPPr>
          </a:lstStyle>
          <a:p xmlns:a="http://schemas.openxmlformats.org/drawingml/2006/main">
            <a:pPr algn="l">
              <a:defRPr sz="1500" b="1">
                <a:solidFill>
                  <a:srgbClr val="142433"/>
                </a:solidFill>
              </a:defRPr>
            </a:pPr>
            <a:r>
              <a:rPr sz="1500" b="1">
                <a:solidFill>
                  <a:srgbClr val="142433"/>
                </a:solidFill>
              </a:rPr>
              <a:t>El mismo paciente no puede aparecer en más de una partición. El entrenamiento usa únicamente transformaciones y ponderaciones calculadas sobre train.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5BFE2E5A-ECBA-4CBE-8E12-3F4949784B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0375" y="5000625"/>
            <a:ext cx="78581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200" b="0">
                <a:solidFill>
                  <a:srgbClr val="607080"/>
                </a:solidFill>
              </a:defRPr>
            </a:defPPr>
          </a:lstStyle>
          <a:p xmlns:a="http://schemas.openxmlformats.org/drawingml/2006/main">
            <a:pPr algn="l">
              <a:defRPr sz="1200" b="0">
                <a:solidFill>
                  <a:srgbClr val="607080"/>
                </a:solidFill>
              </a:defRPr>
            </a:pPr>
            <a:r>
              <a:rPr sz="1200" b="0">
                <a:solidFill>
                  <a:srgbClr val="607080"/>
                </a:solidFill>
              </a:rPr>
              <a:t>La auditoría queda registrada en resolved_manifest.csv</a:t>
            </a:r>
          </a:p>
        </p:txBody>
      </p:sp>
    </p:spTree>
    <p:extLst>
      <p:ext uri="{BB962C8B-B14F-4D97-AF65-F5344CB8AC3E}">
        <p14:creationId xmlns:p14="http://schemas.microsoft.com/office/powerpoint/2010/main" val="6673227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4EA85624-1175-4C1D-99DB-3E45024938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23850"/>
            <a:ext cx="10287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2400" b="1">
                <a:solidFill>
                  <a:srgbClr val="0B1F33"/>
                </a:solidFill>
              </a:defRPr>
            </a:defPPr>
          </a:lstStyle>
          <a:p xmlns:a="http://schemas.openxmlformats.org/drawingml/2006/main">
            <a:pPr algn="l">
              <a:defRPr sz="2400" b="1">
                <a:solidFill>
                  <a:srgbClr val="0B1F33"/>
                </a:solidFill>
              </a:defRPr>
            </a:pPr>
            <a:r>
              <a:rPr sz="2400" b="1">
                <a:solidFill>
                  <a:srgbClr val="0B1F33"/>
                </a:solidFill>
              </a:rPr>
              <a:t>Pipeline del clasificador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BD28F10-E7AF-4C64-9819-A86744C1E1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96625" y="400050"/>
            <a:ext cx="5238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r">
              <a:defRPr sz="1050" b="1">
                <a:solidFill>
                  <a:srgbClr val="2F6F8F"/>
                </a:solidFill>
              </a:defRPr>
            </a:defPPr>
          </a:lstStyle>
          <a:p xmlns:a="http://schemas.openxmlformats.org/drawingml/2006/main">
            <a:pPr algn="r">
              <a:defRPr sz="1050" b="1">
                <a:solidFill>
                  <a:srgbClr val="2F6F8F"/>
                </a:solidFill>
              </a:defRPr>
            </a:pPr>
            <a:r>
              <a:rPr sz="1050" b="1">
                <a:solidFill>
                  <a:srgbClr val="2F6F8F"/>
                </a:solidFill>
              </a:rPr>
              <a:t>05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D51BBFB-5668-46E3-9E43-6E314DE69B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895350"/>
            <a:ext cx="11049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E0E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B93FCD3-5D30-4584-AB95-8B27F2FBDD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477000"/>
            <a:ext cx="4953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750" b="0">
                <a:solidFill>
                  <a:srgbClr val="7D8A94"/>
                </a:solidFill>
              </a:defRPr>
            </a:defPPr>
          </a:lstStyle>
          <a:p xmlns:a="http://schemas.openxmlformats.org/drawingml/2006/main">
            <a:pPr algn="l">
              <a:defRPr sz="750" b="0">
                <a:solidFill>
                  <a:srgbClr val="7D8A94"/>
                </a:solidFill>
              </a:defRPr>
            </a:pPr>
            <a:r>
              <a:rPr sz="750" b="0">
                <a:solidFill>
                  <a:srgbClr val="7D8A94"/>
                </a:solidFill>
              </a:rPr>
              <a:t>Fundamentos de Medicina y Aplicaciones de IA · FIUBA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223A75D-14DF-48D2-B757-AB8C48ED97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6477000"/>
            <a:ext cx="3143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r">
              <a:defRPr sz="750" b="0">
                <a:solidFill>
                  <a:srgbClr val="7D8A94"/>
                </a:solidFill>
              </a:defRPr>
            </a:defPPr>
          </a:lstStyle>
          <a:p xmlns:a="http://schemas.openxmlformats.org/drawingml/2006/main">
            <a:pPr algn="r">
              <a:defRPr sz="750" b="0">
                <a:solidFill>
                  <a:srgbClr val="7D8A94"/>
                </a:solidFill>
              </a:defRPr>
            </a:pPr>
            <a:r>
              <a:rPr sz="750" b="0">
                <a:solidFill>
                  <a:srgbClr val="7D8A94"/>
                </a:solidFill>
              </a:rPr>
              <a:t>Emmanuel Cardozo · Octubre 2026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56828E6-ABE8-4ABA-8D86-DB112BAE0A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714500"/>
            <a:ext cx="2095500" cy="2381250"/>
          </a:xfrm>
          <a:prstGeom xmlns:a="http://schemas.openxmlformats.org/drawingml/2006/main" prst="roundRect">
            <a:avLst>
              <a:gd name="adj" fmla="val 3636"/>
            </a:avLst>
          </a:prstGeom>
          <a:solidFill xmlns:a="http://schemas.openxmlformats.org/drawingml/2006/main">
            <a:srgbClr val="EDF3F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6F84B4B-8C18-4242-8523-E096E0B95D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952625"/>
            <a:ext cx="17526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1500" b="1">
                <a:solidFill>
                  <a:srgbClr val="0B1F33"/>
                </a:solidFill>
              </a:defRPr>
            </a:defPPr>
          </a:lstStyle>
          <a:p xmlns:a="http://schemas.openxmlformats.org/drawingml/2006/main">
            <a:pPr algn="ctr">
              <a:defRPr sz="1500" b="1">
                <a:solidFill>
                  <a:srgbClr val="0B1F33"/>
                </a:solidFill>
              </a:defRPr>
            </a:pPr>
            <a:r>
              <a:rPr sz="1500" b="1">
                <a:solidFill>
                  <a:srgbClr val="0B1F33"/>
                </a:solidFill>
              </a:rPr>
              <a:t>Imagen ecográfica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24ED76E-F359-4536-BDAD-1478DF4D29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571750"/>
            <a:ext cx="17526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1350" b="0">
                <a:solidFill>
                  <a:srgbClr val="142433"/>
                </a:solidFill>
              </a:defRPr>
            </a:defPPr>
          </a:lstStyle>
          <a:p xmlns:a="http://schemas.openxmlformats.org/drawingml/2006/main">
            <a:pPr algn="ctr">
              <a:defRPr sz="1350" b="0">
                <a:solidFill>
                  <a:srgbClr val="142433"/>
                </a:solidFill>
              </a:defRPr>
            </a:pPr>
            <a:r>
              <a:rPr sz="1350" b="0">
                <a:solidFill>
                  <a:srgbClr val="142433"/>
                </a:solidFill>
              </a:rPr>
              <a:t>Escala de grises</a:t>
            </a:r>
          </a:p>
          <a:p xmlns:a="http://schemas.openxmlformats.org/drawingml/2006/main">
            <a:pPr algn="ctr">
              <a:defRPr sz="1350" b="0">
                <a:solidFill>
                  <a:srgbClr val="142433"/>
                </a:solidFill>
              </a:defRPr>
            </a:pPr>
            <a:r>
              <a:rPr sz="1350" b="0">
                <a:solidFill>
                  <a:srgbClr val="142433"/>
                </a:solidFill>
              </a:rPr>
              <a:t>Lesión ya localizada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B256DB1-928E-48E9-9DB4-FCE84DE665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0350" y="2428875"/>
            <a:ext cx="3429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3150" b="1">
                <a:solidFill>
                  <a:srgbClr val="E69A43"/>
                </a:solidFill>
              </a:defRPr>
            </a:defPPr>
          </a:lstStyle>
          <a:p xmlns:a="http://schemas.openxmlformats.org/drawingml/2006/main">
            <a:pPr algn="ctr">
              <a:defRPr sz="3150" b="1">
                <a:solidFill>
                  <a:srgbClr val="E69A43"/>
                </a:solidFill>
              </a:defRPr>
            </a:pPr>
            <a:r>
              <a:rPr sz="3150" b="1">
                <a:solidFill>
                  <a:srgbClr val="E69A43"/>
                </a:solidFill>
              </a:rPr>
              <a:t>›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71D6804-3260-4F30-A030-374F599D46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1714500"/>
            <a:ext cx="2095500" cy="2381250"/>
          </a:xfrm>
          <a:prstGeom xmlns:a="http://schemas.openxmlformats.org/drawingml/2006/main" prst="roundRect">
            <a:avLst>
              <a:gd name="adj" fmla="val 3636"/>
            </a:avLst>
          </a:prstGeom>
          <a:solidFill xmlns:a="http://schemas.openxmlformats.org/drawingml/2006/main">
            <a:srgbClr val="EDF3F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FF85560-C8D3-4D92-99A5-8C6CF5E706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1952625"/>
            <a:ext cx="17526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1500" b="1">
                <a:solidFill>
                  <a:srgbClr val="0B1F33"/>
                </a:solidFill>
              </a:defRPr>
            </a:defPPr>
          </a:lstStyle>
          <a:p xmlns:a="http://schemas.openxmlformats.org/drawingml/2006/main">
            <a:pPr algn="ctr">
              <a:defRPr sz="1500" b="1">
                <a:solidFill>
                  <a:srgbClr val="0B1F33"/>
                </a:solidFill>
              </a:defRPr>
            </a:pPr>
            <a:r>
              <a:rPr sz="1500" b="1">
                <a:solidFill>
                  <a:srgbClr val="0B1F33"/>
                </a:solidFill>
              </a:rPr>
              <a:t>Preprocesamiento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E4908C1-2F73-4B35-B40C-98A6592891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2571750"/>
            <a:ext cx="17526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1350" b="0">
                <a:solidFill>
                  <a:srgbClr val="142433"/>
                </a:solidFill>
              </a:defRPr>
            </a:defPPr>
          </a:lstStyle>
          <a:p xmlns:a="http://schemas.openxmlformats.org/drawingml/2006/main">
            <a:pPr algn="ctr">
              <a:defRPr sz="1350" b="0">
                <a:solidFill>
                  <a:srgbClr val="142433"/>
                </a:solidFill>
              </a:defRPr>
            </a:pPr>
            <a:r>
              <a:rPr sz="1350" b="0">
                <a:solidFill>
                  <a:srgbClr val="142433"/>
                </a:solidFill>
              </a:rPr>
              <a:t>Padding sin deformar</a:t>
            </a:r>
          </a:p>
          <a:p xmlns:a="http://schemas.openxmlformats.org/drawingml/2006/main">
            <a:pPr algn="ctr">
              <a:defRPr sz="1350" b="0">
                <a:solidFill>
                  <a:srgbClr val="142433"/>
                </a:solidFill>
              </a:defRPr>
            </a:pPr>
            <a:r>
              <a:rPr sz="1350" b="0">
                <a:solidFill>
                  <a:srgbClr val="142433"/>
                </a:solidFill>
              </a:rPr>
              <a:t>224 × 224 px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33FB015-B4BD-418D-8012-8F486AD500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76850" y="2428875"/>
            <a:ext cx="3429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3150" b="1">
                <a:solidFill>
                  <a:srgbClr val="E69A43"/>
                </a:solidFill>
              </a:defRPr>
            </a:defPPr>
          </a:lstStyle>
          <a:p xmlns:a="http://schemas.openxmlformats.org/drawingml/2006/main">
            <a:pPr algn="ctr">
              <a:defRPr sz="3150" b="1">
                <a:solidFill>
                  <a:srgbClr val="E69A43"/>
                </a:solidFill>
              </a:defRPr>
            </a:pPr>
            <a:r>
              <a:rPr sz="3150" b="1">
                <a:solidFill>
                  <a:srgbClr val="E69A43"/>
                </a:solidFill>
              </a:rPr>
              <a:t>›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C170DB2-850A-432B-B2FD-703BD09058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1714500"/>
            <a:ext cx="2095500" cy="2381250"/>
          </a:xfrm>
          <a:prstGeom xmlns:a="http://schemas.openxmlformats.org/drawingml/2006/main" prst="roundRect">
            <a:avLst>
              <a:gd name="adj" fmla="val 3636"/>
            </a:avLst>
          </a:prstGeom>
          <a:solidFill xmlns:a="http://schemas.openxmlformats.org/drawingml/2006/main">
            <a:srgbClr val="DDEAF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EA75EED-5A82-4F93-A448-53978BE39D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91200" y="1952625"/>
            <a:ext cx="17526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1500" b="1">
                <a:solidFill>
                  <a:srgbClr val="0B1F33"/>
                </a:solidFill>
              </a:defRPr>
            </a:defPPr>
          </a:lstStyle>
          <a:p xmlns:a="http://schemas.openxmlformats.org/drawingml/2006/main">
            <a:pPr algn="ctr">
              <a:defRPr sz="1500" b="1">
                <a:solidFill>
                  <a:srgbClr val="0B1F33"/>
                </a:solidFill>
              </a:defRPr>
            </a:pPr>
            <a:r>
              <a:rPr sz="1500" b="1">
                <a:solidFill>
                  <a:srgbClr val="0B1F33"/>
                </a:solidFill>
              </a:rPr>
              <a:t>EfficientNet-B0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71EE560-7FD2-4931-903E-029204942D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91200" y="2571750"/>
            <a:ext cx="17526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1350" b="0">
                <a:solidFill>
                  <a:srgbClr val="142433"/>
                </a:solidFill>
              </a:defRPr>
            </a:defPPr>
          </a:lstStyle>
          <a:p xmlns:a="http://schemas.openxmlformats.org/drawingml/2006/main">
            <a:pPr algn="ctr">
              <a:defRPr sz="1350" b="0">
                <a:solidFill>
                  <a:srgbClr val="142433"/>
                </a:solidFill>
              </a:defRPr>
            </a:pPr>
            <a:r>
              <a:rPr sz="1350" b="0">
                <a:solidFill>
                  <a:srgbClr val="142433"/>
                </a:solidFill>
              </a:rPr>
              <a:t>Transfer learning</a:t>
            </a:r>
          </a:p>
          <a:p xmlns:a="http://schemas.openxmlformats.org/drawingml/2006/main">
            <a:pPr algn="ctr">
              <a:defRPr sz="1350" b="0">
                <a:solidFill>
                  <a:srgbClr val="142433"/>
                </a:solidFill>
              </a:defRPr>
            </a:pPr>
            <a:r>
              <a:rPr sz="1350" b="0">
                <a:solidFill>
                  <a:srgbClr val="142433"/>
                </a:solidFill>
              </a:rPr>
              <a:t>Ajuste fino progresivo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C8445AD-1F48-4BD4-918D-607E73D68E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53350" y="2428875"/>
            <a:ext cx="3429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3150" b="1">
                <a:solidFill>
                  <a:srgbClr val="E69A43"/>
                </a:solidFill>
              </a:defRPr>
            </a:defPPr>
          </a:lstStyle>
          <a:p xmlns:a="http://schemas.openxmlformats.org/drawingml/2006/main">
            <a:pPr algn="ctr">
              <a:defRPr sz="3150" b="1">
                <a:solidFill>
                  <a:srgbClr val="E69A43"/>
                </a:solidFill>
              </a:defRPr>
            </a:pPr>
            <a:r>
              <a:rPr sz="3150" b="1">
                <a:solidFill>
                  <a:srgbClr val="E69A43"/>
                </a:solidFill>
              </a:rPr>
              <a:t>›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06E2CFB-13EB-4A53-AD19-276E3EA25C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1714500"/>
            <a:ext cx="2095500" cy="2381250"/>
          </a:xfrm>
          <a:prstGeom xmlns:a="http://schemas.openxmlformats.org/drawingml/2006/main" prst="roundRect">
            <a:avLst>
              <a:gd name="adj" fmla="val 3636"/>
            </a:avLst>
          </a:prstGeom>
          <a:solidFill xmlns:a="http://schemas.openxmlformats.org/drawingml/2006/main">
            <a:srgbClr val="EDF3F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A6F6906-63C3-474F-8936-D01169BD6A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1952625"/>
            <a:ext cx="17526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1500" b="1">
                <a:solidFill>
                  <a:srgbClr val="0B1F33"/>
                </a:solidFill>
              </a:defRPr>
            </a:defPPr>
          </a:lstStyle>
          <a:p xmlns:a="http://schemas.openxmlformats.org/drawingml/2006/main">
            <a:pPr algn="ctr">
              <a:defRPr sz="1500" b="1">
                <a:solidFill>
                  <a:srgbClr val="0B1F33"/>
                </a:solidFill>
              </a:defRPr>
            </a:pPr>
            <a:r>
              <a:rPr sz="1500" b="1">
                <a:solidFill>
                  <a:srgbClr val="0B1F33"/>
                </a:solidFill>
              </a:rPr>
              <a:t>Puntuación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843B5EF-5A30-479D-840A-D1EF140B7E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2571750"/>
            <a:ext cx="17526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1350" b="0">
                <a:solidFill>
                  <a:srgbClr val="142433"/>
                </a:solidFill>
              </a:defRPr>
            </a:defPPr>
          </a:lstStyle>
          <a:p xmlns:a="http://schemas.openxmlformats.org/drawingml/2006/main">
            <a:pPr algn="ctr">
              <a:defRPr sz="1350" b="0">
                <a:solidFill>
                  <a:srgbClr val="142433"/>
                </a:solidFill>
              </a:defRPr>
            </a:pPr>
            <a:r>
              <a:rPr sz="1350" b="0">
                <a:solidFill>
                  <a:srgbClr val="142433"/>
                </a:solidFill>
              </a:rPr>
              <a:t>Probabilidad de malignidad</a:t>
            </a:r>
          </a:p>
          <a:p xmlns:a="http://schemas.openxmlformats.org/drawingml/2006/main">
            <a:pPr algn="ctr">
              <a:defRPr sz="1350" b="0">
                <a:solidFill>
                  <a:srgbClr val="142433"/>
                </a:solidFill>
              </a:defRPr>
            </a:pPr>
            <a:r>
              <a:rPr sz="1350" b="0">
                <a:solidFill>
                  <a:srgbClr val="142433"/>
                </a:solidFill>
              </a:rPr>
              <a:t>Umbral 0,5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F2BC82C-7AC1-482F-95A3-713EE443E8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0" y="1714500"/>
            <a:ext cx="904875" cy="2381250"/>
          </a:xfrm>
          <a:prstGeom xmlns:a="http://schemas.openxmlformats.org/drawingml/2006/main" prst="roundRect">
            <a:avLst>
              <a:gd name="adj" fmla="val 8421"/>
            </a:avLst>
          </a:prstGeom>
          <a:solidFill xmlns:a="http://schemas.openxmlformats.org/drawingml/2006/main">
            <a:srgbClr val="0B1F3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048C735-C4EB-4AFF-BE5B-1D70FF76E4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39425" y="2095500"/>
            <a:ext cx="5715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1800" b="1">
                <a:solidFill>
                  <a:srgbClr val="FFFFFF"/>
                </a:solidFill>
              </a:defRPr>
            </a:defPPr>
          </a:lstStyle>
          <a:p xmlns:a="http://schemas.openxmlformats.org/drawingml/2006/main">
            <a:pPr algn="ctr">
              <a:defRPr sz="1800" b="1">
                <a:solidFill>
                  <a:srgbClr val="FFFFFF"/>
                </a:solidFill>
              </a:defRPr>
            </a:pPr>
            <a:r>
              <a:rPr sz="1800" b="1">
                <a:solidFill>
                  <a:srgbClr val="FFFFFF"/>
                </a:solidFill>
              </a:rPr>
              <a:t>0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956F4C9-D2D6-46B9-A067-DE7B540D99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39425" y="3286125"/>
            <a:ext cx="5715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1800" b="1">
                <a:solidFill>
                  <a:srgbClr val="FFFFFF"/>
                </a:solidFill>
              </a:defRPr>
            </a:defPPr>
          </a:lstStyle>
          <a:p xmlns:a="http://schemas.openxmlformats.org/drawingml/2006/main">
            <a:pPr algn="ctr">
              <a:defRPr sz="1800" b="1">
                <a:solidFill>
                  <a:srgbClr val="FFFFFF"/>
                </a:solidFill>
              </a:defRPr>
            </a:pPr>
            <a:r>
              <a:rPr sz="1800" b="1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953FC88D-40B0-455A-ADF8-F5265769DE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29925" y="2543175"/>
            <a:ext cx="190500" cy="571500"/>
          </a:xfrm>
          <a:prstGeom xmlns:a="http://schemas.openxmlformats.org/drawingml/2006/main" prst="roundRect">
            <a:avLst>
              <a:gd name="adj" fmla="val 40000"/>
            </a:avLst>
          </a:prstGeom>
          <a:solidFill xmlns:a="http://schemas.openxmlformats.org/drawingml/2006/main">
            <a:srgbClr val="E69A4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20E737AD-1F79-4738-B9DD-B38D6A0502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4762500"/>
            <a:ext cx="9906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1650" b="1">
                <a:solidFill>
                  <a:srgbClr val="C95555"/>
                </a:solidFill>
              </a:defRPr>
            </a:defPPr>
          </a:lstStyle>
          <a:p xmlns:a="http://schemas.openxmlformats.org/drawingml/2006/main">
            <a:pPr algn="ctr">
              <a:defRPr sz="1650" b="1">
                <a:solidFill>
                  <a:srgbClr val="C95555"/>
                </a:solidFill>
              </a:defRPr>
            </a:pPr>
            <a:r>
              <a:rPr sz="1650" b="1">
                <a:solidFill>
                  <a:srgbClr val="C95555"/>
                </a:solidFill>
              </a:rPr>
              <a:t>Salida binaria para el experimento. No constituye una recomendación clínica autónoma.</a:t>
            </a:r>
          </a:p>
        </p:txBody>
      </p:sp>
    </p:spTree>
    <p:extLst>
      <p:ext uri="{BB962C8B-B14F-4D97-AF65-F5344CB8AC3E}">
        <p14:creationId xmlns:p14="http://schemas.microsoft.com/office/powerpoint/2010/main" val="1438434971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6D746A1-09BD-4773-997E-0028C3CC89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23850"/>
            <a:ext cx="10287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2400" b="1">
                <a:solidFill>
                  <a:srgbClr val="0B1F33"/>
                </a:solidFill>
              </a:defRPr>
            </a:defPPr>
          </a:lstStyle>
          <a:p xmlns:a="http://schemas.openxmlformats.org/drawingml/2006/main">
            <a:pPr algn="l">
              <a:defRPr sz="2400" b="1">
                <a:solidFill>
                  <a:srgbClr val="0B1F33"/>
                </a:solidFill>
              </a:defRPr>
            </a:pPr>
            <a:r>
              <a:rPr sz="2400" b="1">
                <a:solidFill>
                  <a:srgbClr val="0B1F33"/>
                </a:solidFill>
              </a:rPr>
              <a:t>Entrenamiento y selección del modelo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7C34E51-292E-4A2A-89D9-2ECE9037A8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96625" y="400050"/>
            <a:ext cx="5238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r">
              <a:defRPr sz="1050" b="1">
                <a:solidFill>
                  <a:srgbClr val="2F6F8F"/>
                </a:solidFill>
              </a:defRPr>
            </a:defPPr>
          </a:lstStyle>
          <a:p xmlns:a="http://schemas.openxmlformats.org/drawingml/2006/main">
            <a:pPr algn="r">
              <a:defRPr sz="1050" b="1">
                <a:solidFill>
                  <a:srgbClr val="2F6F8F"/>
                </a:solidFill>
              </a:defRPr>
            </a:pPr>
            <a:r>
              <a:rPr sz="1050" b="1">
                <a:solidFill>
                  <a:srgbClr val="2F6F8F"/>
                </a:solidFill>
              </a:rPr>
              <a:t>06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00C3A31-7B89-43DF-9208-3BCA611741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895350"/>
            <a:ext cx="11049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E0E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3BDECE3-4BC5-4038-B622-BBD69A64D8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477000"/>
            <a:ext cx="4953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750" b="0">
                <a:solidFill>
                  <a:srgbClr val="7D8A94"/>
                </a:solidFill>
              </a:defRPr>
            </a:defPPr>
          </a:lstStyle>
          <a:p xmlns:a="http://schemas.openxmlformats.org/drawingml/2006/main">
            <a:pPr algn="l">
              <a:defRPr sz="750" b="0">
                <a:solidFill>
                  <a:srgbClr val="7D8A94"/>
                </a:solidFill>
              </a:defRPr>
            </a:pPr>
            <a:r>
              <a:rPr sz="750" b="0">
                <a:solidFill>
                  <a:srgbClr val="7D8A94"/>
                </a:solidFill>
              </a:rPr>
              <a:t>Fundamentos de Medicina y Aplicaciones de IA · FIUBA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88A67D8-6EE0-4D4F-97C0-A62937771E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6477000"/>
            <a:ext cx="3143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r">
              <a:defRPr sz="750" b="0">
                <a:solidFill>
                  <a:srgbClr val="7D8A94"/>
                </a:solidFill>
              </a:defRPr>
            </a:defPPr>
          </a:lstStyle>
          <a:p xmlns:a="http://schemas.openxmlformats.org/drawingml/2006/main">
            <a:pPr algn="r">
              <a:defRPr sz="750" b="0">
                <a:solidFill>
                  <a:srgbClr val="7D8A94"/>
                </a:solidFill>
              </a:defRPr>
            </a:pPr>
            <a:r>
              <a:rPr sz="750" b="0">
                <a:solidFill>
                  <a:srgbClr val="7D8A94"/>
                </a:solidFill>
              </a:rPr>
              <a:t>Emmanuel Cardozo · Octubre 2026</a:t>
            </a:r>
          </a:p>
        </p:txBody>
      </p:sp>
      <p:pic>
        <p:nvPic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D9191A4-F684-4F4F-812B-3E85E7CB741E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b918f485a824eba"/>
          <a:stretch xmlns:a="http://schemas.openxmlformats.org/drawingml/2006/main"/>
        </p:blipFill>
        <p:spPr>
          <a:xfrm xmlns:a="http://schemas.openxmlformats.org/drawingml/2006/main">
            <a:off x="571500" y="2115116"/>
            <a:ext cx="8096250" cy="2627768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902808B-3912-4B59-B308-3762535578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1381125"/>
            <a:ext cx="2428875" cy="1190625"/>
          </a:xfrm>
          <a:prstGeom xmlns:a="http://schemas.openxmlformats.org/drawingml/2006/main" prst="roundRect">
            <a:avLst>
              <a:gd name="adj" fmla="val 6400"/>
            </a:avLst>
          </a:prstGeom>
          <a:solidFill xmlns:a="http://schemas.openxmlformats.org/drawingml/2006/main">
            <a:srgbClr val="0B1F3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B0615B5-4E58-421A-917E-CE1B0BB88F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1524000"/>
            <a:ext cx="204787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3150" b="1">
                <a:solidFill>
                  <a:srgbClr val="FFFFFF"/>
                </a:solidFill>
              </a:defRPr>
            </a:defPPr>
          </a:lstStyle>
          <a:p xmlns:a="http://schemas.openxmlformats.org/drawingml/2006/main">
            <a:pPr algn="ctr">
              <a:defRPr sz="3150" b="1">
                <a:solidFill>
                  <a:srgbClr val="FFFFFF"/>
                </a:solidFill>
              </a:defRPr>
            </a:pPr>
            <a:r>
              <a:rPr sz="3150" b="1">
                <a:solidFill>
                  <a:srgbClr val="FFFFFF"/>
                </a:solidFill>
              </a:rPr>
              <a:t>0,852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648C180-0179-45B6-B4C1-4360EC4FD7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2095500"/>
            <a:ext cx="204787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1200" b="0">
                <a:solidFill>
                  <a:srgbClr val="BDD4DE"/>
                </a:solidFill>
              </a:defRPr>
            </a:defPPr>
          </a:lstStyle>
          <a:p xmlns:a="http://schemas.openxmlformats.org/drawingml/2006/main">
            <a:pPr algn="ctr">
              <a:defRPr sz="1200" b="0">
                <a:solidFill>
                  <a:srgbClr val="BDD4DE"/>
                </a:solidFill>
              </a:defRPr>
            </a:pPr>
            <a:r>
              <a:rPr sz="1200" b="0">
                <a:solidFill>
                  <a:srgbClr val="BDD4DE"/>
                </a:solidFill>
              </a:rPr>
              <a:t>AUC de validación</a:t>
            </a:r>
          </a:p>
          <a:p xmlns:a="http://schemas.openxmlformats.org/drawingml/2006/main">
            <a:pPr algn="ctr">
              <a:defRPr sz="1200" b="0">
                <a:solidFill>
                  <a:srgbClr val="BDD4DE"/>
                </a:solidFill>
              </a:defRPr>
            </a:pPr>
            <a:r>
              <a:rPr sz="1200" b="0">
                <a:solidFill>
                  <a:srgbClr val="BDD4DE"/>
                </a:solidFill>
              </a:rPr>
              <a:t>en época 20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FA97099-25FB-44E5-B39F-39627B37C8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2809875"/>
            <a:ext cx="2428875" cy="1190625"/>
          </a:xfrm>
          <a:prstGeom xmlns:a="http://schemas.openxmlformats.org/drawingml/2006/main" prst="roundRect">
            <a:avLst>
              <a:gd name="adj" fmla="val 6400"/>
            </a:avLst>
          </a:prstGeom>
          <a:solidFill xmlns:a="http://schemas.openxmlformats.org/drawingml/2006/main">
            <a:srgbClr val="2F6F8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D0AF733-6B85-439E-A683-CFEEE258C1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2952750"/>
            <a:ext cx="204787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3150" b="1">
                <a:solidFill>
                  <a:srgbClr val="FFFFFF"/>
                </a:solidFill>
              </a:defRPr>
            </a:defPPr>
          </a:lstStyle>
          <a:p xmlns:a="http://schemas.openxmlformats.org/drawingml/2006/main">
            <a:pPr algn="ctr">
              <a:defRPr sz="3150" b="1">
                <a:solidFill>
                  <a:srgbClr val="FFFFFF"/>
                </a:solidFill>
              </a:defRPr>
            </a:pPr>
            <a:r>
              <a:rPr sz="3150" b="1">
                <a:solidFill>
                  <a:srgbClr val="FFFFFF"/>
                </a:solidFill>
              </a:rPr>
              <a:t>0,796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6CDE925-217A-4090-B83B-F8107F6FDF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3524250"/>
            <a:ext cx="204787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1200" b="0">
                <a:solidFill>
                  <a:srgbClr val="FFFFFF"/>
                </a:solidFill>
              </a:defRPr>
            </a:defPPr>
          </a:lstStyle>
          <a:p xmlns:a="http://schemas.openxmlformats.org/drawingml/2006/main">
            <a:pPr algn="ctr">
              <a:defRPr sz="1200" b="0">
                <a:solidFill>
                  <a:srgbClr val="FFFFFF"/>
                </a:solidFill>
              </a:defRPr>
            </a:pPr>
            <a:r>
              <a:rPr sz="1200" b="0">
                <a:solidFill>
                  <a:srgbClr val="FFFFFF"/>
                </a:solidFill>
              </a:rPr>
              <a:t>Average precision</a:t>
            </a:r>
          </a:p>
          <a:p xmlns:a="http://schemas.openxmlformats.org/drawingml/2006/main">
            <a:pPr algn="ctr">
              <a:defRPr sz="1200" b="0">
                <a:solidFill>
                  <a:srgbClr val="FFFFFF"/>
                </a:solidFill>
              </a:defRPr>
            </a:pPr>
            <a:r>
              <a:rPr sz="1200" b="0">
                <a:solidFill>
                  <a:srgbClr val="FFFFFF"/>
                </a:solidFill>
              </a:rPr>
              <a:t>en época 20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3220DD6-3C6E-472E-9708-D12CFF8977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01125" y="4333875"/>
            <a:ext cx="2333625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275" b="1">
                <a:solidFill>
                  <a:srgbClr val="142433"/>
                </a:solidFill>
              </a:defRPr>
            </a:defPPr>
          </a:lstStyle>
          <a:p xmlns:a="http://schemas.openxmlformats.org/drawingml/2006/main">
            <a:pPr algn="l">
              <a:defRPr sz="1275" b="1">
                <a:solidFill>
                  <a:srgbClr val="142433"/>
                </a:solidFill>
              </a:defRPr>
            </a:pPr>
            <a:r>
              <a:rPr sz="1275" b="1">
                <a:solidFill>
                  <a:srgbClr val="142433"/>
                </a:solidFill>
              </a:rPr>
              <a:t>La pérdida de validación alcanza su mínimo alrededor de la época 11 y luego aumenta: señal de sobreajuste que debe discutirse.</a:t>
            </a:r>
          </a:p>
        </p:txBody>
      </p:sp>
    </p:spTree>
    <p:extLst>
      <p:ext uri="{BB962C8B-B14F-4D97-AF65-F5344CB8AC3E}">
        <p14:creationId xmlns:p14="http://schemas.microsoft.com/office/powerpoint/2010/main" val="322281869"/>
      </p:ext>
    </p:extLst>
  </p:cSld>
</p:sld>
</file>

<file path=ppt/slides/slide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D46F6E2-3213-4B5F-BF0B-CE1D1A741D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23850"/>
            <a:ext cx="10287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2400" b="1">
                <a:solidFill>
                  <a:srgbClr val="0B1F33"/>
                </a:solidFill>
              </a:defRPr>
            </a:defPPr>
          </a:lstStyle>
          <a:p xmlns:a="http://schemas.openxmlformats.org/drawingml/2006/main">
            <a:pPr algn="l">
              <a:defRPr sz="2400" b="1">
                <a:solidFill>
                  <a:srgbClr val="0B1F33"/>
                </a:solidFill>
              </a:defRPr>
            </a:pPr>
            <a:r>
              <a:rPr sz="2400" b="1">
                <a:solidFill>
                  <a:srgbClr val="0B1F33"/>
                </a:solidFill>
              </a:rPr>
              <a:t>Desempeño en el conjunto de prueba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43533EE-0B84-4580-AF3E-C7B800ACC7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96625" y="400050"/>
            <a:ext cx="5238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r">
              <a:defRPr sz="1050" b="1">
                <a:solidFill>
                  <a:srgbClr val="2F6F8F"/>
                </a:solidFill>
              </a:defRPr>
            </a:defPPr>
          </a:lstStyle>
          <a:p xmlns:a="http://schemas.openxmlformats.org/drawingml/2006/main">
            <a:pPr algn="r">
              <a:defRPr sz="1050" b="1">
                <a:solidFill>
                  <a:srgbClr val="2F6F8F"/>
                </a:solidFill>
              </a:defRPr>
            </a:pPr>
            <a:r>
              <a:rPr sz="1050" b="1">
                <a:solidFill>
                  <a:srgbClr val="2F6F8F"/>
                </a:solidFill>
              </a:rPr>
              <a:t>07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2E13D23-914E-42B5-8525-AD7ED0E418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895350"/>
            <a:ext cx="11049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E0E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E4EF813-4C63-427B-AA85-C82D79AA28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477000"/>
            <a:ext cx="4953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750" b="0">
                <a:solidFill>
                  <a:srgbClr val="7D8A94"/>
                </a:solidFill>
              </a:defRPr>
            </a:defPPr>
          </a:lstStyle>
          <a:p xmlns:a="http://schemas.openxmlformats.org/drawingml/2006/main">
            <a:pPr algn="l">
              <a:defRPr sz="750" b="0">
                <a:solidFill>
                  <a:srgbClr val="7D8A94"/>
                </a:solidFill>
              </a:defRPr>
            </a:pPr>
            <a:r>
              <a:rPr sz="750" b="0">
                <a:solidFill>
                  <a:srgbClr val="7D8A94"/>
                </a:solidFill>
              </a:rPr>
              <a:t>Fundamentos de Medicina y Aplicaciones de IA · FIUBA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77915F5-A82B-4176-82DF-F6DEB71F95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6477000"/>
            <a:ext cx="3143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r">
              <a:defRPr sz="750" b="0">
                <a:solidFill>
                  <a:srgbClr val="7D8A94"/>
                </a:solidFill>
              </a:defRPr>
            </a:defPPr>
          </a:lstStyle>
          <a:p xmlns:a="http://schemas.openxmlformats.org/drawingml/2006/main">
            <a:pPr algn="r">
              <a:defRPr sz="750" b="0">
                <a:solidFill>
                  <a:srgbClr val="7D8A94"/>
                </a:solidFill>
              </a:defRPr>
            </a:pPr>
            <a:r>
              <a:rPr sz="750" b="0">
                <a:solidFill>
                  <a:srgbClr val="7D8A94"/>
                </a:solidFill>
              </a:rPr>
              <a:t>Emmanuel Cardozo · Octubre 2026</a:t>
            </a:r>
          </a:p>
        </p:txBody>
      </p:sp>
      <p:pic>
        <p:nvPic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290E7B9-10CA-4126-A997-E31359939E5B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2ae5dad9abe45e0"/>
          <a:stretch xmlns:a="http://schemas.openxmlformats.org/drawingml/2006/main"/>
        </p:blipFill>
        <p:spPr>
          <a:xfrm xmlns:a="http://schemas.openxmlformats.org/drawingml/2006/main">
            <a:off x="523875" y="1783965"/>
            <a:ext cx="7905750" cy="3290070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380787C-E80F-4869-9620-D9D07145D6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1285875"/>
            <a:ext cx="2667000" cy="1000125"/>
          </a:xfrm>
          <a:prstGeom xmlns:a="http://schemas.openxmlformats.org/drawingml/2006/main" prst="roundRect">
            <a:avLst>
              <a:gd name="adj" fmla="val 7619"/>
            </a:avLst>
          </a:prstGeom>
          <a:solidFill xmlns:a="http://schemas.openxmlformats.org/drawingml/2006/main">
            <a:srgbClr val="0B1F3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873FF6C-A93D-4EAE-B5E8-A3E583F919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1381125"/>
            <a:ext cx="2286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3000" b="1">
                <a:solidFill>
                  <a:srgbClr val="FFFFFF"/>
                </a:solidFill>
              </a:defRPr>
            </a:defPPr>
          </a:lstStyle>
          <a:p xmlns:a="http://schemas.openxmlformats.org/drawingml/2006/main">
            <a:pPr algn="ctr">
              <a:defRPr sz="3000" b="1">
                <a:solidFill>
                  <a:srgbClr val="FFFFFF"/>
                </a:solidFill>
              </a:defRPr>
            </a:pPr>
            <a:r>
              <a:rPr sz="3000" b="1">
                <a:solidFill>
                  <a:srgbClr val="FFFFFF"/>
                </a:solidFill>
              </a:rPr>
              <a:t>0,935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F5272BD-81FE-492D-9843-9CFBE1D1AE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1857375"/>
            <a:ext cx="2286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1200" b="1">
                <a:solidFill>
                  <a:srgbClr val="BDD4DE"/>
                </a:solidFill>
              </a:defRPr>
            </a:defPPr>
          </a:lstStyle>
          <a:p xmlns:a="http://schemas.openxmlformats.org/drawingml/2006/main">
            <a:pPr algn="ctr">
              <a:defRPr sz="1200" b="1">
                <a:solidFill>
                  <a:srgbClr val="BDD4DE"/>
                </a:solidFill>
              </a:defRPr>
            </a:pPr>
            <a:r>
              <a:rPr sz="1200" b="1">
                <a:solidFill>
                  <a:srgbClr val="BDD4DE"/>
                </a:solidFill>
              </a:rPr>
              <a:t>AUC-ROC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605E239-1A4C-492E-89E8-48FD9DC6BA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2476500"/>
            <a:ext cx="2667000" cy="1000125"/>
          </a:xfrm>
          <a:prstGeom xmlns:a="http://schemas.openxmlformats.org/drawingml/2006/main" prst="roundRect">
            <a:avLst>
              <a:gd name="adj" fmla="val 7619"/>
            </a:avLst>
          </a:prstGeom>
          <a:solidFill xmlns:a="http://schemas.openxmlformats.org/drawingml/2006/main">
            <a:srgbClr val="2F6F8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5C33F67-AD7F-4FE9-ABBA-8FF31063ED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2571750"/>
            <a:ext cx="2286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3000" b="1">
                <a:solidFill>
                  <a:srgbClr val="FFFFFF"/>
                </a:solidFill>
              </a:defRPr>
            </a:defPPr>
          </a:lstStyle>
          <a:p xmlns:a="http://schemas.openxmlformats.org/drawingml/2006/main">
            <a:pPr algn="ctr">
              <a:defRPr sz="3000" b="1">
                <a:solidFill>
                  <a:srgbClr val="FFFFFF"/>
                </a:solidFill>
              </a:defRPr>
            </a:pPr>
            <a:r>
              <a:rPr sz="3000" b="1">
                <a:solidFill>
                  <a:srgbClr val="FFFFFF"/>
                </a:solidFill>
              </a:rPr>
              <a:t>0,896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27B3374-FB70-4021-BF22-58CA2CC818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3048000"/>
            <a:ext cx="2286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1200" b="1">
                <a:solidFill>
                  <a:srgbClr val="FFFFFF"/>
                </a:solidFill>
              </a:defRPr>
            </a:defPPr>
          </a:lstStyle>
          <a:p xmlns:a="http://schemas.openxmlformats.org/drawingml/2006/main">
            <a:pPr algn="ctr">
              <a:defRPr sz="1200" b="1">
                <a:solidFill>
                  <a:srgbClr val="FFFFFF"/>
                </a:solidFill>
              </a:defRPr>
            </a:pPr>
            <a:r>
              <a:rPr sz="1200" b="1">
                <a:solidFill>
                  <a:srgbClr val="FFFFFF"/>
                </a:solidFill>
              </a:rPr>
              <a:t>Average precision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574B6F9-AA5C-4D5A-AACF-B004B498E1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3667125"/>
            <a:ext cx="2667000" cy="1476375"/>
          </a:xfrm>
          <a:prstGeom xmlns:a="http://schemas.openxmlformats.org/drawingml/2006/main" prst="roundRect">
            <a:avLst>
              <a:gd name="adj" fmla="val 5161"/>
            </a:avLst>
          </a:prstGeom>
          <a:solidFill xmlns:a="http://schemas.openxmlformats.org/drawingml/2006/main">
            <a:srgbClr val="FFF4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D372698-627E-438A-B861-2EB1CEDFCE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01125" y="3829050"/>
            <a:ext cx="2190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1650" b="1">
                <a:solidFill>
                  <a:srgbClr val="0B1F33"/>
                </a:solidFill>
              </a:defRPr>
            </a:defPPr>
          </a:lstStyle>
          <a:p xmlns:a="http://schemas.openxmlformats.org/drawingml/2006/main">
            <a:pPr algn="ctr">
              <a:defRPr sz="1650" b="1">
                <a:solidFill>
                  <a:srgbClr val="0B1F33"/>
                </a:solidFill>
              </a:defRPr>
            </a:pPr>
            <a:r>
              <a:rPr sz="1650" b="1">
                <a:solidFill>
                  <a:srgbClr val="0B1F33"/>
                </a:solidFill>
              </a:rPr>
              <a:t>376 imágenes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49A99EE-985E-4CF3-BF7B-D8F6F2DD42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01125" y="4191000"/>
            <a:ext cx="2190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1650" b="1">
                <a:solidFill>
                  <a:srgbClr val="0B1F33"/>
                </a:solidFill>
              </a:defRPr>
            </a:defPPr>
          </a:lstStyle>
          <a:p xmlns:a="http://schemas.openxmlformats.org/drawingml/2006/main">
            <a:pPr algn="ctr">
              <a:defRPr sz="1650" b="1">
                <a:solidFill>
                  <a:srgbClr val="0B1F33"/>
                </a:solidFill>
              </a:defRPr>
            </a:pPr>
            <a:r>
              <a:rPr sz="1650" b="1">
                <a:solidFill>
                  <a:srgbClr val="0B1F33"/>
                </a:solidFill>
              </a:rPr>
              <a:t>212 pacientes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B7D7A17-D46F-49F8-92D1-C08E16C95F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01125" y="4619625"/>
            <a:ext cx="2190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1200" b="0">
                <a:solidFill>
                  <a:srgbClr val="142433"/>
                </a:solidFill>
              </a:defRPr>
            </a:defPPr>
          </a:lstStyle>
          <a:p xmlns:a="http://schemas.openxmlformats.org/drawingml/2006/main">
            <a:pPr algn="ctr">
              <a:defRPr sz="1200" b="0">
                <a:solidFill>
                  <a:srgbClr val="142433"/>
                </a:solidFill>
              </a:defRPr>
            </a:pPr>
            <a:r>
              <a:rPr sz="1200" b="0">
                <a:solidFill>
                  <a:srgbClr val="142433"/>
                </a:solidFill>
              </a:rPr>
              <a:t>Prevalencia de malignidad: 32,4 %</a:t>
            </a:r>
          </a:p>
        </p:txBody>
      </p:sp>
    </p:spTree>
    <p:extLst>
      <p:ext uri="{BB962C8B-B14F-4D97-AF65-F5344CB8AC3E}">
        <p14:creationId xmlns:p14="http://schemas.microsoft.com/office/powerpoint/2010/main" val="1421517603"/>
      </p:ext>
    </p:extLst>
  </p:cSld>
</p:sld>
</file>

<file path=ppt/slides/slide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5EB02B0B-02FD-41AE-9D9B-18EA5A6A07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23850"/>
            <a:ext cx="10287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2400" b="1">
                <a:solidFill>
                  <a:srgbClr val="0B1F33"/>
                </a:solidFill>
              </a:defRPr>
            </a:defPPr>
          </a:lstStyle>
          <a:p xmlns:a="http://schemas.openxmlformats.org/drawingml/2006/main">
            <a:pPr algn="l">
              <a:defRPr sz="2400" b="1">
                <a:solidFill>
                  <a:srgbClr val="0B1F33"/>
                </a:solidFill>
              </a:defRPr>
            </a:pPr>
            <a:r>
              <a:rPr sz="2400" b="1">
                <a:solidFill>
                  <a:srgbClr val="0B1F33"/>
                </a:solidFill>
              </a:rPr>
              <a:t>Punto de operación con umbral 0,5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7CBCC63-9A93-4482-AA34-AF6B47D97D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96625" y="400050"/>
            <a:ext cx="5238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r">
              <a:defRPr sz="1050" b="1">
                <a:solidFill>
                  <a:srgbClr val="2F6F8F"/>
                </a:solidFill>
              </a:defRPr>
            </a:defPPr>
          </a:lstStyle>
          <a:p xmlns:a="http://schemas.openxmlformats.org/drawingml/2006/main">
            <a:pPr algn="r">
              <a:defRPr sz="1050" b="1">
                <a:solidFill>
                  <a:srgbClr val="2F6F8F"/>
                </a:solidFill>
              </a:defRPr>
            </a:pPr>
            <a:r>
              <a:rPr sz="1050" b="1">
                <a:solidFill>
                  <a:srgbClr val="2F6F8F"/>
                </a:solidFill>
              </a:rPr>
              <a:t>08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BD323F4-20BB-4F88-B604-E5C9FE9C79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895350"/>
            <a:ext cx="11049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E0E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D095431-B476-4AFA-B752-AB62CA6788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477000"/>
            <a:ext cx="4953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750" b="0">
                <a:solidFill>
                  <a:srgbClr val="7D8A94"/>
                </a:solidFill>
              </a:defRPr>
            </a:defPPr>
          </a:lstStyle>
          <a:p xmlns:a="http://schemas.openxmlformats.org/drawingml/2006/main">
            <a:pPr algn="l">
              <a:defRPr sz="750" b="0">
                <a:solidFill>
                  <a:srgbClr val="7D8A94"/>
                </a:solidFill>
              </a:defRPr>
            </a:pPr>
            <a:r>
              <a:rPr sz="750" b="0">
                <a:solidFill>
                  <a:srgbClr val="7D8A94"/>
                </a:solidFill>
              </a:rPr>
              <a:t>Fundamentos de Medicina y Aplicaciones de IA · FIUBA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B92DA18-9B96-4996-B904-55140F55F9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6477000"/>
            <a:ext cx="3143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r">
              <a:defRPr sz="750" b="0">
                <a:solidFill>
                  <a:srgbClr val="7D8A94"/>
                </a:solidFill>
              </a:defRPr>
            </a:defPPr>
          </a:lstStyle>
          <a:p xmlns:a="http://schemas.openxmlformats.org/drawingml/2006/main">
            <a:pPr algn="r">
              <a:defRPr sz="750" b="0">
                <a:solidFill>
                  <a:srgbClr val="7D8A94"/>
                </a:solidFill>
              </a:defRPr>
            </a:pPr>
            <a:r>
              <a:rPr sz="750" b="0">
                <a:solidFill>
                  <a:srgbClr val="7D8A94"/>
                </a:solidFill>
              </a:rPr>
              <a:t>Emmanuel Cardozo · Octubre 2026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39F56D6-D8EE-41E6-A70E-D5DA55D34F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143000"/>
            <a:ext cx="10668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875" b="1">
                <a:solidFill>
                  <a:srgbClr val="0B1F33"/>
                </a:solidFill>
              </a:defRPr>
            </a:defPPr>
          </a:lstStyle>
          <a:p xmlns:a="http://schemas.openxmlformats.org/drawingml/2006/main">
            <a:pPr algn="l">
              <a:defRPr sz="1875" b="1">
                <a:solidFill>
                  <a:srgbClr val="0B1F33"/>
                </a:solidFill>
              </a:defRPr>
            </a:pPr>
            <a:r>
              <a:rPr sz="1875" b="1">
                <a:solidFill>
                  <a:srgbClr val="0B1F33"/>
                </a:solidFill>
              </a:rPr>
              <a:t>El umbral convencional prioriza especificidad, pero deja 25 lesiones malignas como falsas negativas.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FC07AA2-D14C-42A4-B5B8-43BD0F0DC7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095500"/>
            <a:ext cx="2286000" cy="1381125"/>
          </a:xfrm>
          <a:prstGeom xmlns:a="http://schemas.openxmlformats.org/drawingml/2006/main" prst="roundRect">
            <a:avLst>
              <a:gd name="adj" fmla="val 5517"/>
            </a:avLst>
          </a:prstGeom>
          <a:solidFill xmlns:a="http://schemas.openxmlformats.org/drawingml/2006/main">
            <a:srgbClr val="E5F1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2032790-BA6A-4BC5-BFCA-328C1B8394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71875" y="2095500"/>
            <a:ext cx="2286000" cy="1381125"/>
          </a:xfrm>
          <a:prstGeom xmlns:a="http://schemas.openxmlformats.org/drawingml/2006/main" prst="roundRect">
            <a:avLst>
              <a:gd name="adj" fmla="val 5517"/>
            </a:avLst>
          </a:prstGeom>
          <a:solidFill xmlns:a="http://schemas.openxmlformats.org/drawingml/2006/main">
            <a:srgbClr val="FBEAE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56EBDA0-2DE6-4C54-A00E-77826B218C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3619500"/>
            <a:ext cx="2286000" cy="1381125"/>
          </a:xfrm>
          <a:prstGeom xmlns:a="http://schemas.openxmlformats.org/drawingml/2006/main" prst="roundRect">
            <a:avLst>
              <a:gd name="adj" fmla="val 5517"/>
            </a:avLst>
          </a:prstGeom>
          <a:solidFill xmlns:a="http://schemas.openxmlformats.org/drawingml/2006/main">
            <a:srgbClr val="FBEAE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923FA97-270C-43DE-8FA6-9980D94CDE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71875" y="3619500"/>
            <a:ext cx="2286000" cy="1381125"/>
          </a:xfrm>
          <a:prstGeom xmlns:a="http://schemas.openxmlformats.org/drawingml/2006/main" prst="roundRect">
            <a:avLst>
              <a:gd name="adj" fmla="val 5517"/>
            </a:avLst>
          </a:prstGeom>
          <a:solidFill xmlns:a="http://schemas.openxmlformats.org/drawingml/2006/main">
            <a:srgbClr val="E5F1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A3B1890-9EBC-4BBC-BA3F-AD2E9FE201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286000"/>
            <a:ext cx="2286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2850" b="1">
                <a:solidFill>
                  <a:srgbClr val="3E8D72"/>
                </a:solidFill>
              </a:defRPr>
            </a:defPPr>
          </a:lstStyle>
          <a:p xmlns:a="http://schemas.openxmlformats.org/drawingml/2006/main">
            <a:pPr algn="ctr">
              <a:defRPr sz="2850" b="1">
                <a:solidFill>
                  <a:srgbClr val="3E8D72"/>
                </a:solidFill>
              </a:defRPr>
            </a:pPr>
            <a:r>
              <a:rPr sz="2850" b="1">
                <a:solidFill>
                  <a:srgbClr val="3E8D72"/>
                </a:solidFill>
              </a:rPr>
              <a:t>230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BF535E7-F9F5-431D-85E5-6F1711F4ED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838450"/>
            <a:ext cx="2286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1200" b="1">
                <a:solidFill>
                  <a:srgbClr val="142433"/>
                </a:solidFill>
              </a:defRPr>
            </a:defPPr>
          </a:lstStyle>
          <a:p xmlns:a="http://schemas.openxmlformats.org/drawingml/2006/main">
            <a:pPr algn="ctr">
              <a:defRPr sz="1200" b="1">
                <a:solidFill>
                  <a:srgbClr val="142433"/>
                </a:solidFill>
              </a:defRPr>
            </a:pPr>
            <a:r>
              <a:rPr sz="1200" b="1">
                <a:solidFill>
                  <a:srgbClr val="142433"/>
                </a:solidFill>
              </a:rPr>
              <a:t>Verdaderos negativos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F503029-2AAE-4914-A3A7-95E38B9BE4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71875" y="2286000"/>
            <a:ext cx="2286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2850" b="1">
                <a:solidFill>
                  <a:srgbClr val="C95555"/>
                </a:solidFill>
              </a:defRPr>
            </a:defPPr>
          </a:lstStyle>
          <a:p xmlns:a="http://schemas.openxmlformats.org/drawingml/2006/main">
            <a:pPr algn="ctr">
              <a:defRPr sz="2850" b="1">
                <a:solidFill>
                  <a:srgbClr val="C95555"/>
                </a:solidFill>
              </a:defRPr>
            </a:pPr>
            <a:r>
              <a:rPr sz="2850" b="1">
                <a:solidFill>
                  <a:srgbClr val="C95555"/>
                </a:solidFill>
              </a:rPr>
              <a:t>24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439236B-5EB2-40AB-A6D0-4FF3B0F575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71875" y="2838450"/>
            <a:ext cx="2286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1200" b="1">
                <a:solidFill>
                  <a:srgbClr val="142433"/>
                </a:solidFill>
              </a:defRPr>
            </a:defPPr>
          </a:lstStyle>
          <a:p xmlns:a="http://schemas.openxmlformats.org/drawingml/2006/main">
            <a:pPr algn="ctr">
              <a:defRPr sz="1200" b="1">
                <a:solidFill>
                  <a:srgbClr val="142433"/>
                </a:solidFill>
              </a:defRPr>
            </a:pPr>
            <a:r>
              <a:rPr sz="1200" b="1">
                <a:solidFill>
                  <a:srgbClr val="142433"/>
                </a:solidFill>
              </a:rPr>
              <a:t>Falsos positivos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FE52A9D-C924-4974-8AEA-8A682A90E0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3810000"/>
            <a:ext cx="2286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2850" b="1">
                <a:solidFill>
                  <a:srgbClr val="C95555"/>
                </a:solidFill>
              </a:defRPr>
            </a:defPPr>
          </a:lstStyle>
          <a:p xmlns:a="http://schemas.openxmlformats.org/drawingml/2006/main">
            <a:pPr algn="ctr">
              <a:defRPr sz="2850" b="1">
                <a:solidFill>
                  <a:srgbClr val="C95555"/>
                </a:solidFill>
              </a:defRPr>
            </a:pPr>
            <a:r>
              <a:rPr sz="2850" b="1">
                <a:solidFill>
                  <a:srgbClr val="C95555"/>
                </a:solidFill>
              </a:rPr>
              <a:t>25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097E39B-620E-4ACD-AA31-44AE9273A0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4362450"/>
            <a:ext cx="2286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1200" b="1">
                <a:solidFill>
                  <a:srgbClr val="142433"/>
                </a:solidFill>
              </a:defRPr>
            </a:defPPr>
          </a:lstStyle>
          <a:p xmlns:a="http://schemas.openxmlformats.org/drawingml/2006/main">
            <a:pPr algn="ctr">
              <a:defRPr sz="1200" b="1">
                <a:solidFill>
                  <a:srgbClr val="142433"/>
                </a:solidFill>
              </a:defRPr>
            </a:pPr>
            <a:r>
              <a:rPr sz="1200" b="1">
                <a:solidFill>
                  <a:srgbClr val="142433"/>
                </a:solidFill>
              </a:rPr>
              <a:t>Falsos negativos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EAB8DE2-7803-4B13-90AC-622F4C587E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71875" y="3810000"/>
            <a:ext cx="2286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2850" b="1">
                <a:solidFill>
                  <a:srgbClr val="3E8D72"/>
                </a:solidFill>
              </a:defRPr>
            </a:defPPr>
          </a:lstStyle>
          <a:p xmlns:a="http://schemas.openxmlformats.org/drawingml/2006/main">
            <a:pPr algn="ctr">
              <a:defRPr sz="2850" b="1">
                <a:solidFill>
                  <a:srgbClr val="3E8D72"/>
                </a:solidFill>
              </a:defRPr>
            </a:pPr>
            <a:r>
              <a:rPr sz="2850" b="1">
                <a:solidFill>
                  <a:srgbClr val="3E8D72"/>
                </a:solidFill>
              </a:rPr>
              <a:t>97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0A23C8F-6BE4-4A21-9D2F-DA0BFBBF63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71875" y="4362450"/>
            <a:ext cx="2286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1200" b="1">
                <a:solidFill>
                  <a:srgbClr val="142433"/>
                </a:solidFill>
              </a:defRPr>
            </a:defPPr>
          </a:lstStyle>
          <a:p xmlns:a="http://schemas.openxmlformats.org/drawingml/2006/main">
            <a:pPr algn="ctr">
              <a:defRPr sz="1200" b="1">
                <a:solidFill>
                  <a:srgbClr val="142433"/>
                </a:solidFill>
              </a:defRPr>
            </a:pPr>
            <a:r>
              <a:rPr sz="1200" b="1">
                <a:solidFill>
                  <a:srgbClr val="142433"/>
                </a:solidFill>
              </a:rPr>
              <a:t>Verdaderos positivos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1D0EC18-00AA-4DEA-8A53-30ACDECC3E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2095500"/>
            <a:ext cx="4000500" cy="666750"/>
          </a:xfrm>
          <a:prstGeom xmlns:a="http://schemas.openxmlformats.org/drawingml/2006/main" prst="roundRect">
            <a:avLst>
              <a:gd name="adj" fmla="val 11429"/>
            </a:avLst>
          </a:prstGeom>
          <a:solidFill xmlns:a="http://schemas.openxmlformats.org/drawingml/2006/main">
            <a:srgbClr val="EDF3F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090B5B3-7A8B-4D6D-828F-F9B5D26834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96125" y="2190750"/>
            <a:ext cx="1809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275" b="1">
                <a:solidFill>
                  <a:srgbClr val="607080"/>
                </a:solidFill>
              </a:defRPr>
            </a:defPPr>
          </a:lstStyle>
          <a:p xmlns:a="http://schemas.openxmlformats.org/drawingml/2006/main">
            <a:pPr algn="l">
              <a:defRPr sz="1275" b="1">
                <a:solidFill>
                  <a:srgbClr val="607080"/>
                </a:solidFill>
              </a:defRPr>
            </a:pPr>
            <a:r>
              <a:rPr sz="1275" b="1">
                <a:solidFill>
                  <a:srgbClr val="607080"/>
                </a:solidFill>
              </a:rPr>
              <a:t>Sensibilidad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AD8E0D0-E8D4-49DD-B5F9-51A42713D7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2133600"/>
            <a:ext cx="1714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r">
              <a:defRPr sz="2250" b="1">
                <a:solidFill>
                  <a:srgbClr val="0B1F33"/>
                </a:solidFill>
              </a:defRPr>
            </a:defPPr>
          </a:lstStyle>
          <a:p xmlns:a="http://schemas.openxmlformats.org/drawingml/2006/main">
            <a:pPr algn="r">
              <a:defRPr sz="2250" b="1">
                <a:solidFill>
                  <a:srgbClr val="0B1F33"/>
                </a:solidFill>
              </a:defRPr>
            </a:pPr>
            <a:r>
              <a:rPr sz="2250" b="1">
                <a:solidFill>
                  <a:srgbClr val="0B1F33"/>
                </a:solidFill>
              </a:rPr>
              <a:t>79,5 %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70A95EF-61F2-48B7-B056-AA1B4E913E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2952750"/>
            <a:ext cx="4000500" cy="666750"/>
          </a:xfrm>
          <a:prstGeom xmlns:a="http://schemas.openxmlformats.org/drawingml/2006/main" prst="roundRect">
            <a:avLst>
              <a:gd name="adj" fmla="val 11429"/>
            </a:avLst>
          </a:prstGeom>
          <a:solidFill xmlns:a="http://schemas.openxmlformats.org/drawingml/2006/main">
            <a:srgbClr val="EDF3F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32B16D2-1958-4878-ACBB-3BF8833746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96125" y="3048000"/>
            <a:ext cx="1809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275" b="1">
                <a:solidFill>
                  <a:srgbClr val="607080"/>
                </a:solidFill>
              </a:defRPr>
            </a:defPPr>
          </a:lstStyle>
          <a:p xmlns:a="http://schemas.openxmlformats.org/drawingml/2006/main">
            <a:pPr algn="l">
              <a:defRPr sz="1275" b="1">
                <a:solidFill>
                  <a:srgbClr val="607080"/>
                </a:solidFill>
              </a:defRPr>
            </a:pPr>
            <a:r>
              <a:rPr sz="1275" b="1">
                <a:solidFill>
                  <a:srgbClr val="607080"/>
                </a:solidFill>
              </a:rPr>
              <a:t>Especificidad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2154BA48-9163-4691-8F06-C6A4E8C914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2990850"/>
            <a:ext cx="1714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r">
              <a:defRPr sz="2250" b="1">
                <a:solidFill>
                  <a:srgbClr val="0B1F33"/>
                </a:solidFill>
              </a:defRPr>
            </a:defPPr>
          </a:lstStyle>
          <a:p xmlns:a="http://schemas.openxmlformats.org/drawingml/2006/main">
            <a:pPr algn="r">
              <a:defRPr sz="2250" b="1">
                <a:solidFill>
                  <a:srgbClr val="0B1F33"/>
                </a:solidFill>
              </a:defRPr>
            </a:pPr>
            <a:r>
              <a:rPr sz="2250" b="1">
                <a:solidFill>
                  <a:srgbClr val="0B1F33"/>
                </a:solidFill>
              </a:rPr>
              <a:t>90,6 %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0A5CF601-3CB1-4940-B424-15F524B9EC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3810000"/>
            <a:ext cx="4000500" cy="666750"/>
          </a:xfrm>
          <a:prstGeom xmlns:a="http://schemas.openxmlformats.org/drawingml/2006/main" prst="roundRect">
            <a:avLst>
              <a:gd name="adj" fmla="val 11429"/>
            </a:avLst>
          </a:prstGeom>
          <a:solidFill xmlns:a="http://schemas.openxmlformats.org/drawingml/2006/main">
            <a:srgbClr val="EDF3F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A8783E8B-4196-44A2-890B-41DA686A78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96125" y="3905250"/>
            <a:ext cx="2286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275" b="1">
                <a:solidFill>
                  <a:srgbClr val="607080"/>
                </a:solidFill>
              </a:defRPr>
            </a:defPPr>
          </a:lstStyle>
          <a:p xmlns:a="http://schemas.openxmlformats.org/drawingml/2006/main">
            <a:pPr algn="l">
              <a:defRPr sz="1275" b="1">
                <a:solidFill>
                  <a:srgbClr val="607080"/>
                </a:solidFill>
              </a:defRPr>
            </a:pPr>
            <a:r>
              <a:rPr sz="1275" b="1">
                <a:solidFill>
                  <a:srgbClr val="607080"/>
                </a:solidFill>
              </a:rPr>
              <a:t>Valor predictivo positivo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6AE285BA-6E97-4163-A0F7-08F5720729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3848100"/>
            <a:ext cx="1238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r">
              <a:defRPr sz="2250" b="1">
                <a:solidFill>
                  <a:srgbClr val="0B1F33"/>
                </a:solidFill>
              </a:defRPr>
            </a:defPPr>
          </a:lstStyle>
          <a:p xmlns:a="http://schemas.openxmlformats.org/drawingml/2006/main">
            <a:pPr algn="r">
              <a:defRPr sz="2250" b="1">
                <a:solidFill>
                  <a:srgbClr val="0B1F33"/>
                </a:solidFill>
              </a:defRPr>
            </a:pPr>
            <a:r>
              <a:rPr sz="2250" b="1">
                <a:solidFill>
                  <a:srgbClr val="0B1F33"/>
                </a:solidFill>
              </a:rPr>
              <a:t>80,2 %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83C82C26-A600-431D-9CF9-51525EC590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4857750"/>
            <a:ext cx="40005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350" b="1">
                <a:solidFill>
                  <a:srgbClr val="C95555"/>
                </a:solidFill>
              </a:defRPr>
            </a:defPPr>
          </a:lstStyle>
          <a:p xmlns:a="http://schemas.openxmlformats.org/drawingml/2006/main">
            <a:pPr algn="l">
              <a:defRPr sz="1350" b="1">
                <a:solidFill>
                  <a:srgbClr val="C95555"/>
                </a:solidFill>
              </a:defRPr>
            </a:pPr>
            <a:r>
              <a:rPr sz="1350" b="1">
                <a:solidFill>
                  <a:srgbClr val="C95555"/>
                </a:solidFill>
              </a:rPr>
              <a:t>Para una herramienta de apoyo a biopsia o control, el umbral debe fijarse en validación según el costo clínico de los falsos negativos.</a:t>
            </a:r>
          </a:p>
        </p:txBody>
      </p:sp>
    </p:spTree>
    <p:extLst>
      <p:ext uri="{BB962C8B-B14F-4D97-AF65-F5344CB8AC3E}">
        <p14:creationId xmlns:p14="http://schemas.microsoft.com/office/powerpoint/2010/main" val="1125888520"/>
      </p:ext>
    </p:extLst>
  </p:cSld>
</p:sld>
</file>

<file path=ppt/slides/slide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64EAE609-8F4B-46AB-A49D-0137D41E1E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23850"/>
            <a:ext cx="10287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2400" b="1">
                <a:solidFill>
                  <a:srgbClr val="0B1F33"/>
                </a:solidFill>
              </a:defRPr>
            </a:defPPr>
          </a:lstStyle>
          <a:p xmlns:a="http://schemas.openxmlformats.org/drawingml/2006/main">
            <a:pPr algn="l">
              <a:defRPr sz="2400" b="1">
                <a:solidFill>
                  <a:srgbClr val="0B1F33"/>
                </a:solidFill>
              </a:defRPr>
            </a:pPr>
            <a:r>
              <a:rPr sz="2400" b="1">
                <a:solidFill>
                  <a:srgbClr val="0B1F33"/>
                </a:solidFill>
              </a:rPr>
              <a:t>Análisis de errores y explicabilidad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3D128F3-F42B-4A22-B5B8-354345CD57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96625" y="400050"/>
            <a:ext cx="5238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r">
              <a:defRPr sz="1050" b="1">
                <a:solidFill>
                  <a:srgbClr val="2F6F8F"/>
                </a:solidFill>
              </a:defRPr>
            </a:defPPr>
          </a:lstStyle>
          <a:p xmlns:a="http://schemas.openxmlformats.org/drawingml/2006/main">
            <a:pPr algn="r">
              <a:defRPr sz="1050" b="1">
                <a:solidFill>
                  <a:srgbClr val="2F6F8F"/>
                </a:solidFill>
              </a:defRPr>
            </a:pPr>
            <a:r>
              <a:rPr sz="1050" b="1">
                <a:solidFill>
                  <a:srgbClr val="2F6F8F"/>
                </a:solidFill>
              </a:rPr>
              <a:t>09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6EB33E9-D4FB-48A8-AEF6-63F6059FFF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895350"/>
            <a:ext cx="11049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E0E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9A46957-8EF0-4C62-A9AB-19A4AC0CFA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477000"/>
            <a:ext cx="4953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750" b="0">
                <a:solidFill>
                  <a:srgbClr val="7D8A94"/>
                </a:solidFill>
              </a:defRPr>
            </a:defPPr>
          </a:lstStyle>
          <a:p xmlns:a="http://schemas.openxmlformats.org/drawingml/2006/main">
            <a:pPr algn="l">
              <a:defRPr sz="750" b="0">
                <a:solidFill>
                  <a:srgbClr val="7D8A94"/>
                </a:solidFill>
              </a:defRPr>
            </a:pPr>
            <a:r>
              <a:rPr sz="750" b="0">
                <a:solidFill>
                  <a:srgbClr val="7D8A94"/>
                </a:solidFill>
              </a:rPr>
              <a:t>Fundamentos de Medicina y Aplicaciones de IA · FIUBA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100EE1F-E77E-44B0-8B98-8671F555C4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6477000"/>
            <a:ext cx="3143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r">
              <a:defRPr sz="750" b="0">
                <a:solidFill>
                  <a:srgbClr val="7D8A94"/>
                </a:solidFill>
              </a:defRPr>
            </a:defPPr>
          </a:lstStyle>
          <a:p xmlns:a="http://schemas.openxmlformats.org/drawingml/2006/main">
            <a:pPr algn="r">
              <a:defRPr sz="750" b="0">
                <a:solidFill>
                  <a:srgbClr val="7D8A94"/>
                </a:solidFill>
              </a:defRPr>
            </a:pPr>
            <a:r>
              <a:rPr sz="750" b="0">
                <a:solidFill>
                  <a:srgbClr val="7D8A94"/>
                </a:solidFill>
              </a:rPr>
              <a:t>Emmanuel Cardozo · Octubre 2026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D7AAC5A-C961-4649-B253-15798C06D1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143000"/>
            <a:ext cx="8572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2175" b="1">
                <a:solidFill>
                  <a:srgbClr val="0B1F33"/>
                </a:solidFill>
              </a:defRPr>
            </a:defPPr>
          </a:lstStyle>
          <a:p xmlns:a="http://schemas.openxmlformats.org/drawingml/2006/main">
            <a:pPr algn="l">
              <a:defRPr sz="2175" b="1">
                <a:solidFill>
                  <a:srgbClr val="0B1F33"/>
                </a:solidFill>
              </a:defRPr>
            </a:pPr>
            <a:r>
              <a:rPr sz="2175" b="1">
                <a:solidFill>
                  <a:srgbClr val="0B1F33"/>
                </a:solidFill>
              </a:rPr>
              <a:t>La evaluación no termina en una métrica global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E2E0E58-B732-4CA2-AB5E-A4EEA603C3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095500"/>
            <a:ext cx="2286000" cy="2857500"/>
          </a:xfrm>
          <a:prstGeom xmlns:a="http://schemas.openxmlformats.org/drawingml/2006/main" prst="roundRect">
            <a:avLst>
              <a:gd name="adj" fmla="val 3333"/>
            </a:avLst>
          </a:prstGeom>
          <a:solidFill xmlns:a="http://schemas.openxmlformats.org/drawingml/2006/main">
            <a:srgbClr val="F9E8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C612C82-2C82-4DEA-B77C-4E4C7EBF65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286000"/>
            <a:ext cx="4953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875" b="1">
                <a:solidFill>
                  <a:srgbClr val="C95555"/>
                </a:solidFill>
              </a:defRPr>
            </a:defPPr>
          </a:lstStyle>
          <a:p xmlns:a="http://schemas.openxmlformats.org/drawingml/2006/main">
            <a:pPr algn="l">
              <a:defRPr sz="1875" b="1">
                <a:solidFill>
                  <a:srgbClr val="C95555"/>
                </a:solidFill>
              </a:defRPr>
            </a:pPr>
            <a:r>
              <a:rPr sz="1875" b="1">
                <a:solidFill>
                  <a:srgbClr val="C95555"/>
                </a:solidFill>
              </a:rPr>
              <a:t>01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B0F0F38-FBD7-4042-B85F-1EC14EBAAB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857500"/>
            <a:ext cx="19431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650" b="1">
                <a:solidFill>
                  <a:srgbClr val="0B1F33"/>
                </a:solidFill>
              </a:defRPr>
            </a:defPPr>
          </a:lstStyle>
          <a:p xmlns:a="http://schemas.openxmlformats.org/drawingml/2006/main">
            <a:pPr algn="l">
              <a:defRPr sz="1650" b="1">
                <a:solidFill>
                  <a:srgbClr val="0B1F33"/>
                </a:solidFill>
              </a:defRPr>
            </a:pPr>
            <a:r>
              <a:rPr sz="1650" b="1">
                <a:solidFill>
                  <a:srgbClr val="0B1F33"/>
                </a:solidFill>
              </a:rPr>
              <a:t>Falsos negativos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A5829BB-718B-475B-A7A8-CC431D1F2D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619500"/>
            <a:ext cx="1943100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275" b="0">
                <a:solidFill>
                  <a:srgbClr val="142433"/>
                </a:solidFill>
              </a:defRPr>
            </a:defPPr>
          </a:lstStyle>
          <a:p xmlns:a="http://schemas.openxmlformats.org/drawingml/2006/main">
            <a:pPr algn="l">
              <a:defRPr sz="1275" b="0">
                <a:solidFill>
                  <a:srgbClr val="142433"/>
                </a:solidFill>
              </a:defRPr>
            </a:pPr>
            <a:r>
              <a:rPr sz="1275" b="0">
                <a:solidFill>
                  <a:srgbClr val="142433"/>
                </a:solidFill>
              </a:rPr>
              <a:t>Revisión completa de los 25 casos</a:t>
            </a:r>
          </a:p>
          <a:p xmlns:a="http://schemas.openxmlformats.org/drawingml/2006/main">
            <a:pPr algn="l">
              <a:defRPr sz="1275" b="0">
                <a:solidFill>
                  <a:srgbClr val="142433"/>
                </a:solidFill>
              </a:defRPr>
            </a:pPr>
            <a:r>
              <a:rPr sz="1275" b="0">
                <a:solidFill>
                  <a:srgbClr val="142433"/>
                </a:solidFill>
              </a:rPr>
              <a:t>Patrones morfológicos y calidad de imagen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200A04C-5BC7-48EE-9396-F53EFC7A8A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2095500"/>
            <a:ext cx="2286000" cy="2857500"/>
          </a:xfrm>
          <a:prstGeom xmlns:a="http://schemas.openxmlformats.org/drawingml/2006/main" prst="roundRect">
            <a:avLst>
              <a:gd name="adj" fmla="val 3333"/>
            </a:avLst>
          </a:prstGeom>
          <a:solidFill xmlns:a="http://schemas.openxmlformats.org/drawingml/2006/main">
            <a:srgbClr val="EDF3F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0FD7FD0-9E42-4CC5-A0B9-4556171E9A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90950" y="2286000"/>
            <a:ext cx="4953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875" b="1">
                <a:solidFill>
                  <a:srgbClr val="2F6F8F"/>
                </a:solidFill>
              </a:defRPr>
            </a:defPPr>
          </a:lstStyle>
          <a:p xmlns:a="http://schemas.openxmlformats.org/drawingml/2006/main">
            <a:pPr algn="l">
              <a:defRPr sz="1875" b="1">
                <a:solidFill>
                  <a:srgbClr val="2F6F8F"/>
                </a:solidFill>
              </a:defRPr>
            </a:pPr>
            <a:r>
              <a:rPr sz="1875" b="1">
                <a:solidFill>
                  <a:srgbClr val="2F6F8F"/>
                </a:solidFill>
              </a:rPr>
              <a:t>02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CCB6F19-01C9-420B-832C-77F0E61F82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90950" y="2857500"/>
            <a:ext cx="19431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650" b="1">
                <a:solidFill>
                  <a:srgbClr val="0B1F33"/>
                </a:solidFill>
              </a:defRPr>
            </a:defPPr>
          </a:lstStyle>
          <a:p xmlns:a="http://schemas.openxmlformats.org/drawingml/2006/main">
            <a:pPr algn="l">
              <a:defRPr sz="1650" b="1">
                <a:solidFill>
                  <a:srgbClr val="0B1F33"/>
                </a:solidFill>
              </a:defRPr>
            </a:pPr>
            <a:r>
              <a:rPr sz="1650" b="1">
                <a:solidFill>
                  <a:srgbClr val="0B1F33"/>
                </a:solidFill>
              </a:rPr>
              <a:t>Falsos positivos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27F78EB-8DEC-400E-88FD-E4DE61C975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90950" y="3619500"/>
            <a:ext cx="1943100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275" b="0">
                <a:solidFill>
                  <a:srgbClr val="142433"/>
                </a:solidFill>
              </a:defRPr>
            </a:defPPr>
          </a:lstStyle>
          <a:p xmlns:a="http://schemas.openxmlformats.org/drawingml/2006/main">
            <a:pPr algn="l">
              <a:defRPr sz="1275" b="0">
                <a:solidFill>
                  <a:srgbClr val="142433"/>
                </a:solidFill>
              </a:defRPr>
            </a:pPr>
            <a:r>
              <a:rPr sz="1275" b="0">
                <a:solidFill>
                  <a:srgbClr val="142433"/>
                </a:solidFill>
              </a:rPr>
              <a:t>Lesiones benignas con puntuación alta</a:t>
            </a:r>
          </a:p>
          <a:p xmlns:a="http://schemas.openxmlformats.org/drawingml/2006/main">
            <a:pPr algn="l">
              <a:defRPr sz="1275" b="0">
                <a:solidFill>
                  <a:srgbClr val="142433"/>
                </a:solidFill>
              </a:defRPr>
            </a:pPr>
            <a:r>
              <a:rPr sz="1275" b="0">
                <a:solidFill>
                  <a:srgbClr val="142433"/>
                </a:solidFill>
              </a:rPr>
              <a:t>Marcas, bordes y artefactos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7718F86-581B-4E0C-9AA7-BAB10FAE6D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2095500"/>
            <a:ext cx="2286000" cy="2857500"/>
          </a:xfrm>
          <a:prstGeom xmlns:a="http://schemas.openxmlformats.org/drawingml/2006/main" prst="roundRect">
            <a:avLst>
              <a:gd name="adj" fmla="val 3333"/>
            </a:avLst>
          </a:prstGeom>
          <a:solidFill xmlns:a="http://schemas.openxmlformats.org/drawingml/2006/main">
            <a:srgbClr val="E2EFF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6E74C78-2263-49D7-B903-0325431E7A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450" y="2286000"/>
            <a:ext cx="4953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875" b="1">
                <a:solidFill>
                  <a:srgbClr val="2F6F8F"/>
                </a:solidFill>
              </a:defRPr>
            </a:defPPr>
          </a:lstStyle>
          <a:p xmlns:a="http://schemas.openxmlformats.org/drawingml/2006/main">
            <a:pPr algn="l">
              <a:defRPr sz="1875" b="1">
                <a:solidFill>
                  <a:srgbClr val="2F6F8F"/>
                </a:solidFill>
              </a:defRPr>
            </a:pPr>
            <a:r>
              <a:rPr sz="1875" b="1">
                <a:solidFill>
                  <a:srgbClr val="2F6F8F"/>
                </a:solidFill>
              </a:rPr>
              <a:t>03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AED9565-CD79-4165-AC24-1645AABF5D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450" y="2857500"/>
            <a:ext cx="19431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650" b="1">
                <a:solidFill>
                  <a:srgbClr val="0B1F33"/>
                </a:solidFill>
              </a:defRPr>
            </a:defPPr>
          </a:lstStyle>
          <a:p xmlns:a="http://schemas.openxmlformats.org/drawingml/2006/main">
            <a:pPr algn="l">
              <a:defRPr sz="1650" b="1">
                <a:solidFill>
                  <a:srgbClr val="0B1F33"/>
                </a:solidFill>
              </a:defRPr>
            </a:pPr>
            <a:r>
              <a:rPr sz="1650" b="1">
                <a:solidFill>
                  <a:srgbClr val="0B1F33"/>
                </a:solidFill>
              </a:rPr>
              <a:t>Grad-CAM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76FA24C-21CF-4883-BC50-4BC19E7B52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450" y="3619500"/>
            <a:ext cx="1943100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275" b="0">
                <a:solidFill>
                  <a:srgbClr val="142433"/>
                </a:solidFill>
              </a:defRPr>
            </a:defPPr>
          </a:lstStyle>
          <a:p xmlns:a="http://schemas.openxmlformats.org/drawingml/2006/main">
            <a:pPr algn="l">
              <a:defRPr sz="1275" b="0">
                <a:solidFill>
                  <a:srgbClr val="142433"/>
                </a:solidFill>
              </a:defRPr>
            </a:pPr>
            <a:r>
              <a:rPr sz="1275" b="0">
                <a:solidFill>
                  <a:srgbClr val="142433"/>
                </a:solidFill>
              </a:rPr>
              <a:t>Localización aproximada de activaciones</a:t>
            </a:r>
          </a:p>
          <a:p xmlns:a="http://schemas.openxmlformats.org/drawingml/2006/main">
            <a:pPr algn="l">
              <a:defRPr sz="1275" b="0">
                <a:solidFill>
                  <a:srgbClr val="142433"/>
                </a:solidFill>
              </a:defRPr>
            </a:pPr>
            <a:r>
              <a:rPr sz="1275" b="0">
                <a:solidFill>
                  <a:srgbClr val="142433"/>
                </a:solidFill>
              </a:rPr>
              <a:t>No equivale a segmentación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51C7C72-D871-4B59-B844-7C037875F8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2095500"/>
            <a:ext cx="2286000" cy="2857500"/>
          </a:xfrm>
          <a:prstGeom xmlns:a="http://schemas.openxmlformats.org/drawingml/2006/main" prst="roundRect">
            <a:avLst>
              <a:gd name="adj" fmla="val 3333"/>
            </a:avLst>
          </a:prstGeom>
          <a:solidFill xmlns:a="http://schemas.openxmlformats.org/drawingml/2006/main">
            <a:srgbClr val="EDF3F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FDEC924-D76C-4D20-B08E-6DDDE5A7DE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05950" y="2286000"/>
            <a:ext cx="4953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875" b="1">
                <a:solidFill>
                  <a:srgbClr val="2F6F8F"/>
                </a:solidFill>
              </a:defRPr>
            </a:defPPr>
          </a:lstStyle>
          <a:p xmlns:a="http://schemas.openxmlformats.org/drawingml/2006/main">
            <a:pPr algn="l">
              <a:defRPr sz="1875" b="1">
                <a:solidFill>
                  <a:srgbClr val="2F6F8F"/>
                </a:solidFill>
              </a:defRPr>
            </a:pPr>
            <a:r>
              <a:rPr sz="1875" b="1">
                <a:solidFill>
                  <a:srgbClr val="2F6F8F"/>
                </a:solidFill>
              </a:rPr>
              <a:t>04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5892A7C-F8A9-4812-B9F0-A3FE8CCB38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05950" y="2857500"/>
            <a:ext cx="19431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650" b="1">
                <a:solidFill>
                  <a:srgbClr val="0B1F33"/>
                </a:solidFill>
              </a:defRPr>
            </a:defPPr>
          </a:lstStyle>
          <a:p xmlns:a="http://schemas.openxmlformats.org/drawingml/2006/main">
            <a:pPr algn="l">
              <a:defRPr sz="1650" b="1">
                <a:solidFill>
                  <a:srgbClr val="0B1F33"/>
                </a:solidFill>
              </a:defRPr>
            </a:pPr>
            <a:r>
              <a:rPr sz="1650" b="1">
                <a:solidFill>
                  <a:srgbClr val="0B1F33"/>
                </a:solidFill>
              </a:rPr>
              <a:t>Control de sanidad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C3C7B3C-8C7E-40BA-ABC7-CFBBDF7896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05950" y="3619500"/>
            <a:ext cx="1943100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275" b="0">
                <a:solidFill>
                  <a:srgbClr val="142433"/>
                </a:solidFill>
              </a:defRPr>
            </a:defPPr>
          </a:lstStyle>
          <a:p xmlns:a="http://schemas.openxmlformats.org/drawingml/2006/main">
            <a:pPr algn="l">
              <a:defRPr sz="1275" b="0">
                <a:solidFill>
                  <a:srgbClr val="142433"/>
                </a:solidFill>
              </a:defRPr>
            </a:pPr>
            <a:r>
              <a:rPr sz="1275" b="0">
                <a:solidFill>
                  <a:srgbClr val="142433"/>
                </a:solidFill>
              </a:rPr>
              <a:t>Comparación con cabeza aleatorizada</a:t>
            </a:r>
          </a:p>
          <a:p xmlns:a="http://schemas.openxmlformats.org/drawingml/2006/main">
            <a:pPr algn="l">
              <a:defRPr sz="1275" b="0">
                <a:solidFill>
                  <a:srgbClr val="142433"/>
                </a:solidFill>
              </a:defRPr>
            </a:pPr>
            <a:r>
              <a:rPr sz="1275" b="0">
                <a:solidFill>
                  <a:srgbClr val="142433"/>
                </a:solidFill>
              </a:rPr>
              <a:t>Detección de mapas poco informativos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D3CDB03-5C75-4892-BF9C-4373339A53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5429250"/>
            <a:ext cx="9906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1500" b="1">
                <a:solidFill>
                  <a:srgbClr val="2F6F8F"/>
                </a:solidFill>
              </a:defRPr>
            </a:defPPr>
          </a:lstStyle>
          <a:p xmlns:a="http://schemas.openxmlformats.org/drawingml/2006/main">
            <a:pPr algn="ctr">
              <a:defRPr sz="1500" b="1">
                <a:solidFill>
                  <a:srgbClr val="2F6F8F"/>
                </a:solidFill>
              </a:defRPr>
            </a:pPr>
            <a:r>
              <a:rPr sz="1500" b="1">
                <a:solidFill>
                  <a:srgbClr val="2F6F8F"/>
                </a:solidFill>
              </a:rPr>
              <a:t>Objetivo: descubrir cuándo el modelo falla y si utiliza señales ajenas a la lesión.</a:t>
            </a:r>
          </a:p>
        </p:txBody>
      </p:sp>
    </p:spTree>
    <p:extLst>
      <p:ext uri="{BB962C8B-B14F-4D97-AF65-F5344CB8AC3E}">
        <p14:creationId xmlns:p14="http://schemas.microsoft.com/office/powerpoint/2010/main" val="1630807020"/>
      </p:ext>
    </p:extLst>
  </p:cSld>
</p:sld>
</file>

<file path=ppt/slides/slide1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9AD1DAF-F6D8-4091-B6D2-80843EFE26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23850"/>
            <a:ext cx="10287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2400" b="1">
                <a:solidFill>
                  <a:srgbClr val="0B1F33"/>
                </a:solidFill>
              </a:defRPr>
            </a:defPPr>
          </a:lstStyle>
          <a:p xmlns:a="http://schemas.openxmlformats.org/drawingml/2006/main">
            <a:pPr algn="l">
              <a:defRPr sz="2400" b="1">
                <a:solidFill>
                  <a:srgbClr val="0B1F33"/>
                </a:solidFill>
              </a:defRPr>
            </a:pPr>
            <a:r>
              <a:rPr sz="2400" b="1">
                <a:solidFill>
                  <a:srgbClr val="0B1F33"/>
                </a:solidFill>
              </a:rPr>
              <a:t>Brecha entre el experimento y la práctica clínica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4380974-53DF-4461-BC8A-432834BAA3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96625" y="400050"/>
            <a:ext cx="5238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r">
              <a:defRPr sz="1050" b="1">
                <a:solidFill>
                  <a:srgbClr val="2F6F8F"/>
                </a:solidFill>
              </a:defRPr>
            </a:defPPr>
          </a:lstStyle>
          <a:p xmlns:a="http://schemas.openxmlformats.org/drawingml/2006/main">
            <a:pPr algn="r">
              <a:defRPr sz="1050" b="1">
                <a:solidFill>
                  <a:srgbClr val="2F6F8F"/>
                </a:solidFill>
              </a:defRPr>
            </a:pPr>
            <a:r>
              <a:rPr sz="1050" b="1">
                <a:solidFill>
                  <a:srgbClr val="2F6F8F"/>
                </a:solidFill>
              </a:rPr>
              <a:t>10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EE504E7-6954-41F2-A47D-9F985952FD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895350"/>
            <a:ext cx="11049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E0E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1D6075A-5889-45A5-9D1A-E786D11FC3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477000"/>
            <a:ext cx="4953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750" b="0">
                <a:solidFill>
                  <a:srgbClr val="7D8A94"/>
                </a:solidFill>
              </a:defRPr>
            </a:defPPr>
          </a:lstStyle>
          <a:p xmlns:a="http://schemas.openxmlformats.org/drawingml/2006/main">
            <a:pPr algn="l">
              <a:defRPr sz="750" b="0">
                <a:solidFill>
                  <a:srgbClr val="7D8A94"/>
                </a:solidFill>
              </a:defRPr>
            </a:pPr>
            <a:r>
              <a:rPr sz="750" b="0">
                <a:solidFill>
                  <a:srgbClr val="7D8A94"/>
                </a:solidFill>
              </a:rPr>
              <a:t>Fundamentos de Medicina y Aplicaciones de IA · FIUBA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1F91BF0-0E53-4A8E-8885-E1B9B6EF1C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6477000"/>
            <a:ext cx="3143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r">
              <a:defRPr sz="750" b="0">
                <a:solidFill>
                  <a:srgbClr val="7D8A94"/>
                </a:solidFill>
              </a:defRPr>
            </a:defPPr>
          </a:lstStyle>
          <a:p xmlns:a="http://schemas.openxmlformats.org/drawingml/2006/main">
            <a:pPr algn="r">
              <a:defRPr sz="750" b="0">
                <a:solidFill>
                  <a:srgbClr val="7D8A94"/>
                </a:solidFill>
              </a:defRPr>
            </a:pPr>
            <a:r>
              <a:rPr sz="750" b="0">
                <a:solidFill>
                  <a:srgbClr val="7D8A94"/>
                </a:solidFill>
              </a:rPr>
              <a:t>Emmanuel Cardozo · Octubre 2026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19F2A58-8D73-44D8-9B3F-7C8AD1205B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143000"/>
            <a:ext cx="10668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2025" b="1">
                <a:solidFill>
                  <a:srgbClr val="0B1F33"/>
                </a:solidFill>
              </a:defRPr>
            </a:defPPr>
          </a:lstStyle>
          <a:p xmlns:a="http://schemas.openxmlformats.org/drawingml/2006/main">
            <a:pPr algn="ctr">
              <a:defRPr sz="2025" b="1">
                <a:solidFill>
                  <a:srgbClr val="0B1F33"/>
                </a:solidFill>
              </a:defRPr>
            </a:pPr>
            <a:r>
              <a:rPr sz="2025" b="1">
                <a:solidFill>
                  <a:srgbClr val="0B1F33"/>
                </a:solidFill>
              </a:rPr>
              <a:t>El experimento comienza después de que el ecografista encontró la lesión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CBF12AE-CD79-4E2F-A88E-1F0544322F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095500"/>
            <a:ext cx="2857500" cy="2762250"/>
          </a:xfrm>
          <a:prstGeom xmlns:a="http://schemas.openxmlformats.org/drawingml/2006/main" prst="roundRect">
            <a:avLst>
              <a:gd name="adj" fmla="val 2759"/>
            </a:avLst>
          </a:prstGeom>
          <a:solidFill xmlns:a="http://schemas.openxmlformats.org/drawingml/2006/main">
            <a:srgbClr val="EDF3F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4B5AE04-E1B6-4D35-975E-FEEF88D40D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" y="2333625"/>
            <a:ext cx="2381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200" b="1">
                <a:solidFill>
                  <a:srgbClr val="3E8D72"/>
                </a:solidFill>
              </a:defRPr>
            </a:defPPr>
          </a:lstStyle>
          <a:p xmlns:a="http://schemas.openxmlformats.org/drawingml/2006/main">
            <a:pPr algn="l">
              <a:defRPr sz="1200" b="1">
                <a:solidFill>
                  <a:srgbClr val="3E8D72"/>
                </a:solidFill>
              </a:defRPr>
            </a:pPr>
            <a:r>
              <a:rPr sz="1200" b="1">
                <a:solidFill>
                  <a:srgbClr val="3E8D72"/>
                </a:solidFill>
              </a:rPr>
              <a:t>LO QUE EVALÚA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5144D10-D9EC-45E5-AD73-0362462154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" y="2809875"/>
            <a:ext cx="2381250" cy="1571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425" b="1">
                <a:solidFill>
                  <a:srgbClr val="142433"/>
                </a:solidFill>
              </a:defRPr>
            </a:defPPr>
          </a:lstStyle>
          <a:p xmlns:a="http://schemas.openxmlformats.org/drawingml/2006/main">
            <a:pPr algn="l">
              <a:defRPr sz="1425" b="1">
                <a:solidFill>
                  <a:srgbClr val="142433"/>
                </a:solidFill>
              </a:defRPr>
            </a:pPr>
            <a:r>
              <a:rPr sz="1425" b="1">
                <a:solidFill>
                  <a:srgbClr val="142433"/>
                </a:solidFill>
              </a:rPr>
              <a:t>Clasificación de una imagen seleccionada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425" b="1">
                <a:solidFill>
                  <a:srgbClr val="142433"/>
                </a:solidFill>
              </a:defRPr>
            </a:pPr>
            <a:r>
              <a:rPr sz="1425" b="1">
                <a:solidFill>
                  <a:srgbClr val="142433"/>
                </a:solidFill>
              </a:rPr>
              <a:t>Discriminación en una cohorte retrospectiva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425" b="1">
                <a:solidFill>
                  <a:srgbClr val="142433"/>
                </a:solidFill>
              </a:defRPr>
            </a:pPr>
            <a:r>
              <a:rPr sz="1425" b="1">
                <a:solidFill>
                  <a:srgbClr val="142433"/>
                </a:solidFill>
              </a:rPr>
              <a:t>Errores del modelo en BUS-BRA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09F0D72-59A0-4C97-96F6-EFBE4498D4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38625" y="2905125"/>
            <a:ext cx="9525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4050" b="1">
                <a:solidFill>
                  <a:srgbClr val="E69A43"/>
                </a:solidFill>
              </a:defRPr>
            </a:defPPr>
          </a:lstStyle>
          <a:p xmlns:a="http://schemas.openxmlformats.org/drawingml/2006/main">
            <a:pPr algn="ctr">
              <a:defRPr sz="4050" b="1">
                <a:solidFill>
                  <a:srgbClr val="E69A43"/>
                </a:solidFill>
              </a:defRPr>
            </a:pPr>
            <a:r>
              <a:rPr sz="4050" b="1">
                <a:solidFill>
                  <a:srgbClr val="E69A43"/>
                </a:solidFill>
              </a:rPr>
              <a:t>≠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C240A24-6357-4EAA-8759-2953B01697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2095500"/>
            <a:ext cx="5715000" cy="2762250"/>
          </a:xfrm>
          <a:prstGeom xmlns:a="http://schemas.openxmlformats.org/drawingml/2006/main" prst="roundRect">
            <a:avLst>
              <a:gd name="adj" fmla="val 2759"/>
            </a:avLst>
          </a:prstGeom>
          <a:solidFill xmlns:a="http://schemas.openxmlformats.org/drawingml/2006/main">
            <a:srgbClr val="FFF4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5D5ED6A-516B-4A14-AF69-CD10C3588A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2333625"/>
            <a:ext cx="4953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200" b="1">
                <a:solidFill>
                  <a:srgbClr val="C95555"/>
                </a:solidFill>
              </a:defRPr>
            </a:defPPr>
          </a:lstStyle>
          <a:p xmlns:a="http://schemas.openxmlformats.org/drawingml/2006/main">
            <a:pPr algn="l">
              <a:defRPr sz="1200" b="1">
                <a:solidFill>
                  <a:srgbClr val="C95555"/>
                </a:solidFill>
              </a:defRPr>
            </a:pPr>
            <a:r>
              <a:rPr sz="1200" b="1">
                <a:solidFill>
                  <a:srgbClr val="C95555"/>
                </a:solidFill>
              </a:rPr>
              <a:t>LO QUE AÚN NO DEMUESTRA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D9997CE-8221-4E7D-A0EC-31B6CCF500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2857500"/>
            <a:ext cx="4953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425" b="0">
                <a:solidFill>
                  <a:srgbClr val="142433"/>
                </a:solidFill>
              </a:defRPr>
            </a:defPPr>
          </a:lstStyle>
          <a:p xmlns:a="http://schemas.openxmlformats.org/drawingml/2006/main">
            <a:pPr algn="l">
              <a:defRPr sz="1425" b="0">
                <a:solidFill>
                  <a:srgbClr val="142433"/>
                </a:solidFill>
              </a:defRPr>
            </a:pPr>
            <a:r>
              <a:rPr sz="1425" b="0">
                <a:solidFill>
                  <a:srgbClr val="142433"/>
                </a:solidFill>
              </a:rPr>
              <a:t>•  Detección durante un examen ecográfico completo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5A8FEA9-6C6A-4FEB-BEF8-4A4316E411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3429000"/>
            <a:ext cx="4953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425" b="0">
                <a:solidFill>
                  <a:srgbClr val="142433"/>
                </a:solidFill>
              </a:defRPr>
            </a:defPPr>
          </a:lstStyle>
          <a:p xmlns:a="http://schemas.openxmlformats.org/drawingml/2006/main">
            <a:pPr algn="l">
              <a:defRPr sz="1425" b="0">
                <a:solidFill>
                  <a:srgbClr val="142433"/>
                </a:solidFill>
              </a:defRPr>
            </a:pPr>
            <a:r>
              <a:rPr sz="1425" b="0">
                <a:solidFill>
                  <a:srgbClr val="142433"/>
                </a:solidFill>
              </a:rPr>
              <a:t>•  Beneficio sobre decisiones o resultados de pacientes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29125A5-A459-4F7F-B5FE-E14F615CFB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4000500"/>
            <a:ext cx="4953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425" b="0">
                <a:solidFill>
                  <a:srgbClr val="142433"/>
                </a:solidFill>
              </a:defRPr>
            </a:defPPr>
          </a:lstStyle>
          <a:p xmlns:a="http://schemas.openxmlformats.org/drawingml/2006/main">
            <a:pPr algn="l">
              <a:defRPr sz="1425" b="0">
                <a:solidFill>
                  <a:srgbClr val="142433"/>
                </a:solidFill>
              </a:defRPr>
            </a:pPr>
            <a:r>
              <a:rPr sz="1425" b="0">
                <a:solidFill>
                  <a:srgbClr val="142433"/>
                </a:solidFill>
              </a:rPr>
              <a:t>•  Generalización a otros centros y equipos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89E26CC-15B6-49B0-9FF4-E9FD9E741C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5381625"/>
            <a:ext cx="10287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1500" b="1">
                <a:solidFill>
                  <a:srgbClr val="C95555"/>
                </a:solidFill>
              </a:defRPr>
            </a:defPPr>
          </a:lstStyle>
          <a:p xmlns:a="http://schemas.openxmlformats.org/drawingml/2006/main">
            <a:pPr algn="ctr">
              <a:defRPr sz="1500" b="1">
                <a:solidFill>
                  <a:srgbClr val="C95555"/>
                </a:solidFill>
              </a:defRPr>
            </a:pPr>
            <a:r>
              <a:rPr sz="1500" b="1">
                <a:solidFill>
                  <a:srgbClr val="C95555"/>
                </a:solidFill>
              </a:rPr>
              <a:t>Siguiente evidencia necesaria: validación externa sin reajuste y estudio prospectivo de impacto.</a:t>
            </a:r>
          </a:p>
        </p:txBody>
      </p:sp>
    </p:spTree>
    <p:extLst>
      <p:ext uri="{BB962C8B-B14F-4D97-AF65-F5344CB8AC3E}">
        <p14:creationId xmlns:p14="http://schemas.microsoft.com/office/powerpoint/2010/main" val="570192903"/>
      </p:ext>
    </p:extLst>
  </p:cSld>
</p:sld>
</file>

<file path=ppt/slides/slide1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CB80CCA6-C955-47BE-B5C6-C445D15690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23850"/>
            <a:ext cx="10287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2400" b="1">
                <a:solidFill>
                  <a:srgbClr val="0B1F33"/>
                </a:solidFill>
              </a:defRPr>
            </a:defPPr>
          </a:lstStyle>
          <a:p xmlns:a="http://schemas.openxmlformats.org/drawingml/2006/main">
            <a:pPr algn="l">
              <a:defRPr sz="2400" b="1">
                <a:solidFill>
                  <a:srgbClr val="0B1F33"/>
                </a:solidFill>
              </a:defRPr>
            </a:pPr>
            <a:r>
              <a:rPr sz="2400" b="1">
                <a:solidFill>
                  <a:srgbClr val="0B1F33"/>
                </a:solidFill>
              </a:rPr>
              <a:t>Integración clínica propuesta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335BF82-9463-46B0-8404-D43678C363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96625" y="400050"/>
            <a:ext cx="5238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r">
              <a:defRPr sz="1050" b="1">
                <a:solidFill>
                  <a:srgbClr val="2F6F8F"/>
                </a:solidFill>
              </a:defRPr>
            </a:defPPr>
          </a:lstStyle>
          <a:p xmlns:a="http://schemas.openxmlformats.org/drawingml/2006/main">
            <a:pPr algn="r">
              <a:defRPr sz="1050" b="1">
                <a:solidFill>
                  <a:srgbClr val="2F6F8F"/>
                </a:solidFill>
              </a:defRPr>
            </a:pPr>
            <a:r>
              <a:rPr sz="1050" b="1">
                <a:solidFill>
                  <a:srgbClr val="2F6F8F"/>
                </a:solidFill>
              </a:rPr>
              <a:t>11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BE01416-E36F-4B46-8B61-890BFF8F86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895350"/>
            <a:ext cx="11049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E0E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AB45AB0-5413-4297-85CF-E2911A06F7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477000"/>
            <a:ext cx="4953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750" b="0">
                <a:solidFill>
                  <a:srgbClr val="7D8A94"/>
                </a:solidFill>
              </a:defRPr>
            </a:defPPr>
          </a:lstStyle>
          <a:p xmlns:a="http://schemas.openxmlformats.org/drawingml/2006/main">
            <a:pPr algn="l">
              <a:defRPr sz="750" b="0">
                <a:solidFill>
                  <a:srgbClr val="7D8A94"/>
                </a:solidFill>
              </a:defRPr>
            </a:pPr>
            <a:r>
              <a:rPr sz="750" b="0">
                <a:solidFill>
                  <a:srgbClr val="7D8A94"/>
                </a:solidFill>
              </a:rPr>
              <a:t>Fundamentos de Medicina y Aplicaciones de IA · FIUBA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04CBAA0-8AAF-46FD-A17F-8CBAAF95E8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6477000"/>
            <a:ext cx="3143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r">
              <a:defRPr sz="750" b="0">
                <a:solidFill>
                  <a:srgbClr val="7D8A94"/>
                </a:solidFill>
              </a:defRPr>
            </a:defPPr>
          </a:lstStyle>
          <a:p xmlns:a="http://schemas.openxmlformats.org/drawingml/2006/main">
            <a:pPr algn="r">
              <a:defRPr sz="750" b="0">
                <a:solidFill>
                  <a:srgbClr val="7D8A94"/>
                </a:solidFill>
              </a:defRPr>
            </a:pPr>
            <a:r>
              <a:rPr sz="750" b="0">
                <a:solidFill>
                  <a:srgbClr val="7D8A94"/>
                </a:solidFill>
              </a:rPr>
              <a:t>Emmanuel Cardozo · Octubre 2026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7D435E0-51DF-410D-8F25-E78BC54B66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143000"/>
            <a:ext cx="10668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2025" b="1">
                <a:solidFill>
                  <a:srgbClr val="0B1F33"/>
                </a:solidFill>
              </a:defRPr>
            </a:defPPr>
          </a:lstStyle>
          <a:p xmlns:a="http://schemas.openxmlformats.org/drawingml/2006/main">
            <a:pPr algn="l">
              <a:defRPr sz="2025" b="1">
                <a:solidFill>
                  <a:srgbClr val="0B1F33"/>
                </a:solidFill>
              </a:defRPr>
            </a:pPr>
            <a:r>
              <a:rPr sz="2025" b="1">
                <a:solidFill>
                  <a:srgbClr val="0B1F33"/>
                </a:solidFill>
              </a:rPr>
              <a:t>Un CAD útil debe entrar en el flujo asistencial sin ocultar quién decide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E92DF11-B4A6-42E5-9029-4F291C0DDA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2190750"/>
            <a:ext cx="2000250" cy="2095500"/>
          </a:xfrm>
          <a:prstGeom xmlns:a="http://schemas.openxmlformats.org/drawingml/2006/main" prst="roundRect">
            <a:avLst>
              <a:gd name="adj" fmla="val 3810"/>
            </a:avLst>
          </a:prstGeom>
          <a:solidFill xmlns:a="http://schemas.openxmlformats.org/drawingml/2006/main">
            <a:srgbClr val="EDF3F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273AADF-8B39-4150-BBC2-FD18E692EC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428875"/>
            <a:ext cx="1714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1650" b="1">
                <a:solidFill>
                  <a:srgbClr val="0B1F33"/>
                </a:solidFill>
              </a:defRPr>
            </a:defPPr>
          </a:lstStyle>
          <a:p xmlns:a="http://schemas.openxmlformats.org/drawingml/2006/main">
            <a:pPr algn="ctr">
              <a:defRPr sz="1650" b="1">
                <a:solidFill>
                  <a:srgbClr val="0B1F33"/>
                </a:solidFill>
              </a:defRPr>
            </a:pPr>
            <a:r>
              <a:rPr sz="1650" b="1">
                <a:solidFill>
                  <a:srgbClr val="0B1F33"/>
                </a:solidFill>
              </a:rPr>
              <a:t>Ecógrafo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6E3E287-0769-4F7F-A1B3-117798640C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048000"/>
            <a:ext cx="1714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1275" b="0">
                <a:solidFill>
                  <a:srgbClr val="142433"/>
                </a:solidFill>
              </a:defRPr>
            </a:defPPr>
          </a:lstStyle>
          <a:p xmlns:a="http://schemas.openxmlformats.org/drawingml/2006/main">
            <a:pPr algn="ctr">
              <a:defRPr sz="1275" b="0">
                <a:solidFill>
                  <a:srgbClr val="142433"/>
                </a:solidFill>
              </a:defRPr>
            </a:pPr>
            <a:r>
              <a:rPr sz="1275" b="0">
                <a:solidFill>
                  <a:srgbClr val="142433"/>
                </a:solidFill>
              </a:rPr>
              <a:t>Adquisición y selección</a:t>
            </a:r>
          </a:p>
          <a:p xmlns:a="http://schemas.openxmlformats.org/drawingml/2006/main">
            <a:pPr algn="ctr">
              <a:defRPr sz="1275" b="0">
                <a:solidFill>
                  <a:srgbClr val="142433"/>
                </a:solidFill>
              </a:defRPr>
            </a:pPr>
            <a:r>
              <a:rPr sz="1275" b="0">
                <a:solidFill>
                  <a:srgbClr val="142433"/>
                </a:solidFill>
              </a:rPr>
              <a:t>de la imagen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9324673-7C26-42CD-82BE-A4CE7BED8B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14625" y="2781300"/>
            <a:ext cx="428625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3150" b="1">
                <a:solidFill>
                  <a:srgbClr val="E69A43"/>
                </a:solidFill>
              </a:defRPr>
            </a:defPPr>
          </a:lstStyle>
          <a:p xmlns:a="http://schemas.openxmlformats.org/drawingml/2006/main">
            <a:pPr algn="ctr">
              <a:defRPr sz="3150" b="1">
                <a:solidFill>
                  <a:srgbClr val="E69A43"/>
                </a:solidFill>
              </a:defRPr>
            </a:pPr>
            <a:r>
              <a:rPr sz="3150" b="1">
                <a:solidFill>
                  <a:srgbClr val="E69A43"/>
                </a:solidFill>
              </a:rPr>
              <a:t>›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A07AA45-1255-4C07-B4BE-87A78B51DA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2190750"/>
            <a:ext cx="2000250" cy="2095500"/>
          </a:xfrm>
          <a:prstGeom xmlns:a="http://schemas.openxmlformats.org/drawingml/2006/main" prst="roundRect">
            <a:avLst>
              <a:gd name="adj" fmla="val 3810"/>
            </a:avLst>
          </a:prstGeom>
          <a:solidFill xmlns:a="http://schemas.openxmlformats.org/drawingml/2006/main">
            <a:srgbClr val="EDF3F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6EC2C51-A47A-4939-A517-2424D7A520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86125" y="2428875"/>
            <a:ext cx="1714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1650" b="1">
                <a:solidFill>
                  <a:srgbClr val="0B1F33"/>
                </a:solidFill>
              </a:defRPr>
            </a:defPPr>
          </a:lstStyle>
          <a:p xmlns:a="http://schemas.openxmlformats.org/drawingml/2006/main">
            <a:pPr algn="ctr">
              <a:defRPr sz="1650" b="1">
                <a:solidFill>
                  <a:srgbClr val="0B1F33"/>
                </a:solidFill>
              </a:defRPr>
            </a:pPr>
            <a:r>
              <a:rPr sz="1650" b="1">
                <a:solidFill>
                  <a:srgbClr val="0B1F33"/>
                </a:solidFill>
              </a:rPr>
              <a:t>PACS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9BEB97E-FD15-4E9A-8AEE-80E309773B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86125" y="3048000"/>
            <a:ext cx="1714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1275" b="0">
                <a:solidFill>
                  <a:srgbClr val="142433"/>
                </a:solidFill>
              </a:defRPr>
            </a:defPPr>
          </a:lstStyle>
          <a:p xmlns:a="http://schemas.openxmlformats.org/drawingml/2006/main">
            <a:pPr algn="ctr">
              <a:defRPr sz="1275" b="0">
                <a:solidFill>
                  <a:srgbClr val="142433"/>
                </a:solidFill>
              </a:defRPr>
            </a:pPr>
            <a:r>
              <a:rPr sz="1275" b="0">
                <a:solidFill>
                  <a:srgbClr val="142433"/>
                </a:solidFill>
              </a:rPr>
              <a:t>Almacenamiento y</a:t>
            </a:r>
          </a:p>
          <a:p xmlns:a="http://schemas.openxmlformats.org/drawingml/2006/main">
            <a:pPr algn="ctr">
              <a:defRPr sz="1275" b="0">
                <a:solidFill>
                  <a:srgbClr val="142433"/>
                </a:solidFill>
              </a:defRPr>
            </a:pPr>
            <a:r>
              <a:rPr sz="1275" b="0">
                <a:solidFill>
                  <a:srgbClr val="142433"/>
                </a:solidFill>
              </a:rPr>
              <a:t>desidentificación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EC1BB4B-5B20-4E5A-B6B3-41E12A337C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2781300"/>
            <a:ext cx="428625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3150" b="1">
                <a:solidFill>
                  <a:srgbClr val="E69A43"/>
                </a:solidFill>
              </a:defRPr>
            </a:defPPr>
          </a:lstStyle>
          <a:p xmlns:a="http://schemas.openxmlformats.org/drawingml/2006/main">
            <a:pPr algn="ctr">
              <a:defRPr sz="3150" b="1">
                <a:solidFill>
                  <a:srgbClr val="E69A43"/>
                </a:solidFill>
              </a:defRPr>
            </a:pPr>
            <a:r>
              <a:rPr sz="3150" b="1">
                <a:solidFill>
                  <a:srgbClr val="E69A43"/>
                </a:solidFill>
              </a:rPr>
              <a:t>›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F199037-E84C-45B9-B97A-33CCCB41E8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72125" y="2190750"/>
            <a:ext cx="2000250" cy="2095500"/>
          </a:xfrm>
          <a:prstGeom xmlns:a="http://schemas.openxmlformats.org/drawingml/2006/main" prst="roundRect">
            <a:avLst>
              <a:gd name="adj" fmla="val 3810"/>
            </a:avLst>
          </a:prstGeom>
          <a:solidFill xmlns:a="http://schemas.openxmlformats.org/drawingml/2006/main">
            <a:srgbClr val="DDECF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BB335BD-A659-458B-B015-2E161D6B8D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2428875"/>
            <a:ext cx="1714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1650" b="1">
                <a:solidFill>
                  <a:srgbClr val="0B1F33"/>
                </a:solidFill>
              </a:defRPr>
            </a:defPPr>
          </a:lstStyle>
          <a:p xmlns:a="http://schemas.openxmlformats.org/drawingml/2006/main">
            <a:pPr algn="ctr">
              <a:defRPr sz="1650" b="1">
                <a:solidFill>
                  <a:srgbClr val="0B1F33"/>
                </a:solidFill>
              </a:defRPr>
            </a:pPr>
            <a:r>
              <a:rPr sz="1650" b="1">
                <a:solidFill>
                  <a:srgbClr val="0B1F33"/>
                </a:solidFill>
              </a:rPr>
              <a:t>Clasificador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5A87594-9D88-4623-AF0B-160810F30B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3048000"/>
            <a:ext cx="1714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1275" b="0">
                <a:solidFill>
                  <a:srgbClr val="142433"/>
                </a:solidFill>
              </a:defRPr>
            </a:defPPr>
          </a:lstStyle>
          <a:p xmlns:a="http://schemas.openxmlformats.org/drawingml/2006/main">
            <a:pPr algn="ctr">
              <a:defRPr sz="1275" b="0">
                <a:solidFill>
                  <a:srgbClr val="142433"/>
                </a:solidFill>
              </a:defRPr>
            </a:pPr>
            <a:r>
              <a:rPr sz="1275" b="0">
                <a:solidFill>
                  <a:srgbClr val="142433"/>
                </a:solidFill>
              </a:rPr>
              <a:t>Puntuación visible para</a:t>
            </a:r>
          </a:p>
          <a:p xmlns:a="http://schemas.openxmlformats.org/drawingml/2006/main">
            <a:pPr algn="ctr">
              <a:defRPr sz="1275" b="0">
                <a:solidFill>
                  <a:srgbClr val="142433"/>
                </a:solidFill>
              </a:defRPr>
            </a:pPr>
            <a:r>
              <a:rPr sz="1275" b="0">
                <a:solidFill>
                  <a:srgbClr val="142433"/>
                </a:solidFill>
              </a:rPr>
              <a:t>el profesional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C0971CD-EA90-4832-A8A1-46A55B50B5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72375" y="2781300"/>
            <a:ext cx="428625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3150" b="1">
                <a:solidFill>
                  <a:srgbClr val="E69A43"/>
                </a:solidFill>
              </a:defRPr>
            </a:defPPr>
          </a:lstStyle>
          <a:p xmlns:a="http://schemas.openxmlformats.org/drawingml/2006/main">
            <a:pPr algn="ctr">
              <a:defRPr sz="3150" b="1">
                <a:solidFill>
                  <a:srgbClr val="E69A43"/>
                </a:solidFill>
              </a:defRPr>
            </a:pPr>
            <a:r>
              <a:rPr sz="3150" b="1">
                <a:solidFill>
                  <a:srgbClr val="E69A43"/>
                </a:solidFill>
              </a:rPr>
              <a:t>›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4C0EDDB-5CFD-4369-A1C5-7391821EE0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2190750"/>
            <a:ext cx="2000250" cy="2095500"/>
          </a:xfrm>
          <a:prstGeom xmlns:a="http://schemas.openxmlformats.org/drawingml/2006/main" prst="roundRect">
            <a:avLst>
              <a:gd name="adj" fmla="val 3810"/>
            </a:avLst>
          </a:prstGeom>
          <a:solidFill xmlns:a="http://schemas.openxmlformats.org/drawingml/2006/main">
            <a:srgbClr val="EDF3F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F346E71-C1A5-4C2D-BF15-4EC6C752E2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43875" y="2428875"/>
            <a:ext cx="1714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1650" b="1">
                <a:solidFill>
                  <a:srgbClr val="0B1F33"/>
                </a:solidFill>
              </a:defRPr>
            </a:defPPr>
          </a:lstStyle>
          <a:p xmlns:a="http://schemas.openxmlformats.org/drawingml/2006/main">
            <a:pPr algn="ctr">
              <a:defRPr sz="1650" b="1">
                <a:solidFill>
                  <a:srgbClr val="0B1F33"/>
                </a:solidFill>
              </a:defRPr>
            </a:pPr>
            <a:r>
              <a:rPr sz="1650" b="1">
                <a:solidFill>
                  <a:srgbClr val="0B1F33"/>
                </a:solidFill>
              </a:rPr>
              <a:t>Informe BI-RADS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9DA4141-3B58-413F-995A-E79FDA7B9D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43875" y="3048000"/>
            <a:ext cx="1714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1275" b="0">
                <a:solidFill>
                  <a:srgbClr val="142433"/>
                </a:solidFill>
              </a:defRPr>
            </a:defPPr>
          </a:lstStyle>
          <a:p xmlns:a="http://schemas.openxmlformats.org/drawingml/2006/main">
            <a:pPr algn="ctr">
              <a:defRPr sz="1275" b="0">
                <a:solidFill>
                  <a:srgbClr val="142433"/>
                </a:solidFill>
              </a:defRPr>
            </a:pPr>
            <a:r>
              <a:rPr sz="1275" b="0">
                <a:solidFill>
                  <a:srgbClr val="142433"/>
                </a:solidFill>
              </a:rPr>
              <a:t>Decisión final y</a:t>
            </a:r>
          </a:p>
          <a:p xmlns:a="http://schemas.openxmlformats.org/drawingml/2006/main">
            <a:pPr algn="ctr">
              <a:defRPr sz="1275" b="0">
                <a:solidFill>
                  <a:srgbClr val="142433"/>
                </a:solidFill>
              </a:defRPr>
            </a:pPr>
            <a:r>
              <a:rPr sz="1275" b="0">
                <a:solidFill>
                  <a:srgbClr val="142433"/>
                </a:solidFill>
              </a:rPr>
              <a:t>conducta clínica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63E302C-5D6E-499E-8DCA-274B85E654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29875" y="2190750"/>
            <a:ext cx="1047750" cy="2095500"/>
          </a:xfrm>
          <a:prstGeom xmlns:a="http://schemas.openxmlformats.org/drawingml/2006/main" prst="roundRect">
            <a:avLst>
              <a:gd name="adj" fmla="val 7273"/>
            </a:avLst>
          </a:prstGeom>
          <a:solidFill xmlns:a="http://schemas.openxmlformats.org/drawingml/2006/main">
            <a:srgbClr val="0B1F3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6CD8914-8271-4BAE-A630-69918EFA3D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25125" y="2524125"/>
            <a:ext cx="857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1500" b="1">
                <a:solidFill>
                  <a:srgbClr val="FFFFFF"/>
                </a:solidFill>
              </a:defRPr>
            </a:defPPr>
          </a:lstStyle>
          <a:p xmlns:a="http://schemas.openxmlformats.org/drawingml/2006/main">
            <a:pPr algn="ctr">
              <a:defRPr sz="1500" b="1">
                <a:solidFill>
                  <a:srgbClr val="FFFFFF"/>
                </a:solidFill>
              </a:defRPr>
            </a:pPr>
            <a:r>
              <a:rPr sz="1500" b="1">
                <a:solidFill>
                  <a:srgbClr val="FFFFFF"/>
                </a:solidFill>
              </a:rPr>
              <a:t>Médico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A87FDC89-3EA5-433C-AEFC-9537504D19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25125" y="3095625"/>
            <a:ext cx="857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1275" b="1">
                <a:solidFill>
                  <a:srgbClr val="BCD0DC"/>
                </a:solidFill>
              </a:defRPr>
            </a:defPPr>
          </a:lstStyle>
          <a:p xmlns:a="http://schemas.openxmlformats.org/drawingml/2006/main">
            <a:pPr algn="ctr">
              <a:defRPr sz="1275" b="1">
                <a:solidFill>
                  <a:srgbClr val="BCD0DC"/>
                </a:solidFill>
              </a:defRPr>
            </a:pPr>
            <a:r>
              <a:rPr sz="1275" b="1">
                <a:solidFill>
                  <a:srgbClr val="BCD0DC"/>
                </a:solidFill>
              </a:rPr>
              <a:t>conserva</a:t>
            </a:r>
          </a:p>
          <a:p xmlns:a="http://schemas.openxmlformats.org/drawingml/2006/main">
            <a:pPr algn="ctr">
              <a:defRPr sz="1275" b="1">
                <a:solidFill>
                  <a:srgbClr val="BCD0DC"/>
                </a:solidFill>
              </a:defRPr>
            </a:pPr>
            <a:r>
              <a:rPr sz="1275" b="1">
                <a:solidFill>
                  <a:srgbClr val="BCD0DC"/>
                </a:solidFill>
              </a:rPr>
              <a:t>la decisión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5E9E34D6-0735-453C-844F-7DB55A96C1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5000625"/>
            <a:ext cx="101917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1500" b="1">
                <a:solidFill>
                  <a:srgbClr val="C95555"/>
                </a:solidFill>
              </a:defRPr>
            </a:defPPr>
          </a:lstStyle>
          <a:p xmlns:a="http://schemas.openxmlformats.org/drawingml/2006/main">
            <a:pPr algn="ctr">
              <a:defRPr sz="1500" b="1">
                <a:solidFill>
                  <a:srgbClr val="C95555"/>
                </a:solidFill>
              </a:defRPr>
            </a:pPr>
            <a:r>
              <a:rPr sz="1500" b="1">
                <a:solidFill>
                  <a:srgbClr val="C95555"/>
                </a:solidFill>
              </a:rPr>
              <a:t>Antes de una implementación: gobernanza de datos, monitoreo de deriva, responsabilidades y evaluación prospectiva.</a:t>
            </a:r>
          </a:p>
        </p:txBody>
      </p:sp>
    </p:spTree>
    <p:extLst>
      <p:ext uri="{BB962C8B-B14F-4D97-AF65-F5344CB8AC3E}">
        <p14:creationId xmlns:p14="http://schemas.microsoft.com/office/powerpoint/2010/main" val="1828549975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0B1F3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F018A78-AABF-4E17-A357-2EA1A59B65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23850"/>
            <a:ext cx="10287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2400" b="1">
                <a:solidFill>
                  <a:srgbClr val="FFFFFF"/>
                </a:solidFill>
              </a:defRPr>
            </a:defPPr>
          </a:lstStyle>
          <a:p xmlns:a="http://schemas.openxmlformats.org/drawingml/2006/main">
            <a:pPr algn="l">
              <a:defRPr sz="2400" b="1">
                <a:solidFill>
                  <a:srgbClr val="FFFFFF"/>
                </a:solidFill>
              </a:defRPr>
            </a:pPr>
            <a:r>
              <a:rPr sz="2400" b="1">
                <a:solidFill>
                  <a:srgbClr val="FFFFFF"/>
                </a:solidFill>
              </a:rPr>
              <a:t>Conclusiones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60BBB44-FD12-4B55-9221-5C4CF60E34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96625" y="400050"/>
            <a:ext cx="5238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r">
              <a:defRPr sz="1050" b="1">
                <a:solidFill>
                  <a:srgbClr val="62B4C6"/>
                </a:solidFill>
              </a:defRPr>
            </a:defPPr>
          </a:lstStyle>
          <a:p xmlns:a="http://schemas.openxmlformats.org/drawingml/2006/main">
            <a:pPr algn="r">
              <a:defRPr sz="1050" b="1">
                <a:solidFill>
                  <a:srgbClr val="62B4C6"/>
                </a:solidFill>
              </a:defRPr>
            </a:pPr>
            <a:r>
              <a:rPr sz="1050" b="1">
                <a:solidFill>
                  <a:srgbClr val="62B4C6"/>
                </a:solidFill>
              </a:rPr>
              <a:t>12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3EB9DC6-88E6-4B22-8CCC-791DC3C5C7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895350"/>
            <a:ext cx="11049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6F8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9AEF293-2A5D-4CD8-A01C-575769F091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477000"/>
            <a:ext cx="4953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750" b="0">
                <a:solidFill>
                  <a:srgbClr val="AFC1CE"/>
                </a:solidFill>
              </a:defRPr>
            </a:defPPr>
          </a:lstStyle>
          <a:p xmlns:a="http://schemas.openxmlformats.org/drawingml/2006/main">
            <a:pPr algn="l">
              <a:defRPr sz="750" b="0">
                <a:solidFill>
                  <a:srgbClr val="AFC1CE"/>
                </a:solidFill>
              </a:defRPr>
            </a:pPr>
            <a:r>
              <a:rPr sz="750" b="0">
                <a:solidFill>
                  <a:srgbClr val="AFC1CE"/>
                </a:solidFill>
              </a:rPr>
              <a:t>Fundamentos de Medicina y Aplicaciones de IA · FIUBA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378ABAD-4314-447C-8EA5-C7967BB6EA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6477000"/>
            <a:ext cx="3143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r">
              <a:defRPr sz="750" b="0">
                <a:solidFill>
                  <a:srgbClr val="AFC1CE"/>
                </a:solidFill>
              </a:defRPr>
            </a:defPPr>
          </a:lstStyle>
          <a:p xmlns:a="http://schemas.openxmlformats.org/drawingml/2006/main">
            <a:pPr algn="r">
              <a:defRPr sz="750" b="0">
                <a:solidFill>
                  <a:srgbClr val="AFC1CE"/>
                </a:solidFill>
              </a:defRPr>
            </a:pPr>
            <a:r>
              <a:rPr sz="750" b="0">
                <a:solidFill>
                  <a:srgbClr val="AFC1CE"/>
                </a:solidFill>
              </a:rPr>
              <a:t>Emmanuel Cardozo · Octubre 2026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7010EAB-DF7B-494B-A271-BC62D706B1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190625"/>
            <a:ext cx="106680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2325" b="1">
                <a:solidFill>
                  <a:srgbClr val="FFFFFF"/>
                </a:solidFill>
              </a:defRPr>
            </a:defPPr>
          </a:lstStyle>
          <a:p xmlns:a="http://schemas.openxmlformats.org/drawingml/2006/main">
            <a:pPr algn="l">
              <a:defRPr sz="2325" b="1">
                <a:solidFill>
                  <a:srgbClr val="FFFFFF"/>
                </a:solidFill>
              </a:defRPr>
            </a:pPr>
            <a:r>
              <a:rPr sz="2325" b="1">
                <a:solidFill>
                  <a:srgbClr val="FFFFFF"/>
                </a:solidFill>
              </a:rPr>
              <a:t>El experimento confirma señal predictiva, pero todavía no confirma utilidad clínica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1F2372B-4F19-4F8C-AD9F-A85D129E78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2333625"/>
            <a:ext cx="619125" cy="6191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6F8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6DEBE6A-378B-4FDD-A7C1-1422FE00FB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2419350"/>
            <a:ext cx="619125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1350" b="1">
                <a:solidFill>
                  <a:srgbClr val="FFFFFF"/>
                </a:solidFill>
              </a:defRPr>
            </a:defPPr>
          </a:lstStyle>
          <a:p xmlns:a="http://schemas.openxmlformats.org/drawingml/2006/main">
            <a:pPr algn="ctr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01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3A6367A-F03A-4697-816A-031B72F072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66875" y="2333625"/>
            <a:ext cx="2857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575" b="1">
                <a:solidFill>
                  <a:srgbClr val="62B4C6"/>
                </a:solidFill>
              </a:defRPr>
            </a:defPPr>
          </a:lstStyle>
          <a:p xmlns:a="http://schemas.openxmlformats.org/drawingml/2006/main">
            <a:pPr algn="l">
              <a:defRPr sz="1575" b="1">
                <a:solidFill>
                  <a:srgbClr val="62B4C6"/>
                </a:solidFill>
              </a:defRPr>
            </a:pPr>
            <a:r>
              <a:rPr sz="1575" b="1">
                <a:solidFill>
                  <a:srgbClr val="62B4C6"/>
                </a:solidFill>
              </a:rPr>
              <a:t>Resultado reproducible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823D3EE-667C-4C4B-AEF4-E9296ACFB9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66875" y="2695575"/>
            <a:ext cx="89535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500" b="0">
                <a:solidFill>
                  <a:srgbClr val="FFFFFF"/>
                </a:solidFill>
              </a:defRPr>
            </a:defPPr>
          </a:lstStyle>
          <a:p xmlns:a="http://schemas.openxmlformats.org/drawingml/2006/main">
            <a:pPr algn="l">
              <a:defRPr sz="1500" b="0">
                <a:solidFill>
                  <a:srgbClr val="FFFFFF"/>
                </a:solidFill>
              </a:defRPr>
            </a:pPr>
            <a:r>
              <a:rPr sz="1500" b="0">
                <a:solidFill>
                  <a:srgbClr val="FFFFFF"/>
                </a:solidFill>
              </a:rPr>
              <a:t>AUC 0,935 y AP 0,896 en el test retenido de BUS-BRA.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2308C06-5A06-4C5A-AB8F-6CE843FFF5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3381375"/>
            <a:ext cx="619125" cy="6191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69A4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2768994-1256-4957-8BD0-B1C5B815D0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3467100"/>
            <a:ext cx="619125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1350" b="1">
                <a:solidFill>
                  <a:srgbClr val="FFFFFF"/>
                </a:solidFill>
              </a:defRPr>
            </a:defPPr>
          </a:lstStyle>
          <a:p xmlns:a="http://schemas.openxmlformats.org/drawingml/2006/main">
            <a:pPr algn="ctr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02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8942860-3A95-472F-8592-7FACDB7932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66875" y="3381375"/>
            <a:ext cx="2857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575" b="1">
                <a:solidFill>
                  <a:srgbClr val="62B4C6"/>
                </a:solidFill>
              </a:defRPr>
            </a:defPPr>
          </a:lstStyle>
          <a:p xmlns:a="http://schemas.openxmlformats.org/drawingml/2006/main">
            <a:pPr algn="l">
              <a:defRPr sz="1575" b="1">
                <a:solidFill>
                  <a:srgbClr val="62B4C6"/>
                </a:solidFill>
              </a:defRPr>
            </a:pPr>
            <a:r>
              <a:rPr sz="1575" b="1">
                <a:solidFill>
                  <a:srgbClr val="62B4C6"/>
                </a:solidFill>
              </a:rPr>
              <a:t>Riesgo principal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BB606B3-462D-4D07-8506-836C5BBED3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66875" y="3743325"/>
            <a:ext cx="89535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500" b="1">
                <a:solidFill>
                  <a:srgbClr val="FFFFFF"/>
                </a:solidFill>
              </a:defRPr>
            </a:defPPr>
          </a:lstStyle>
          <a:p xmlns:a="http://schemas.openxmlformats.org/drawingml/2006/main">
            <a:pPr algn="l">
              <a:defRPr sz="1500" b="1">
                <a:solidFill>
                  <a:srgbClr val="FFFFFF"/>
                </a:solidFill>
              </a:defRPr>
            </a:pPr>
            <a:r>
              <a:rPr sz="1500" b="1">
                <a:solidFill>
                  <a:srgbClr val="FFFFFF"/>
                </a:solidFill>
              </a:rPr>
              <a:t>Con umbral 0,5, la sensibilidad es 79,5 % y quedan 25 falsos negativos.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104247C-1526-4017-AEFC-FE0F944D38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4429125"/>
            <a:ext cx="619125" cy="6191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6F8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8517246-78A6-4BA5-A249-DED0DCF356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4514850"/>
            <a:ext cx="619125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1350" b="1">
                <a:solidFill>
                  <a:srgbClr val="FFFFFF"/>
                </a:solidFill>
              </a:defRPr>
            </a:defPPr>
          </a:lstStyle>
          <a:p xmlns:a="http://schemas.openxmlformats.org/drawingml/2006/main">
            <a:pPr algn="ctr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03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6FDDD2C-E287-454C-840F-EEE48826DD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66875" y="4429125"/>
            <a:ext cx="2857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575" b="1">
                <a:solidFill>
                  <a:srgbClr val="62B4C6"/>
                </a:solidFill>
              </a:defRPr>
            </a:defPPr>
          </a:lstStyle>
          <a:p xmlns:a="http://schemas.openxmlformats.org/drawingml/2006/main">
            <a:pPr algn="l">
              <a:defRPr sz="1575" b="1">
                <a:solidFill>
                  <a:srgbClr val="62B4C6"/>
                </a:solidFill>
              </a:defRPr>
            </a:pPr>
            <a:r>
              <a:rPr sz="1575" b="1">
                <a:solidFill>
                  <a:srgbClr val="62B4C6"/>
                </a:solidFill>
              </a:rPr>
              <a:t>Próximo paso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9E56848-88AE-4A0E-A30F-91D419E061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66875" y="4791075"/>
            <a:ext cx="89535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500" b="0">
                <a:solidFill>
                  <a:srgbClr val="FFFFFF"/>
                </a:solidFill>
              </a:defRPr>
            </a:defPPr>
          </a:lstStyle>
          <a:p xmlns:a="http://schemas.openxmlformats.org/drawingml/2006/main">
            <a:pPr algn="l">
              <a:defRPr sz="1500" b="0">
                <a:solidFill>
                  <a:srgbClr val="FFFFFF"/>
                </a:solidFill>
              </a:defRPr>
            </a:pPr>
            <a:r>
              <a:rPr sz="1500" b="0">
                <a:solidFill>
                  <a:srgbClr val="FFFFFF"/>
                </a:solidFill>
              </a:rPr>
              <a:t>Fijar un umbral clínicamente motivado y validar sin reajuste en BUSI u otra cohorte.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AEAF954-5547-4E4A-B62E-9E465DAA57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953125"/>
            <a:ext cx="10668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1200" b="1">
                <a:solidFill>
                  <a:srgbClr val="B9CDD8"/>
                </a:solidFill>
              </a:defRPr>
            </a:defPPr>
          </a:lstStyle>
          <a:p xmlns:a="http://schemas.openxmlformats.org/drawingml/2006/main">
            <a:pPr algn="ctr">
              <a:defRPr sz="1200" b="1">
                <a:solidFill>
                  <a:srgbClr val="B9CDD8"/>
                </a:solidFill>
              </a:defRPr>
            </a:pPr>
            <a:r>
              <a:rPr sz="1200" b="1">
                <a:solidFill>
                  <a:srgbClr val="B9CDD8"/>
                </a:solidFill>
              </a:rPr>
              <a:t>Proyecto académico · no destinado a uso asistencial</a:t>
            </a:r>
          </a:p>
        </p:txBody>
      </p:sp>
    </p:spTree>
    <p:extLst>
      <p:ext uri="{BB962C8B-B14F-4D97-AF65-F5344CB8AC3E}">
        <p14:creationId xmlns:p14="http://schemas.microsoft.com/office/powerpoint/2010/main" val="1876430404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2026-10-16T20:31:06.3670000Z</dcterms:created>
  <dcterms:modified xsi:type="dcterms:W3CDTF">2026-10-16T20:31:06.3670000Z</dcterms:modified>
</coreProperties>
</file>