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1798270a9f4630" /><Relationship Type="http://schemas.openxmlformats.org/officeDocument/2006/relationships/extended-properties" Target="/docProps/app.xml" Id="R8beff08e3f0e4a58" /><Relationship Type="http://schemas.openxmlformats.org/officeDocument/2006/relationships/officeDocument" Target="/ppt/presentation.xml" Id="Re9bd9e9df8c2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35189f87748c3"/>
  </p:sldMasterIdLst>
  <p:notesMasterIdLst>
    <p:notesMasterId xmlns:r="http://schemas.openxmlformats.org/officeDocument/2006/relationships" r:id="R1bae17c864ab426d"/>
  </p:notesMasterIdLst>
  <p:sldIdLst>
    <p:sldId xmlns:r="http://schemas.openxmlformats.org/officeDocument/2006/relationships" id="256" r:id="R0534c7d11ad04f6c"/>
    <p:sldId xmlns:r="http://schemas.openxmlformats.org/officeDocument/2006/relationships" id="257" r:id="Rffe42579da354c39"/>
    <p:sldId xmlns:r="http://schemas.openxmlformats.org/officeDocument/2006/relationships" id="258" r:id="R7b6c8974a789454e"/>
    <p:sldId xmlns:r="http://schemas.openxmlformats.org/officeDocument/2006/relationships" id="259" r:id="Rdbcc3450e36b42fa"/>
    <p:sldId xmlns:r="http://schemas.openxmlformats.org/officeDocument/2006/relationships" id="260" r:id="Rac3767af81ff4429"/>
    <p:sldId xmlns:r="http://schemas.openxmlformats.org/officeDocument/2006/relationships" id="261" r:id="Rf0c9896391794fe7"/>
    <p:sldId xmlns:r="http://schemas.openxmlformats.org/officeDocument/2006/relationships" id="262" r:id="R6116f7e1d0944599"/>
    <p:sldId xmlns:r="http://schemas.openxmlformats.org/officeDocument/2006/relationships" id="263" r:id="R389c78fd51a64260"/>
    <p:sldId xmlns:r="http://schemas.openxmlformats.org/officeDocument/2006/relationships" id="264" r:id="Ref76adb9941e4049"/>
    <p:sldId xmlns:r="http://schemas.openxmlformats.org/officeDocument/2006/relationships" id="265" r:id="R57746b8716e84743"/>
    <p:sldId xmlns:r="http://schemas.openxmlformats.org/officeDocument/2006/relationships" id="266" r:id="Re2c58d4d68394122"/>
    <p:sldId xmlns:r="http://schemas.openxmlformats.org/officeDocument/2006/relationships" id="267" r:id="Rff5080f7a6f3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82b8305d64107" /><Relationship Type="http://schemas.openxmlformats.org/officeDocument/2006/relationships/slideMaster" Target="/ppt/slideMasters/slideMaster1.xml" Id="R29035189f87748c3" /><Relationship Type="http://schemas.openxmlformats.org/officeDocument/2006/relationships/notesMaster" Target="/ppt/notesMasters/notesMaster1.xml" Id="R1bae17c864ab426d" /><Relationship Type="http://schemas.openxmlformats.org/officeDocument/2006/relationships/presProps" Target="/ppt/presProps.xml" Id="R4d67f8db02d7443d" /><Relationship Type="http://schemas.openxmlformats.org/officeDocument/2006/relationships/tableStyles" Target="/ppt/tableStyles.xml" Id="R86689f137f074653" /><Relationship Type="http://schemas.openxmlformats.org/officeDocument/2006/relationships/slide" Target="/ppt/slides/slide1.xml" Id="R0534c7d11ad04f6c" /><Relationship Type="http://schemas.openxmlformats.org/officeDocument/2006/relationships/slide" Target="/ppt/slides/slide2.xml" Id="Rffe42579da354c39" /><Relationship Type="http://schemas.openxmlformats.org/officeDocument/2006/relationships/slide" Target="/ppt/slides/slide3.xml" Id="R7b6c8974a789454e" /><Relationship Type="http://schemas.openxmlformats.org/officeDocument/2006/relationships/slide" Target="/ppt/slides/slide4.xml" Id="Rdbcc3450e36b42fa" /><Relationship Type="http://schemas.openxmlformats.org/officeDocument/2006/relationships/slide" Target="/ppt/slides/slide5.xml" Id="Rac3767af81ff4429" /><Relationship Type="http://schemas.openxmlformats.org/officeDocument/2006/relationships/slide" Target="/ppt/slides/slide6.xml" Id="Rf0c9896391794fe7" /><Relationship Type="http://schemas.openxmlformats.org/officeDocument/2006/relationships/slide" Target="/ppt/slides/slide7.xml" Id="R6116f7e1d0944599" /><Relationship Type="http://schemas.openxmlformats.org/officeDocument/2006/relationships/slide" Target="/ppt/slides/slide8.xml" Id="R389c78fd51a64260" /><Relationship Type="http://schemas.openxmlformats.org/officeDocument/2006/relationships/slide" Target="/ppt/slides/slide9.xml" Id="Ref76adb9941e4049" /><Relationship Type="http://schemas.openxmlformats.org/officeDocument/2006/relationships/slide" Target="/ppt/slides/slide10.xml" Id="R57746b8716e84743" /><Relationship Type="http://schemas.openxmlformats.org/officeDocument/2006/relationships/slide" Target="/ppt/slides/slide11.xml" Id="Re2c58d4d68394122" /><Relationship Type="http://schemas.openxmlformats.org/officeDocument/2006/relationships/slide" Target="/ppt/slides/slide12.xml" Id="Rff5080f7a6f3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8675a49676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092a18ba3434a" /><Relationship Type="http://schemas.openxmlformats.org/officeDocument/2006/relationships/notesMaster" Target="/ppt/notesMasters/notesMaster1.xml" Id="R327bf887f411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b99602eb24850" /><Relationship Type="http://schemas.openxmlformats.org/officeDocument/2006/relationships/notesMaster" Target="/ppt/notesMasters/notesMaster1.xml" Id="R950a3a67174b42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03679a1e644cfe" /><Relationship Type="http://schemas.openxmlformats.org/officeDocument/2006/relationships/notesMaster" Target="/ppt/notesMasters/notesMaster1.xml" Id="R5aa9ee504fff4c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77a551749f41e8" /><Relationship Type="http://schemas.openxmlformats.org/officeDocument/2006/relationships/notesMaster" Target="/ppt/notesMasters/notesMaster1.xml" Id="Rd02952ca412c43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c4100a39324d83" /><Relationship Type="http://schemas.openxmlformats.org/officeDocument/2006/relationships/notesMaster" Target="/ppt/notesMasters/notesMaster1.xml" Id="Rd6a1185d7bf1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5d3be26da4fe0" /><Relationship Type="http://schemas.openxmlformats.org/officeDocument/2006/relationships/notesMaster" Target="/ppt/notesMasters/notesMaster1.xml" Id="Rcbb5d4e43cf64a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c9dee702da44c9" /><Relationship Type="http://schemas.openxmlformats.org/officeDocument/2006/relationships/notesMaster" Target="/ppt/notesMasters/notesMaster1.xml" Id="Rc17e3ac8a9e741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e1d3f781fb4512" /><Relationship Type="http://schemas.openxmlformats.org/officeDocument/2006/relationships/notesMaster" Target="/ppt/notesMasters/notesMaster1.xml" Id="R92828f340c3e47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18863b3b684534" /><Relationship Type="http://schemas.openxmlformats.org/officeDocument/2006/relationships/notesMaster" Target="/ppt/notesMasters/notesMaster1.xml" Id="R601c4474b18a4f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d9d3b252894002" /><Relationship Type="http://schemas.openxmlformats.org/officeDocument/2006/relationships/notesMaster" Target="/ppt/notesMasters/notesMaster1.xml" Id="R7c17628f4964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13dda633ca4e84" /><Relationship Type="http://schemas.openxmlformats.org/officeDocument/2006/relationships/notesMaster" Target="/ppt/notesMasters/notesMaster1.xml" Id="Rf063d80e6ab94d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dd6788f615429c" /><Relationship Type="http://schemas.openxmlformats.org/officeDocument/2006/relationships/notesMaster" Target="/ppt/notesMasters/notesMaster1.xml" Id="R88ee127bf47948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</a:t>
            </a:r>
          </a:p>
          <a:p xmlns:a="http://schemas.openxmlformats.org/drawingml/2006/main">
            <a:r>
              <a:t>Buenos días. Voy a presentar un clasificador de lesiones mamarias en ecografía desarrollado como proyecto de Fundamentos de Medicina y Aplicaciones de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IDEA CENTRAL</a:t>
            </a:r>
          </a:p>
          <a:p xmlns:a="http://schemas.openxmlformats.org/drawingml/2006/main">
            <a:r>
              <a:t>El trabajo estudia una tarea acotada: estimar malignidad en una imagen donde la lesión ya fue localizada. Usé EfficientNet-B0 y el conjunto BUS-BRA, con separación por paciente y análisis explícito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ACLARACIÓN</a:t>
            </a:r>
          </a:p>
          <a:p xmlns:a="http://schemas.openxmlformats.org/drawingml/2006/main">
            <a:r>
              <a:t>Es un experimento académico retrospectivo. No es una herramienta habilitada para tomar decisiones asistenciales.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Primero voy a ubicar qué pregunta clínica intenta aproximar el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La pregunta no es solamente si el modelo acierta. También importa qué decisión intenta apoyar y sobre qué tipo de entrada trabaja.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DESARROLLO</a:t>
            </a:r>
          </a:p>
          <a:p xmlns:a="http://schemas.openxmlformats.org/drawingml/2006/main">
            <a:r>
              <a:t>La decisión clínica que se aproxima es control frente a biopsia, conceptualmente relacionada con la frontera entre BI-RADS 3 y 4. El modelo entrega una puntuación de malignidad, pero la imagen ya fue seleccionada y encuadrada por un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ÉNFASIS</a:t>
            </a:r>
          </a:p>
          <a:p xmlns:a="http://schemas.openxmlformats.org/drawingml/2006/main">
            <a:r>
              <a:t>Por eso, este experimento evalúa clasificación. No evalúa la detección de lesiones durante un estudio ecográfico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Con ese alcance definido, paso al diseño de la evaluación.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Planteé el trabajo como un estudio retrospectivo de exactitud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DESARROLLO</a:t>
            </a:r>
          </a:p>
          <a:p xmlns:a="http://schemas.openxmlformats.org/drawingml/2006/main">
            <a:r>
              <a:t>BUS-BRA contiene 1.875 imágenes correspondientes a 1.064 pacientes. La separación entre entrenamiento, validación y prueba se hizo por paciente para evitar que imágenes de una misma persona aparezcan en más de una partición.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SPLIT</a:t>
            </a:r>
          </a:p>
          <a:p xmlns:a="http://schemas.openxmlformats.org/drawingml/2006/main">
            <a:r>
              <a:t>El conjunto de prueba retenido tiene 376 imágenes de 212 pacientes. Ese conjunto no intervino en el ajuste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ACLARACIÓN IMPORTANTE</a:t>
            </a:r>
          </a:p>
          <a:p xmlns:a="http://schemas.openxmlformats.org/drawingml/2006/main">
            <a:r>
              <a:t>Los resultados actuales son una estimación interna dentro de BUS-BRA. La validación externa en BUSI sigue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La validez de esa estimación depende primero de cómo se prepararon los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La prevención de fuga de información comienza antes del entrenamiento.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DESARROLLO</a:t>
            </a:r>
          </a:p>
          <a:p xmlns:a="http://schemas.openxmlformats.org/drawingml/2006/main">
            <a:r>
              <a:t>Primero se construyó un inventario reproducible de imágenes y etiquetas. Después se revisaron archivos inválidos, duplicados y posibles marcas. Luego se usó el identificador de paciente como unidad indivisible para la partición.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ÉNFASIS</a:t>
            </a:r>
          </a:p>
          <a:p xmlns:a="http://schemas.openxmlformats.org/drawingml/2006/main">
            <a:r>
              <a:t>La regla central es simple: un paciente solo puede pertenecer a una partición. Además, cualquier transformación o ponderación que dependa de los datos se calcula usando únicamente entrenamiento.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 REPRODUCIBLE</a:t>
            </a:r>
          </a:p>
          <a:p xmlns:a="http://schemas.openxmlformats.org/drawingml/2006/main">
            <a:r>
              <a:t>El detalle de las asignaciones quedó guardado en resolved_manifest.csv.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Sobre esa base se entrenó el clasificador.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El pipeline mantiene la imagen completa y evita deformar su proporción.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DESARROLLO</a:t>
            </a:r>
          </a:p>
          <a:p xmlns:a="http://schemas.openxmlformats.org/drawingml/2006/main">
            <a:r>
              <a:t>La ecografía se procesa en escala de grises, se completa con padding y se lleva a 224 por 224 píxeles. EfficientNet-B0 parte de pesos de ImageNet y se ajusta progresivamente para producir una puntuación entre cero y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ACLARACIÓN</a:t>
            </a:r>
          </a:p>
          <a:p xmlns:a="http://schemas.openxmlformats.org/drawingml/2006/main">
            <a:r>
              <a:t>En esta primera evaluación se muestra el umbral 0,5. Ese valor sirve como referencia técnica, pero no se eligió a partir de un costo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ÉNFASIS</a:t>
            </a:r>
          </a:p>
          <a:p xmlns:a="http://schemas.openxmlformats.org/drawingml/2006/main">
            <a:r>
              <a:t>La salida representa una predicción del experimento, no una recomendación autónoma de biopsia o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Veamos ahora cómo evolucionó el aprendizaje.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GRÁFICO</a:t>
            </a:r>
          </a:p>
          <a:p xmlns:a="http://schemas.openxmlformats.org/drawingml/2006/main">
            <a:r>
              <a:t>A la izquierda vemos la pérdida de entrenamiento y validación. A la derecha, el AUC y el average precision sobre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</a:t>
            </a:r>
          </a:p>
          <a:p xmlns:a="http://schemas.openxmlformats.org/drawingml/2006/main">
            <a:r>
              <a:t>En la época 20, el AUC de validación alcanza 0,852 y el average precision 0,796.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INTERPRETACIÓN</a:t>
            </a:r>
          </a:p>
          <a:p xmlns:a="http://schemas.openxmlformats.org/drawingml/2006/main">
            <a:r>
              <a:t>La pérdida de validación llega a su mínimo aproximadamente en la época 11 y después aumenta, mientras la pérdida de entrenamiento continúa bajando. Esto sugiere sobreajuste.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IMPLICANCIA</a:t>
            </a:r>
          </a:p>
          <a:p xmlns:a="http://schemas.openxmlformats.org/drawingml/2006/main">
            <a:r>
              <a:t>Para una versión posterior convendría seleccionar el checkpoint según la variable principal predefinida, aplicar detención temprana y evaluar regularización.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Aun con esa advertencia, el conjunto de prueba muestra una discriminación alta.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En el test retenido, el modelo alcanza un AUC-ROC de 0,935 y un average precision de 0,896.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LECTURA</a:t>
            </a:r>
          </a:p>
          <a:p xmlns:a="http://schemas.openxmlformats.org/drawingml/2006/main">
            <a:r>
              <a:t>El AUC resume la capacidad de ordenar casos malignos por encima de benignos a través de todos los umbrales. La curva de precisión y recall es especialmente útil porque la malignidad representa el 32,4 por ciento de las imágenes.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</a:t>
            </a:r>
          </a:p>
          <a:p xmlns:a="http://schemas.openxmlformats.org/drawingml/2006/main">
            <a:r>
              <a:t>Estas métricas provienen de 376 imágenes de 212 pacientes. Son resultados internos de BUS-BRA y todavía no prueban generalización a otra institución o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Una curva global no define cómo se comporta el modelo en un punto concreto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Con umbral 0,5, el modelo identifica 97 lesiones malignas y deja 25 como falsos negativos.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LECTURA DE LA MATRIZ</a:t>
            </a:r>
          </a:p>
          <a:p xmlns:a="http://schemas.openxmlformats.org/drawingml/2006/main">
            <a:r>
              <a:t>La sensibilidad es 79,5 por ciento y la especificidad 90,6 por ciento. El valor predictivo positivo es 80,2 por ciento para la prevalencia de este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INTERPRETACIÓN CLÍNICA</a:t>
            </a:r>
          </a:p>
          <a:p xmlns:a="http://schemas.openxmlformats.org/drawingml/2006/main">
            <a:r>
              <a:t>El umbral convencional favorece la especificidad, pero la sensibilidad resulta insuficiente para asumir que representa una estrategia segura de descarte.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PRÓXIMO ANÁLISIS</a:t>
            </a:r>
          </a:p>
          <a:p xmlns:a="http://schemas.openxmlformats.org/drawingml/2006/main">
            <a:r>
              <a:t>El umbral debe fijarse en validación según el costo clínico de omitir una lesión maligna. Conviene explorar objetivos de sensibilidad de 95 a 98 por ciento y reportar la especificidad resultante.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Además de contar errores, hay que estudiar por qué ocurren.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La evaluación se completa con una revisión sistemática de los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DESARROLLO</a:t>
            </a:r>
          </a:p>
          <a:p xmlns:a="http://schemas.openxmlformats.org/drawingml/2006/main">
            <a:r>
              <a:t>Los 25 falsos negativos merecen revisión completa, buscando patrones morfológicos, mala calidad o artefactos. Los falsos positivos pueden mostrar lesiones benignas difíciles o dependencia de marcas y bordes.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GRAD-CAM</a:t>
            </a:r>
          </a:p>
          <a:p xmlns:a="http://schemas.openxmlformats.org/drawingml/2006/main">
            <a:r>
              <a:t>Grad-CAM puede indicar qué regiones influyen en la predicción, pero no equivale a una segmentación ni demuestra razonamiento médico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</a:t>
            </a:r>
          </a:p>
          <a:p xmlns:a="http://schemas.openxmlformats.org/drawingml/2006/main">
            <a:r>
              <a:t>Comparar los mapas con una cabeza aleatorizada ayuda a detectar explicaciones visuales que parecen convincentes aunque no sean específicas del modelo entrenado.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Este análisis también ayuda a precisar qué queda fuera del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Existe una brecha importante entre clasificar una imagen seleccionada y asistir un examen ecográfico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 QUE SÍ EVALUAMOS</a:t>
            </a:r>
          </a:p>
          <a:p xmlns:a="http://schemas.openxmlformats.org/drawingml/2006/main">
            <a:r>
              <a:t>Medimos discriminación retrospectiva en BUS-BRA y caracterizamos errores sobre imágenes donde la lesión ya estaba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 QUE NO PODEMOS AFIRMAR</a:t>
            </a:r>
          </a:p>
          <a:p xmlns:a="http://schemas.openxmlformats.org/drawingml/2006/main">
            <a:r>
              <a:t>No evaluamos detección durante el examen, impacto sobre decisiones ni generalización a otros centros y equipos.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</a:t>
            </a:r>
          </a:p>
          <a:p xmlns:a="http://schemas.openxmlformats.org/drawingml/2006/main">
            <a:r>
              <a:t>El siguiente nivel de evidencia requiere validación externa sin reajustar el modelo. Después haría falta un estudio prospectivo que mida cómo cambia el desempeño de los profesionales y qué ocurre con las decisiones clínicas.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Si esa evidencia fuera favorable, la integración también debería diseñarse de forma explícita.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PRINCIPAL</a:t>
            </a:r>
          </a:p>
          <a:p xmlns:a="http://schemas.openxmlformats.org/drawingml/2006/main">
            <a:r>
              <a:t>El clasificador debería funcionar como apoyo dentro del flujo clínico y mantener al profesional como responsable de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FLUJO PROPUESTO</a:t>
            </a:r>
          </a:p>
          <a:p xmlns:a="http://schemas.openxmlformats.org/drawingml/2006/main">
            <a:r>
              <a:t>La imagen se adquiere en el ecógrafo, pasa al PACS con las medidas de desidentificación necesarias y el clasificador genera una puntuación visible para el profesional. Esa información puede acompañar el informe BI-RADS, pero la conducta final sigue a cargo del médico.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CONDICIONES DE IMPLEMENTACIÓN</a:t>
            </a:r>
          </a:p>
          <a:p xmlns:a="http://schemas.openxmlformats.org/drawingml/2006/main">
            <a:r>
              <a:t>Antes de usarlo habría que definir gobernanza de datos, monitoreo de deriva, manejo de errores y responsabilidades. También sería necesario evaluar usabilidad y efecto sobre tiempos y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</a:t>
            </a:r>
          </a:p>
          <a:p xmlns:a="http://schemas.openxmlformats.org/drawingml/2006/main">
            <a:r>
              <a:t>Cierro con los tres mensajes que considero más importantes.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</a:t>
            </a:r>
          </a:p>
          <a:p xmlns:a="http://schemas.openxmlformats.org/drawingml/2006/main">
            <a:r>
              <a:t>El primer mensaje es que el modelo encontró una señal predictiva fuerte en el test retenido: AUC 0,935 y average precision 0,896.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segundo es que una métrica global alta no garantiza un punto de operación clínicamente aceptable. Con umbral 0,5, la sensibilidad es 79,5 por ciento y aparecen 25 falsos negativos.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tercero es que el próximo paso debe priorizar evidencia, no complejidad del modelo: elegir un umbral clínicamente motivado, revisar errores y validar sin reajuste en BUSI u otra cohorte.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FRASE FINAL</a:t>
            </a:r>
          </a:p>
          <a:p xmlns:a="http://schemas.openxmlformats.org/drawingml/2006/main">
            <a:r>
              <a:t>En síntesis, el experimento muestra capacidad de discriminación, pero todavía no demuestra utilidad clínica. Muchas gracias. Quedo atento a las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9c1c8d11745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ff9b9ddbb43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9a1cb7aee48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8a1023d7548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5278aada146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7e31f53bc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7F1C5B-92D4-4CC4-829D-91E8D85F2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ED63C4-877E-4D24-A3F4-B15FB7410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2631E1-ACDA-4BE1-A1B1-550E0DE4F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C2D73D-401C-40A8-8A18-92429DEA4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8CFCE6-9D1E-468B-988E-78A19E1C31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C3CA7-1876-4278-AE3C-7D64B5B22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F9B17-BE14-47D3-8BAB-94FF803A5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9007D2-179E-4D03-8853-555303D68D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986EEE-91EF-4BB7-9B46-A80773004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304E9D-EFCE-416A-BB42-6856C8068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50ca51b0343eb" /><Relationship Type="http://schemas.openxmlformats.org/officeDocument/2006/relationships/slideLayout" Target="/ppt/slideLayouts/slideLayout1.xml" Id="R84eaeb9311384a69" /><Relationship Type="http://schemas.openxmlformats.org/officeDocument/2006/relationships/slideLayout" Target="/ppt/slideLayouts/slideLayout2.xml" Id="R421ac8a2bb6a4af6" /><Relationship Type="http://schemas.openxmlformats.org/officeDocument/2006/relationships/slideLayout" Target="/ppt/slideLayouts/slideLayout3.xml" Id="Re8ae7875df294f35" /><Relationship Type="http://schemas.openxmlformats.org/officeDocument/2006/relationships/slideLayout" Target="/ppt/slideLayouts/slideLayout4.xml" Id="R75f3bb8af2004cab" /><Relationship Type="http://schemas.openxmlformats.org/officeDocument/2006/relationships/slideLayout" Target="/ppt/slideLayouts/slideLayout5.xml" Id="Rcc8575ab7d954efc" /><Relationship Type="http://schemas.openxmlformats.org/officeDocument/2006/relationships/slideLayout" Target="/ppt/slideLayouts/slideLayout6.xml" Id="R232032b6e11347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aeb9311384a69"/>
    <p:sldLayoutId xmlns:r="http://schemas.openxmlformats.org/officeDocument/2006/relationships" id="2147483650" r:id="R421ac8a2bb6a4af6"/>
    <p:sldLayoutId xmlns:r="http://schemas.openxmlformats.org/officeDocument/2006/relationships" id="2147483651" r:id="Re8ae7875df294f35"/>
    <p:sldLayoutId xmlns:r="http://schemas.openxmlformats.org/officeDocument/2006/relationships" id="2147483652" r:id="R75f3bb8af2004cab"/>
    <p:sldLayoutId xmlns:r="http://schemas.openxmlformats.org/officeDocument/2006/relationships" id="2147483653" r:id="Rcc8575ab7d954efc"/>
    <p:sldLayoutId xmlns:r="http://schemas.openxmlformats.org/officeDocument/2006/relationships" id="2147483654" r:id="R232032b6e11347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c4527ee2a44b1" /><Relationship Type="http://schemas.openxmlformats.org/officeDocument/2006/relationships/notesSlide" Target="/ppt/notesSlides/notesSlide1.xml" Id="Ree7e2d2502fc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d57aa4c20429a" /><Relationship Type="http://schemas.openxmlformats.org/officeDocument/2006/relationships/notesSlide" Target="/ppt/notesSlides/notesSlide2.xml" Id="Rbfaeac8a5e794d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30aba0d25493c" /><Relationship Type="http://schemas.openxmlformats.org/officeDocument/2006/relationships/notesSlide" Target="/ppt/notesSlides/notesSlide3.xml" Id="Re1780f87b042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2ca1bd5514593" /><Relationship Type="http://schemas.openxmlformats.org/officeDocument/2006/relationships/notesSlide" Target="/ppt/notesSlides/notesSlide4.xml" Id="R51f64d34a3d94a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19ae12919478a" /><Relationship Type="http://schemas.openxmlformats.org/officeDocument/2006/relationships/notesSlide" Target="/ppt/notesSlides/notesSlide5.xml" Id="Rc0f7b8ead6bf4c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2e96f9d724ada" /><Relationship Type="http://schemas.openxmlformats.org/officeDocument/2006/relationships/image" Target="/ppt/media/image.png" Id="Rd48e34f03e6f483c" /><Relationship Type="http://schemas.openxmlformats.org/officeDocument/2006/relationships/notesSlide" Target="/ppt/notesSlides/notesSlide6.xml" Id="R1fb625da77144f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3bc9d9f72431e" /><Relationship Type="http://schemas.openxmlformats.org/officeDocument/2006/relationships/image" Target="/ppt/media/image2.png" Id="R6e8da7e9db114c89" /><Relationship Type="http://schemas.openxmlformats.org/officeDocument/2006/relationships/notesSlide" Target="/ppt/notesSlides/notesSlide7.xml" Id="R20c2476b5367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fa68961ed426d" /><Relationship Type="http://schemas.openxmlformats.org/officeDocument/2006/relationships/notesSlide" Target="/ppt/notesSlides/notesSlide8.xml" Id="R07fb8ad2b1a6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f0331b34a439c" /><Relationship Type="http://schemas.openxmlformats.org/officeDocument/2006/relationships/notesSlide" Target="/ppt/notesSlides/notesSlide9.xml" Id="R19d40bd1e9a943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e0213cd40402a" /><Relationship Type="http://schemas.openxmlformats.org/officeDocument/2006/relationships/notesSlide" Target="/ppt/notesSlides/notesSlide10.xml" Id="R971158cd654d46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888538ae641ae" /><Relationship Type="http://schemas.openxmlformats.org/officeDocument/2006/relationships/notesSlide" Target="/ppt/notesSlides/notesSlide11.xml" Id="R2898c1e1c5284a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55dcf0c8743ca" /><Relationship Type="http://schemas.openxmlformats.org/officeDocument/2006/relationships/notesSlide" Target="/ppt/notesSlides/notesSlide12.xml" Id="R1c8b0b3b8a2646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5468F-628F-4472-BAF0-12911EF5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C7B62-44BC-4580-B9F1-388A96A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CLASIFICACIÓN DE LESIONES MAMARIAS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EN ECOGRAFÍA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7761-A975-4535-8EE7-933A75D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FD3DE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FD3DE"/>
                </a:solidFill>
              </a:defRPr>
            </a:pPr>
            <a:r>
              <a:rPr sz="1650" b="0">
                <a:solidFill>
                  <a:srgbClr val="BFD3DE"/>
                </a:solidFill>
              </a:rPr>
              <a:t>Un estudio retrospectivo de exactitud diagnóstica con EfficientNet-B0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9F38-191E-4027-84F0-FA2B134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5600-7FB1-42A2-BD55-F422D79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BUS-BRA · partición por paciente · análisis de errores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12C5-8609-46BD-A2F1-491530FB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FD3DE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BFD3DE"/>
                </a:solidFill>
              </a:defRPr>
            </a:pPr>
            <a:r>
              <a:rPr sz="1275" b="0">
                <a:solidFill>
                  <a:srgbClr val="BFD3DE"/>
                </a:solidFill>
              </a:rPr>
              <a:t>Maestría en Inteligencia Artificial · FIUBA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67DED-961E-4F93-8EC1-9416FF2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Esp. Ing. Emmanuel Cardozo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F989C-08E8-4BBF-9AB9-1B2F71F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9525">
            <a:solidFill>
              <a:srgbClr val="2F6F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0594D-5AB3-4EFB-A914-4207BF5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56"/>
          </a:solidFill>
          <a:ln xmlns:a="http://schemas.openxmlformats.org/drawingml/2006/main" w="9525">
            <a:solidFill>
              <a:srgbClr val="62B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24566-E4A8-400A-BC2E-6CB0CAE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14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E9EAC-56FC-4C23-9EF7-513315C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17419182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3BED1-4796-4F96-8011-59F14FF8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Problema clínico y pregunta de investigación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7CC5A-ED61-407C-9B6D-595C911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E43AA-3F38-4914-BF7A-58D1C8D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1BED-7327-4E08-9417-219502AC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F88E-275D-4D39-A46B-3ACE724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8CC7A-94BC-4E3E-8DCB-E6A7D57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¿Puede el modelo discriminar malignidad en una lesión ya localizada y conservar su desempeño en pacientes no vistos?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35E2A-4159-4AF6-ABCA-20ED80FE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6EA23-7049-4966-8DDD-336ED21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270B6-9662-4A99-BAC1-64916F4F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DECISIÓN QUE SE APROXIMA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83DC8-F220-40CD-901F-14E1A294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Control o biopsia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01A7-4446-40E0-8F65-73253CF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Referencia conceptual: BI-RADS 3 frente a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22DDA-1092-41AE-890C-24AB562A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La puntuación no reemplaza el juicio clínico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4827D-ACBA-4C98-8B7F-F2C3A2F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ALCANCE REAL DEL EXPERIMENTO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22BDD-C657-4BEB-AB04-A1C6E052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Clasificación de una imagen estática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6CB5D-7CDC-4701-A0C5-28002BE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La lesión ya fue encontrada y encuadrada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805EA-9A5B-4D6D-8A0C-23D2CEA6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Uso académico y retrospectivo</a:t>
            </a:r>
          </a:p>
        </p:txBody>
      </p:sp>
    </p:spTree>
    <p:extLst>
      <p:ext uri="{BB962C8B-B14F-4D97-AF65-F5344CB8AC3E}">
        <p14:creationId xmlns:p14="http://schemas.microsoft.com/office/powerpoint/2010/main" val="10376940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610BD-7B55-4C5E-857E-7CAF5B4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Diseño del estudio y cohorte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AB122-478A-49AA-B77C-545B53A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79B9E-6453-4A2B-BFD4-0ED1974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AABFB-A9A4-49E1-8A5E-7C0EF5CC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3209-2119-4112-8C47-157EEF06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639ED-1F9A-4D9A-82D8-D6F8809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Estudio retrospectivo de exactitud diagnóstica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A9D0B-0694-4DCF-B1D1-4AA5AB6B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07080"/>
                </a:solidFill>
              </a:defRPr>
            </a:pPr>
            <a:r>
              <a:rPr sz="1500" b="0">
                <a:solidFill>
                  <a:srgbClr val="607080"/>
                </a:solidFill>
              </a:rPr>
              <a:t>El diseño sigue la lógica de investigación clínica: variable principal definida, separación por paciente y evaluación en un conjunto no utilizado para entrenar.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9790-F2D1-444E-92B8-9F9E432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19A40-6EDC-4362-B0CB-9C1BC6E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 ·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851CD-DDDC-4D80-9A46-D5A5DCF1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BUS-BRA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1.875 imágenes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1.064 pacientes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81ABD-681E-4701-9709-49A2F85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87883-E3CE-4A99-9C57-9737A52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2 · PARTICIÓN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9EDF4-6B8B-4F13-A4EA-9C7F152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Train / validación / test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Agrupado por paciente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Sin fuga entre particiones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C15E-A1D8-44B9-BEA1-8A4DBA2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970D9-B570-4BF8-8B9C-4A1A1C65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3 · MODELO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3138E-FD22-4F20-8FCA-D7728E8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EfficientNet-B0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Pesos ImageNet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Cabeza binaria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24A8B-A032-4AF6-B301-3EBF15E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CE588-C451-4E3E-B10C-060A635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4 · EVALUACIÓN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E00B5-2A57-41DD-B8C0-BED0C3D6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Test retenido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376 imágenes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212 pacientes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02A24-7743-4257-90E1-E1A7A7D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C95555"/>
                </a:solidFill>
              </a:defRPr>
            </a:pPr>
            <a:r>
              <a:rPr sz="1350" b="1">
                <a:solidFill>
                  <a:srgbClr val="C95555"/>
                </a:solidFill>
              </a:rPr>
              <a:t>Resultado: estimación interna en BUS-BRA. La validación externa en BUSI queda pendiente.</a:t>
            </a:r>
          </a:p>
        </p:txBody>
      </p:sp>
    </p:spTree>
    <p:extLst>
      <p:ext uri="{BB962C8B-B14F-4D97-AF65-F5344CB8AC3E}">
        <p14:creationId xmlns:p14="http://schemas.microsoft.com/office/powerpoint/2010/main" val="4035956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36338-0A10-4D36-A5C2-24680B6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Curación de datos y prevención de fuga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C0A5-0ABE-44F3-9C64-075AF409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64F04-B0BE-4407-BF13-5327486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89354-36E1-40F3-AE42-6998017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C2ED-3FAC-4F95-9B2E-46FCF36C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F2FF2-77FA-4998-B513-53E59362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5EA5E-4818-46A4-B7B5-8994C8D6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B5C1F-CE35-4FF3-B943-2C56BA1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Inventario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46FD7-45C7-4773-A0DC-7F243ACD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Rutas, etiquetas,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dimensiones y licencia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62644-AA48-4842-B3C2-E6992018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C1656-436E-4547-BEF6-4C8F6D9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5EA9-9560-4549-BB97-FB5685B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6FC19-BD77-416E-83F9-E3C3CCC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Auditoría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D5785-0F8F-4A1A-A26B-C4C257C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Duplicados, marcas,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archivos inválidos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DD2AD-9314-441C-9E7D-D362DF9D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78813-F376-4F73-89F5-6F43E30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1F6DF-EB84-4DBC-8CE7-82DFC397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068DD-02DE-46FD-8175-C4D0527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Agrupamiento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41B28-9AC9-42A4-A44C-4A758CA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Identificador de paciente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como unidad indivisible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2C656-3CAA-4604-B547-BC62CB5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76E28-7AEC-49A7-9178-750DF44C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83E7F-8CE5-4955-8E77-DF7B2AD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0E869-891B-4ADC-B96B-72A80B68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Partición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5E840-1AA5-4951-AEB0-DF0A7EEE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Estratificación aproximada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y manifiesto congelado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935EC-65A2-4113-B0B5-5C90D93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3845E-716D-4D61-9C5E-1C40215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E69A43"/>
                </a:solidFill>
              </a:defRPr>
            </a:pPr>
            <a:r>
              <a:rPr sz="1350" b="1">
                <a:solidFill>
                  <a:srgbClr val="E69A43"/>
                </a:solidFill>
              </a:rPr>
              <a:t>Regla de integridad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9FBCC-FE45-45C4-B345-90822C2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433"/>
                </a:solidFill>
              </a:defRPr>
            </a:pPr>
            <a:r>
              <a:rPr sz="1500" b="1">
                <a:solidFill>
                  <a:srgbClr val="142433"/>
                </a:solidFill>
              </a:rPr>
              <a:t>El mismo paciente no puede aparecer en más de una partición. El entrenamiento usa únicamente transformaciones y ponderaciones calculadas sobre train.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E2E5A-ECBA-4CBE-8E12-3F49497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785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La auditoría queda registrada en resolved_manifest.csv</a:t>
            </a:r>
          </a:p>
        </p:txBody>
      </p:sp>
    </p:spTree>
    <p:extLst>
      <p:ext uri="{BB962C8B-B14F-4D97-AF65-F5344CB8AC3E}">
        <p14:creationId xmlns:p14="http://schemas.microsoft.com/office/powerpoint/2010/main" val="6673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85624-1175-4C1D-99DB-3E45024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Pipeline del clasificador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28F10-E7AF-4C64-9819-A86744C1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1BBFB-5668-46E3-9E43-6E314DE6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3FCD3-5D30-4584-AB95-8B27F2F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3A75D-14DF-48D2-B757-AB8C48E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28E6-ABE8-4ABA-8D86-DB112BAE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84B4B-8C18-4242-8523-E096E0B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Imagen ecográfica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ED76E-F359-4536-BDAD-1478DF4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Escala de grises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Lesión ya localizada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6DB1-928E-48E9-9DB4-FCE84DE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D6804-3260-4F30-A030-374F599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85560-C8D3-4D92-99A5-8C6CF5E7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Preprocesamiento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908C1-2F73-4B35-B40C-98A6592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Padding sin deformar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224 × 224 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FB015-B4BD-418D-8012-8F486AD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70DB2-850A-432B-B2FD-703BD09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75EED-5A82-4F93-A448-53978BE3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EE560-7FD2-4931-903E-02920494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Transfer learning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Ajuste fino progresivo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445AD-1F48-4BD4-918D-607E73D6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E2CFB-13EB-4A53-AD19-276E3EA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F6906-63C3-474F-8936-D01169B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Puntuación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3B5EF-5A30-479D-840A-D1EF140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Probabilidad de malignidad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Umbral 0,5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BC82C-7AC1-482F-95A3-713EE443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14500"/>
            <a:ext cx="904875" cy="23812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8C735-C4EB-4AFF-BE5B-1D70FF7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095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6F4C9-D2D6-46B9-A067-DE7B540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86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FC88D-40B0-455A-ADF8-F5265769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543175"/>
            <a:ext cx="1905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737AD-1F79-4738-B9DD-B38D6A0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C95555"/>
                </a:solidFill>
              </a:defRPr>
            </a:pPr>
            <a:r>
              <a:rPr sz="1650" b="1">
                <a:solidFill>
                  <a:srgbClr val="C95555"/>
                </a:solidFill>
              </a:rPr>
              <a:t>Salida binaria para el experimento. No constituye una recomendación clínica autónoma.</a:t>
            </a:r>
          </a:p>
        </p:txBody>
      </p:sp>
    </p:spTree>
    <p:extLst>
      <p:ext uri="{BB962C8B-B14F-4D97-AF65-F5344CB8AC3E}">
        <p14:creationId xmlns:p14="http://schemas.microsoft.com/office/powerpoint/2010/main" val="1438434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746A1-09BD-4773-997E-0028C3C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Entrenamiento y selección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34E51-292E-4A2A-89D9-2ECE903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3A31-7B89-43DF-9208-3BCA6117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ECE3-4BC5-4038-B622-BBD69A6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A67D8-6EE0-4D4F-97C0-A629377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867A1-C33F-42B9-8DEF-54DCA8A45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e34f03e6f483c"/>
          <a:stretch xmlns:a="http://schemas.openxmlformats.org/drawingml/2006/main"/>
        </p:blipFill>
        <p:spPr>
          <a:xfrm xmlns:a="http://schemas.openxmlformats.org/drawingml/2006/main">
            <a:off x="571500" y="2115116"/>
            <a:ext cx="8096250" cy="26277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2808B-3912-4B59-B308-3762535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15B5-4E58-421A-917E-CE1B0BB8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0,852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8C180-0179-45B6-B4C1-4360EC4F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BDD4DE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BDD4DE"/>
                </a:solidFill>
              </a:defRPr>
            </a:pPr>
            <a:r>
              <a:rPr sz="1200" b="0">
                <a:solidFill>
                  <a:srgbClr val="BDD4DE"/>
                </a:solidFill>
              </a:rPr>
              <a:t>AUC de validación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BDD4DE"/>
                </a:solidFill>
              </a:defRPr>
            </a:pPr>
            <a:r>
              <a:rPr sz="1200" b="0">
                <a:solidFill>
                  <a:srgbClr val="BDD4DE"/>
                </a:solidFill>
              </a:rPr>
              <a:t>en época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7099-25FB-44E5-B39F-39627B37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AF733-6B85-439E-A683-CFEEE25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0,796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E925-217A-4090-B83B-F8107F6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Average precision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en época 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20DD6-3C6E-472E-9708-D12CFF8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3387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42433"/>
                </a:solidFill>
              </a:defRPr>
            </a:pPr>
            <a:r>
              <a:rPr sz="1275" b="1">
                <a:solidFill>
                  <a:srgbClr val="142433"/>
                </a:solidFill>
              </a:rPr>
              <a:t>La pérdida de validación alcanza su mínimo alrededor de la época 11 y luego aumenta: señal de sobreajuste que debe discutirse.</a:t>
            </a:r>
          </a:p>
        </p:txBody>
      </p:sp>
    </p:spTree>
    <p:extLst>
      <p:ext uri="{BB962C8B-B14F-4D97-AF65-F5344CB8AC3E}">
        <p14:creationId xmlns:p14="http://schemas.microsoft.com/office/powerpoint/2010/main" val="3222818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6F6E2-3213-4B5F-BF0B-CE1D1A7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Desempeño en el conjunto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33EE-0B84-4580-AF3E-C7B800A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13D23-914E-42B5-8525-AD7ED0E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EF813-4C63-427B-AA85-C82D79A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915F5-A82B-4176-82DF-F6DEB71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43851-8612-4E24-AE5B-576D58290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a7e9db114c89"/>
          <a:stretch xmlns:a="http://schemas.openxmlformats.org/drawingml/2006/main"/>
        </p:blipFill>
        <p:spPr>
          <a:xfrm xmlns:a="http://schemas.openxmlformats.org/drawingml/2006/main">
            <a:off x="523875" y="1783965"/>
            <a:ext cx="7905750" cy="32900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0787C-E80F-4869-9620-D9D07145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85875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3FF6C-A93D-4EAE-B5E8-A3E583F9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0,935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272BD-81FE-492D-9843-9CFBE1D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DD4DE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BDD4DE"/>
                </a:solidFill>
              </a:defRPr>
            </a:pPr>
            <a:r>
              <a:rPr sz="1200" b="1">
                <a:solidFill>
                  <a:srgbClr val="BDD4DE"/>
                </a:solidFill>
              </a:rPr>
              <a:t>AUC-ROC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E239-1A4C-492E-89E8-48FD9DC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33F67-AD7F-4FE9-ABBA-8FF3106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0,896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B3374-FB70-4021-BF22-58CA2CC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Average 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4B6F9-AA5C-4D5A-AACF-B004B49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667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72698-627E-438A-B861-2EB1CED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376 imágenes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A99EE-985E-4CF3-BF7B-D8F6F2DD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212 pacientes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D7A17-D46F-49F8-92D1-C08E16C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9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42433"/>
                </a:solidFill>
              </a:defRPr>
            </a:pPr>
            <a:r>
              <a:rPr sz="1200" b="0">
                <a:solidFill>
                  <a:srgbClr val="142433"/>
                </a:solidFill>
              </a:rPr>
              <a:t>Prevalencia de malignidad: 32,4 %</a:t>
            </a:r>
          </a:p>
        </p:txBody>
      </p:sp>
    </p:spTree>
    <p:extLst>
      <p:ext uri="{BB962C8B-B14F-4D97-AF65-F5344CB8AC3E}">
        <p14:creationId xmlns:p14="http://schemas.microsoft.com/office/powerpoint/2010/main" val="14215176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02B0B-02FD-41AE-9D9B-18EA5A6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Punto de operación con umbral 0,5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BCC63-9A93-4482-AA34-AF6B47D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323F4-20BB-4F88-B604-E5C9FE9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95431-B476-4AFA-B752-AB62CA6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2DA18-9B96-4996-B904-55140F5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F56D6-D8EE-41E6-A70E-D5DA55D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El umbral convencional prioriza especificidad, pero deja 25 lesiones malignas como falsas negativas.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07AA2-D14C-42A4-B5B8-43BD0F0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2790-BA6A-4BC5-BFCA-328C1B83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EBDA0-2DE6-4C54-A00E-77826B21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3FA97-270C-43DE-8FA6-9980D94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B1890-9EBC-4BBC-BA3F-AD2E9FE2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ctr">
              <a:buNone/>
              <a:defRPr sz="2850" b="1">
                <a:solidFill>
                  <a:srgbClr val="3E8D72"/>
                </a:solidFill>
              </a:defRPr>
            </a:pPr>
            <a:r>
              <a:rPr sz="2850" b="1">
                <a:solidFill>
                  <a:srgbClr val="3E8D72"/>
                </a:solidFill>
              </a:rPr>
              <a:t>230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535E7-F9F5-431D-85E5-6F1711F4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Verdaderos negativos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03029-2AAE-4914-A3A7-95E38B9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86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2850" b="1">
                <a:solidFill>
                  <a:srgbClr val="C95555"/>
                </a:solidFill>
              </a:defRPr>
            </a:pPr>
            <a:r>
              <a:rPr sz="2850" b="1">
                <a:solidFill>
                  <a:srgbClr val="C95555"/>
                </a:solidFill>
              </a:rPr>
              <a:t>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236B-5EB2-40AB-A6D0-4FF3B0F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38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Falsos positivos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52A9D-C924-4974-8AEA-8A682A9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2850" b="1">
                <a:solidFill>
                  <a:srgbClr val="C95555"/>
                </a:solidFill>
              </a:defRPr>
            </a:pPr>
            <a:r>
              <a:rPr sz="2850" b="1">
                <a:solidFill>
                  <a:srgbClr val="C95555"/>
                </a:solidFill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7E39B-620E-4ACD-AA31-44AE927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Falsos negativos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8DE2-7803-4B13-90AC-622F4C5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10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ctr">
              <a:buNone/>
              <a:defRPr sz="2850" b="1">
                <a:solidFill>
                  <a:srgbClr val="3E8D72"/>
                </a:solidFill>
              </a:defRPr>
            </a:pPr>
            <a:r>
              <a:rPr sz="2850" b="1">
                <a:solidFill>
                  <a:srgbClr val="3E8D72"/>
                </a:solidFill>
              </a:rPr>
              <a:t>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23C8F-6BE4-4A21-9D2F-DA0BFBB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Verdaderos positivos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0EC18-00AA-4DEA-8A53-30ACDECC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0B5B3-7A8B-4D6D-828F-F9B5D26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Sensibilidad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8E0D0-E8D4-49DD-B5F9-51A42713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79,5 %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A95EF-61F2-48B7-B056-AA1B4E9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B16D2-1958-4878-ACBB-3BF8833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Especificidad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4BA48-9163-4691-8F06-C6A4E8C9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90,6 %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CF601-3CB1-4940-B424-15F524B9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83E8B-4196-44A2-890B-41DA686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Valor predictivo positivo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285BA-6E97-4163-A0F7-08F5720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80,2 %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82C26-A600-431D-9CF9-51525EC5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C95555"/>
                </a:solidFill>
              </a:defRPr>
            </a:pPr>
            <a:r>
              <a:rPr sz="1350" b="1">
                <a:solidFill>
                  <a:srgbClr val="C95555"/>
                </a:solidFill>
              </a:rPr>
              <a:t>Para una herramienta de apoyo a biopsia o control, el umbral debe fijarse en validación según el costo clínico de los falsos negativos.</a:t>
            </a:r>
          </a:p>
        </p:txBody>
      </p:sp>
    </p:spTree>
    <p:extLst>
      <p:ext uri="{BB962C8B-B14F-4D97-AF65-F5344CB8AC3E}">
        <p14:creationId xmlns:p14="http://schemas.microsoft.com/office/powerpoint/2010/main" val="11258885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AE609-8F4B-46AB-A49D-0137D41E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Análisis de errores y explicabilidad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128F3-F42B-4A22-B5B8-354345C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B33E9-D4FB-48A8-AEF6-63F6059F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46957-8EF0-4C62-A9AB-19A4AC0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0EE1F-E77E-44B0-8B98-8671F55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AAC5A-C961-4649-B253-15798C0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La evaluación no termina en una métrica 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E0E58-B732-4CA2-AB5E-A4EEA60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12C82-2C82-4DEA-B77C-4E4C7EB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C95555"/>
                </a:solidFill>
              </a:defRPr>
            </a:pPr>
            <a:r>
              <a:rPr sz="1875" b="1">
                <a:solidFill>
                  <a:srgbClr val="C9555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F0F38-FBD7-4042-B85F-1EC14EB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Falsos negativos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829BB-718B-475B-A7A8-CC431D1F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Revisión completa de los 25 casos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Patrones morfológicos y calidad de imagen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0A04C-5BC7-48EE-9396-F53EFC7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D7FD0-9E42-4CC5-A0B9-4556171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B6F19-01C9-420B-832C-77F0E61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Falsos positivos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F78EB-8DEC-400E-88FD-E4DE61C9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Lesiones benignas con puntuación alta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Marcas, bordes y artefactos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18F86-581B-4E0C-9AA7-BAB10FA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2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74C78-2263-49D7-B903-0325431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D9565-CD79-4165-AC24-1645AAB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Grad-CAM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FA24C-21CF-4883-BC50-4BC19E7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Localización aproximada de activaciones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No equivale a segmentación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C7C72-D871-4B59-B844-7C03787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EC924-D76C-4D20-B08E-6DDDE5A7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92A7C-F8A9-4812-B9F0-A3FE8CCB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Control de sanidad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7B3C-8C7E-40BA-ABC7-CFBBDF7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Comparación con cabeza aleatorizada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Detección de mapas poco informativos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CDB03-5C75-4892-BF9C-4373339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F6F8F"/>
                </a:solidFill>
              </a:defRPr>
            </a:pPr>
            <a:r>
              <a:rPr sz="1500" b="1">
                <a:solidFill>
                  <a:srgbClr val="2F6F8F"/>
                </a:solidFill>
              </a:rPr>
              <a:t>Objetivo: descubrir cuándo el modelo falla y si utiliza señales ajenas a la lesión.</a:t>
            </a:r>
          </a:p>
        </p:txBody>
      </p:sp>
    </p:spTree>
    <p:extLst>
      <p:ext uri="{BB962C8B-B14F-4D97-AF65-F5344CB8AC3E}">
        <p14:creationId xmlns:p14="http://schemas.microsoft.com/office/powerpoint/2010/main" val="16308070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D1DAF-F6D8-4091-B6D2-80843EF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Brecha entre el experimento y la práctica clínica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80974-53DF-4461-BC8A-432834B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04E7-6954-41F2-A47D-9F98595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6075A-5889-45A5-9D1A-E786D11F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91BF0-0E53-4A8E-8885-E1B9B6EF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2A58-8D73-44D8-9B3F-7C8AD12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El experimento comienza después de que el ecografista encontró la lesión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12AE-CD79-4E2F-A88E-1F05443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5AE04-E1B6-4D35-975E-FEEF88D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3E8D72"/>
                </a:solidFill>
              </a:defRPr>
            </a:pPr>
            <a:r>
              <a:rPr sz="1200" b="1">
                <a:solidFill>
                  <a:srgbClr val="3E8D72"/>
                </a:solidFill>
              </a:rPr>
              <a:t>LO QUE EVALÚA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44D10-D9EC-45E5-AD73-0362462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Clasificación de una imagen seleccionada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Discriminación en una cohorte retrospectiva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Errores del modelo en BUS-BRA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F0D72-59A0-4C97-96F6-EFBE449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4050" b="1">
                <a:solidFill>
                  <a:srgbClr val="E69A43"/>
                </a:solidFill>
              </a:defRPr>
            </a:pPr>
            <a:r>
              <a:rPr sz="4050" b="1">
                <a:solidFill>
                  <a:srgbClr val="E69A43"/>
                </a:solidFill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40A24-6357-4EAA-8759-2953B01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15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5ED6A-516B-4A14-AF69-CD10C35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C95555"/>
                </a:solidFill>
              </a:defRPr>
            </a:pPr>
            <a:r>
              <a:rPr sz="1200" b="1">
                <a:solidFill>
                  <a:srgbClr val="C95555"/>
                </a:solidFill>
              </a:rPr>
              <a:t>LO QUE AÚN NO DEMUESTRA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997CE-8221-4E7D-A0EC-31B6CCF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Detección durante un examen ecográfico completo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FEA9-6C6A-4FEB-BEF8-4A4316E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Beneficio sobre decisiones o resultados de pacientes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125A5-A459-4F7F-B5FE-E14F615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Generalización a otros centros y equipos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E26CC-15B6-49B0-9FF4-E9FD9E74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C95555"/>
                </a:solidFill>
              </a:defRPr>
            </a:pPr>
            <a:r>
              <a:rPr sz="1500" b="1">
                <a:solidFill>
                  <a:srgbClr val="C95555"/>
                </a:solidFill>
              </a:rPr>
              <a:t>Siguiente evidencia necesaria: validación externa sin reajuste y estudio prospectivo de impacto.</a:t>
            </a:r>
          </a:p>
        </p:txBody>
      </p:sp>
    </p:spTree>
    <p:extLst>
      <p:ext uri="{BB962C8B-B14F-4D97-AF65-F5344CB8AC3E}">
        <p14:creationId xmlns:p14="http://schemas.microsoft.com/office/powerpoint/2010/main" val="5701929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0CCA6-C955-47BE-B5C6-C445D15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Integración clínica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5BF82-9463-46B0-8404-D43678C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01416-E36F-4B46-8B61-890BFF8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45AB0-5413-4297-85CF-E2911A0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BAA0-8AAF-46FD-A17F-8CBAAF9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35E0-51DF-410D-8F25-E78BC54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Un CAD útil debe entrar en el flujo asistencial sin ocultar quién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DF11-B4A6-42E5-9029-4F291C0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3AADF-8B39-4150-BBC2-FD18E692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Ecógrafo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3E287-0769-4F7F-A1B3-1177986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Adquisición y selección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 la imagen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24673-7C26-42CD-82BE-A4CE7BE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AA45-1255-4C07-B4BE-87A78B51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C2C51-A47A-4939-A517-2424D7A5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B97E-FD15-4E9A-8AEE-80E3097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Almacenamiento 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desidentificación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1BB4B-5B20-4E5A-B6B3-41E12A33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99037-E84C-45B9-B97A-33CCCB41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335BD-A659-458B-B015-2E161D6B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Clasificador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87594-9D88-4623-AF0B-160810F3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Puntuación visible para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el profesional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971CD-EA90-4832-A8A1-46A55B50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0EDDB-5CFD-4369-A1C5-7391821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6E71-C1A5-4C2D-BF15-4EC6C75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Informe BI-RADS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A4141-3B58-413F-995A-E79FDA7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Decisión final 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conducta clínica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E302C-5D6E-499E-8DCA-274B85E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90750"/>
            <a:ext cx="1047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D8914-8271-4BAE-A630-69918EF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241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Médico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FDC89-3EA5-433C-AEFC-9537504D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BCD0DC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BCD0DC"/>
                </a:solidFill>
              </a:defRPr>
            </a:pPr>
            <a:r>
              <a:rPr sz="1275" b="1">
                <a:solidFill>
                  <a:srgbClr val="BCD0DC"/>
                </a:solidFill>
              </a:rPr>
              <a:t>conserva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CD0DC"/>
                </a:solidFill>
              </a:defRPr>
            </a:pPr>
            <a:r>
              <a:rPr sz="1275" b="1">
                <a:solidFill>
                  <a:srgbClr val="BCD0DC"/>
                </a:solidFill>
              </a:rPr>
              <a:t>la decisión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E34D6-0735-453C-844F-7DB55A9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C95555"/>
                </a:solidFill>
              </a:defRPr>
            </a:pPr>
            <a:r>
              <a:rPr sz="1500" b="1">
                <a:solidFill>
                  <a:srgbClr val="C95555"/>
                </a:solidFill>
              </a:rPr>
              <a:t>Antes de una implementación: gobernanza de datos, monitoreo de deriva, responsabilidades y evaluación prospectiva.</a:t>
            </a:r>
          </a:p>
        </p:txBody>
      </p:sp>
    </p:spTree>
    <p:extLst>
      <p:ext uri="{BB962C8B-B14F-4D97-AF65-F5344CB8AC3E}">
        <p14:creationId xmlns:p14="http://schemas.microsoft.com/office/powerpoint/2010/main" val="1828549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18A78-AABF-4E17-A357-2EA1A59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BB44-FD12-4B55-9221-5C4CF60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2B4C6"/>
                </a:solidFill>
              </a:defRPr>
            </a:pPr>
            <a:r>
              <a:rPr sz="1050" b="1">
                <a:solidFill>
                  <a:srgbClr val="62B4C6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B9DC6-88E6-4B22-8CCC-791DC3C5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EF293-2A5D-4CD8-A01C-575769F0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AFC1CE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AFC1CE"/>
                </a:solidFill>
              </a:defRPr>
            </a:pPr>
            <a:r>
              <a:rPr sz="750" b="0">
                <a:solidFill>
                  <a:srgbClr val="AFC1CE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8ABAD-4314-447C-8EA5-C7967BB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AFC1CE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AFC1CE"/>
                </a:solidFill>
              </a:defRPr>
            </a:pPr>
            <a:r>
              <a:rPr sz="750" b="0">
                <a:solidFill>
                  <a:srgbClr val="AFC1CE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10EAB-DF7B-494B-A271-BC62D70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El experimento confirma señal predictiva, pero todavía no confirma utilidad clínica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372B-4F19-4F8C-AD9F-A85D129E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EBE6A-378B-4FDD-A7C1-1422FE0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6367A-F03A-4697-816A-031B72F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Resultado 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3D3EE-667C-4C4B-AEF4-E9296AC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955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AUC 0,935 y AP 0,896 en el test retenido de BUS-BRA.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08C06-5A06-4C5A-AB8F-6CE843F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8994-1256-4957-8BD0-B1C5B815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42860-3A95-472F-8592-7FACDB7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Riesgo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606B3-462D-4D07-8506-836C5BB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 umbral 0,5, la sensibilidad es 79,5 % y quedan 25 falsos negativos.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4247C-1526-4017-AEFC-FE0F944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17246-78A6-4BA5-A249-DED0DCF3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DDD2C-E287-454C-840F-EEE4882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Próximo paso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56848-88AE-4A0E-A30F-91D419E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Fijar un umbral clínicamente motivado y validar sin reajuste en BUSI u otra cohorte.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AF954-5547-4E4A-B62E-9E465DA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DD8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B9CDD8"/>
                </a:solidFill>
              </a:defRPr>
            </a:pPr>
            <a:r>
              <a:rPr sz="1200" b="1">
                <a:solidFill>
                  <a:srgbClr val="B9CDD8"/>
                </a:solidFill>
              </a:rPr>
              <a:t>Proyecto académico · no destinado a uso asistencial</a:t>
            </a:r>
          </a:p>
        </p:txBody>
      </p:sp>
    </p:spTree>
    <p:extLst>
      <p:ext uri="{BB962C8B-B14F-4D97-AF65-F5344CB8AC3E}">
        <p14:creationId xmlns:p14="http://schemas.microsoft.com/office/powerpoint/2010/main" val="1876430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2026-10-16T20:47:37.0380000Z</dcterms:created>
  <dcterms:modified xsi:type="dcterms:W3CDTF">2026-10-16T20:47:37.0380000Z</dcterms:modified>
</coreProperties>
</file>